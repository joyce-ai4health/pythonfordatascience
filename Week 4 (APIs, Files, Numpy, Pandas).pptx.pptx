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entation.xml" ContentType="application/vnd.openxmlformats-officedocument.presentationml.presentation.main+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slideLayouts/slideLayout19.xml" ContentType="application/vnd.openxmlformats-officedocument.presentationml.slideLayout+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slideLayouts/slideLayout2.xml" ContentType="application/vnd.openxmlformats-officedocument.presentationml.slideLayout+xml"/>
  <Override PartName="/ppt/notesSlides/notesSlide35.xml" ContentType="application/vnd.openxmlformats-officedocument.presentationml.notesSlide+xml"/>
  <Override PartName="/ppt/slideLayouts/slideLayout3.xml" ContentType="application/vnd.openxmlformats-officedocument.presentationml.slideLayout+xml"/>
  <Override PartName="/ppt/slideLayouts/slideLayout18.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38"/>
  </p:notesMasterIdLst>
  <p:sldIdLst>
    <p:sldId id="298"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Lst>
  <p:sldSz cx="14630400" cy="8229600"/>
  <p:notesSz cx="8229600" cy="14630400"/>
  <p:embeddedFontLst>
    <p:embeddedFont>
      <p:font typeface="Calibri" panose="020F0502020204030204" pitchFamily="34" charset="0"/>
      <p:regular r:id="rId39"/>
      <p:bold r:id="rId40"/>
      <p:italic r:id="rId41"/>
      <p:boldItalic r:id="rId42"/>
    </p:embeddedFont>
    <p:embeddedFont>
      <p:font typeface="Consolas" panose="020B0609020204030204" pitchFamily="49" charset="0"/>
      <p:regular r:id="rId43"/>
      <p:bold r:id="rId44"/>
      <p:italic r:id="rId45"/>
      <p:boldItalic r:id="rId46"/>
    </p:embeddedFont>
    <p:embeddedFont>
      <p:font typeface="Montserrat" pitchFamily="2" charset="77"/>
      <p:regular r:id="rId47"/>
      <p:bold r:id="rId48"/>
      <p:italic r:id="rId49"/>
      <p:boldItalic r:id="rId50"/>
    </p:embeddedFont>
    <p:embeddedFont>
      <p:font typeface="Montserrat Medium" panose="020F0502020204030204" pitchFamily="34" charset="0"/>
      <p:regular r:id="rId51"/>
      <p:italic r:id="rId52"/>
    </p:embeddedFont>
  </p:embeddedFontLst>
  <p:defaultTextStyle>
    <a:defPPr>
      <a:defRPr lang="en-N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20062"/>
    <a:srgbClr val="71006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875"/>
    <p:restoredTop sz="94610"/>
  </p:normalViewPr>
  <p:slideViewPr>
    <p:cSldViewPr snapToGrid="0" snapToObjects="1">
      <p:cViewPr varScale="1">
        <p:scale>
          <a:sx n="119" d="100"/>
          <a:sy n="119" d="100"/>
        </p:scale>
        <p:origin x="264" y="2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4.fntdata"/><Relationship Id="rId47" Type="http://schemas.openxmlformats.org/officeDocument/2006/relationships/font" Target="fonts/font9.fntdata"/><Relationship Id="rId50" Type="http://schemas.openxmlformats.org/officeDocument/2006/relationships/font" Target="fonts/font12.fntdata"/><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2.fntdata"/><Relationship Id="rId45" Type="http://schemas.openxmlformats.org/officeDocument/2006/relationships/font" Target="fonts/font7.fntdata"/><Relationship Id="rId53" Type="http://schemas.openxmlformats.org/officeDocument/2006/relationships/presProps" Target="presProps.xml"/><Relationship Id="rId58" Type="http://schemas.openxmlformats.org/officeDocument/2006/relationships/customXml" Target="../customXml/item2.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5.fntdata"/><Relationship Id="rId48" Type="http://schemas.openxmlformats.org/officeDocument/2006/relationships/font" Target="fonts/font10.fntdata"/><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13.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 Id="rId46" Type="http://schemas.openxmlformats.org/officeDocument/2006/relationships/font" Target="fonts/font8.fntdata"/><Relationship Id="rId59" Type="http://schemas.openxmlformats.org/officeDocument/2006/relationships/customXml" Target="../customXml/item3.xml"/><Relationship Id="rId20" Type="http://schemas.openxmlformats.org/officeDocument/2006/relationships/slide" Target="slides/slide19.xml"/><Relationship Id="rId41" Type="http://schemas.openxmlformats.org/officeDocument/2006/relationships/font" Target="fonts/font3.fntdata"/><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1.fntdata"/><Relationship Id="rId57" Type="http://schemas.openxmlformats.org/officeDocument/2006/relationships/customXml" Target="../customXml/item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6.fntdata"/><Relationship Id="rId52"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3839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Slide 1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Slide 1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Slide 1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Slide 1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lide 1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lide 1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lide 1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Slide 2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Slide 2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Slide 2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lide 2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lide 2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Slide 2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Slide 2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lide 2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lide 2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Slide 2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Slide 3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Slide 3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Slide 3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lide 3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lide 3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Slide 3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52FFAF-207C-AFF3-D326-648E3ACAEC41}"/>
              </a:ext>
            </a:extLst>
          </p:cNvPr>
          <p:cNvSpPr/>
          <p:nvPr userDrawn="1"/>
        </p:nvSpPr>
        <p:spPr>
          <a:xfrm>
            <a:off x="7200334" y="0"/>
            <a:ext cx="7430066" cy="8229600"/>
          </a:xfrm>
          <a:prstGeom prst="rect">
            <a:avLst/>
          </a:prstGeom>
          <a:solidFill>
            <a:srgbClr val="72006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160"/>
          </a:p>
        </p:txBody>
      </p:sp>
      <p:sp>
        <p:nvSpPr>
          <p:cNvPr id="2" name="Title 1">
            <a:extLst>
              <a:ext uri="{FF2B5EF4-FFF2-40B4-BE49-F238E27FC236}">
                <a16:creationId xmlns:a16="http://schemas.microsoft.com/office/drawing/2014/main" id="{5F63CA03-8DE8-E573-91D6-732A81C7EF5B}"/>
              </a:ext>
            </a:extLst>
          </p:cNvPr>
          <p:cNvSpPr>
            <a:spLocks noGrp="1"/>
          </p:cNvSpPr>
          <p:nvPr>
            <p:ph type="title" hasCustomPrompt="1"/>
          </p:nvPr>
        </p:nvSpPr>
        <p:spPr>
          <a:xfrm>
            <a:off x="836022" y="4248018"/>
            <a:ext cx="4036207" cy="2131082"/>
          </a:xfrm>
        </p:spPr>
        <p:txBody>
          <a:bodyPr anchor="t">
            <a:normAutofit/>
          </a:bodyPr>
          <a:lstStyle>
            <a:lvl1pPr>
              <a:defRPr sz="4800" b="1">
                <a:solidFill>
                  <a:srgbClr val="720062"/>
                </a:solidFill>
                <a:latin typeface="Arial" panose="020B0604020202020204" pitchFamily="34" charset="0"/>
                <a:cs typeface="Arial" panose="020B0604020202020204" pitchFamily="34" charset="0"/>
              </a:defRPr>
            </a:lvl1pPr>
          </a:lstStyle>
          <a:p>
            <a:r>
              <a:rPr lang="en-US" dirty="0"/>
              <a:t>Presentation/Slide Title</a:t>
            </a:r>
          </a:p>
        </p:txBody>
      </p:sp>
      <p:sp>
        <p:nvSpPr>
          <p:cNvPr id="4" name="Date Placeholder 3">
            <a:extLst>
              <a:ext uri="{FF2B5EF4-FFF2-40B4-BE49-F238E27FC236}">
                <a16:creationId xmlns:a16="http://schemas.microsoft.com/office/drawing/2014/main" id="{AD9B3E44-D4AE-AA15-8EC1-593140BE6F22}"/>
              </a:ext>
            </a:extLst>
          </p:cNvPr>
          <p:cNvSpPr>
            <a:spLocks noGrp="1"/>
          </p:cNvSpPr>
          <p:nvPr>
            <p:ph type="dt" sz="half" idx="10"/>
          </p:nvPr>
        </p:nvSpPr>
        <p:spPr>
          <a:xfrm>
            <a:off x="836022" y="7012381"/>
            <a:ext cx="3291840" cy="438150"/>
          </a:xfrm>
        </p:spPr>
        <p:txBody>
          <a:bodyPr/>
          <a:lstStyle>
            <a:lvl1pPr>
              <a:defRPr>
                <a:solidFill>
                  <a:schemeClr val="tx1"/>
                </a:solidFill>
              </a:defRPr>
            </a:lvl1pPr>
          </a:lstStyle>
          <a:p>
            <a:fld id="{97289A7E-4CB9-7648-AAC2-91454732A4A6}" type="datetime1">
              <a:rPr lang="en-US" smtClean="0"/>
              <a:t>1/11/26</a:t>
            </a:fld>
            <a:endParaRPr lang="en-US" dirty="0"/>
          </a:p>
        </p:txBody>
      </p:sp>
      <p:sp>
        <p:nvSpPr>
          <p:cNvPr id="6" name="Slide Number Placeholder 5">
            <a:extLst>
              <a:ext uri="{FF2B5EF4-FFF2-40B4-BE49-F238E27FC236}">
                <a16:creationId xmlns:a16="http://schemas.microsoft.com/office/drawing/2014/main" id="{E8C25C88-865A-F705-C87B-22F0E82F3638}"/>
              </a:ext>
            </a:extLst>
          </p:cNvPr>
          <p:cNvSpPr>
            <a:spLocks noGrp="1"/>
          </p:cNvSpPr>
          <p:nvPr>
            <p:ph type="sldNum" sz="quarter" idx="12"/>
          </p:nvPr>
        </p:nvSpPr>
        <p:spPr>
          <a:xfrm>
            <a:off x="10332720" y="7012381"/>
            <a:ext cx="3291840" cy="438150"/>
          </a:xfrm>
        </p:spPr>
        <p:txBody>
          <a:bodyPr/>
          <a:lstStyle>
            <a:lvl1pPr>
              <a:defRPr>
                <a:solidFill>
                  <a:schemeClr val="bg1"/>
                </a:solidFill>
                <a:latin typeface="Arial" panose="020B0604020202020204" pitchFamily="34" charset="0"/>
                <a:cs typeface="Arial" panose="020B0604020202020204" pitchFamily="34" charset="0"/>
              </a:defRPr>
            </a:lvl1pPr>
          </a:lstStyle>
          <a:p>
            <a:r>
              <a:rPr lang="en-US" dirty="0"/>
              <a:t>Page Number</a:t>
            </a:r>
          </a:p>
        </p:txBody>
      </p:sp>
      <p:pic>
        <p:nvPicPr>
          <p:cNvPr id="10" name="Picture 9">
            <a:extLst>
              <a:ext uri="{FF2B5EF4-FFF2-40B4-BE49-F238E27FC236}">
                <a16:creationId xmlns:a16="http://schemas.microsoft.com/office/drawing/2014/main" id="{EE51B001-4EF6-523A-B965-41FD30B900D2}"/>
              </a:ext>
            </a:extLst>
          </p:cNvPr>
          <p:cNvPicPr>
            <a:picLocks noChangeAspect="1"/>
          </p:cNvPicPr>
          <p:nvPr userDrawn="1"/>
        </p:nvPicPr>
        <p:blipFill>
          <a:blip r:embed="rId2"/>
          <a:stretch>
            <a:fillRect/>
          </a:stretch>
        </p:blipFill>
        <p:spPr>
          <a:xfrm>
            <a:off x="836022" y="779069"/>
            <a:ext cx="1279404" cy="468892"/>
          </a:xfrm>
          <a:prstGeom prst="rect">
            <a:avLst/>
          </a:prstGeom>
        </p:spPr>
      </p:pic>
    </p:spTree>
    <p:extLst>
      <p:ext uri="{BB962C8B-B14F-4D97-AF65-F5344CB8AC3E}">
        <p14:creationId xmlns:p14="http://schemas.microsoft.com/office/powerpoint/2010/main" val="3822580973"/>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svg"/><Relationship Id="rId11" Type="http://schemas.openxmlformats.org/officeDocument/2006/relationships/image" Target="../media/image1.png"/><Relationship Id="rId5" Type="http://schemas.openxmlformats.org/officeDocument/2006/relationships/image" Target="../media/image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sv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1.png"/><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xml"/><Relationship Id="rId1" Type="http://schemas.openxmlformats.org/officeDocument/2006/relationships/slideLayout" Target="../slideLayouts/slideLayout13.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4.xml"/><Relationship Id="rId5" Type="http://schemas.openxmlformats.org/officeDocument/2006/relationships/image" Target="../media/image1.png"/><Relationship Id="rId4" Type="http://schemas.openxmlformats.org/officeDocument/2006/relationships/image" Target="../media/image19.sv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15.xml"/><Relationship Id="rId5" Type="http://schemas.openxmlformats.org/officeDocument/2006/relationships/image" Target="../media/image1.png"/><Relationship Id="rId4" Type="http://schemas.openxmlformats.org/officeDocument/2006/relationships/image" Target="../media/image11.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17.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18.xml"/><Relationship Id="rId6" Type="http://schemas.openxmlformats.org/officeDocument/2006/relationships/image" Target="../media/image1.png"/><Relationship Id="rId5" Type="http://schemas.openxmlformats.org/officeDocument/2006/relationships/image" Target="../media/image23.png"/><Relationship Id="rId4" Type="http://schemas.openxmlformats.org/officeDocument/2006/relationships/image" Target="../media/image2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0.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png"/><Relationship Id="rId7" Type="http://schemas.openxmlformats.org/officeDocument/2006/relationships/image" Target="../media/image28.png"/><Relationship Id="rId12"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0.xml"/><Relationship Id="rId6" Type="http://schemas.openxmlformats.org/officeDocument/2006/relationships/image" Target="../media/image27.svg"/><Relationship Id="rId11" Type="http://schemas.openxmlformats.org/officeDocument/2006/relationships/image" Target="../media/image11.png"/><Relationship Id="rId5" Type="http://schemas.openxmlformats.org/officeDocument/2006/relationships/image" Target="../media/image26.png"/><Relationship Id="rId10" Type="http://schemas.openxmlformats.org/officeDocument/2006/relationships/image" Target="../media/image31.svg"/><Relationship Id="rId4" Type="http://schemas.openxmlformats.org/officeDocument/2006/relationships/image" Target="../media/image25.svg"/><Relationship Id="rId9"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0.xml"/><Relationship Id="rId1" Type="http://schemas.openxmlformats.org/officeDocument/2006/relationships/slideLayout" Target="../slideLayouts/slideLayout21.xml"/><Relationship Id="rId4" Type="http://schemas.openxmlformats.org/officeDocument/2006/relationships/image" Target="../media/image1.png"/></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1.xml"/><Relationship Id="rId1" Type="http://schemas.openxmlformats.org/officeDocument/2006/relationships/slideLayout" Target="../slideLayouts/slideLayout22.xml"/><Relationship Id="rId5" Type="http://schemas.openxmlformats.org/officeDocument/2006/relationships/image" Target="../media/image1.png"/><Relationship Id="rId4" Type="http://schemas.openxmlformats.org/officeDocument/2006/relationships/image" Target="../media/image34.sv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2.xml"/><Relationship Id="rId1" Type="http://schemas.openxmlformats.org/officeDocument/2006/relationships/slideLayout" Target="../slideLayouts/slideLayout23.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image" Target="../media/image35.png"/><Relationship Id="rId7" Type="http://schemas.openxmlformats.org/officeDocument/2006/relationships/image" Target="../media/image39.png"/><Relationship Id="rId2" Type="http://schemas.openxmlformats.org/officeDocument/2006/relationships/notesSlide" Target="../notesSlides/notesSlide23.xml"/><Relationship Id="rId1" Type="http://schemas.openxmlformats.org/officeDocument/2006/relationships/slideLayout" Target="../slideLayouts/slideLayout24.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25.xml.rels><?xml version="1.0" encoding="UTF-8" standalone="yes"?>
<Relationships xmlns="http://schemas.openxmlformats.org/package/2006/relationships"><Relationship Id="rId8" Type="http://schemas.openxmlformats.org/officeDocument/2006/relationships/image" Target="../media/image45.svg"/><Relationship Id="rId3" Type="http://schemas.openxmlformats.org/officeDocument/2006/relationships/image" Target="../media/image40.png"/><Relationship Id="rId7" Type="http://schemas.openxmlformats.org/officeDocument/2006/relationships/image" Target="../media/image44.png"/><Relationship Id="rId2" Type="http://schemas.openxmlformats.org/officeDocument/2006/relationships/notesSlide" Target="../notesSlides/notesSlide24.xml"/><Relationship Id="rId1" Type="http://schemas.openxmlformats.org/officeDocument/2006/relationships/slideLayout" Target="../slideLayouts/slideLayout25.xml"/><Relationship Id="rId6" Type="http://schemas.openxmlformats.org/officeDocument/2006/relationships/image" Target="../media/image43.svg"/><Relationship Id="rId5" Type="http://schemas.openxmlformats.org/officeDocument/2006/relationships/image" Target="../media/image42.png"/><Relationship Id="rId10" Type="http://schemas.openxmlformats.org/officeDocument/2006/relationships/image" Target="../media/image1.png"/><Relationship Id="rId4" Type="http://schemas.openxmlformats.org/officeDocument/2006/relationships/image" Target="../media/image41.svg"/><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27.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2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7.xml"/><Relationship Id="rId1" Type="http://schemas.openxmlformats.org/officeDocument/2006/relationships/slideLayout" Target="../slideLayouts/slideLayout28.xml"/><Relationship Id="rId4" Type="http://schemas.openxmlformats.org/officeDocument/2006/relationships/image" Target="../media/image1.png"/></Relationships>
</file>

<file path=ppt/slides/_rels/slide29.xml.rels><?xml version="1.0" encoding="UTF-8" standalone="yes"?>
<Relationships xmlns="http://schemas.openxmlformats.org/package/2006/relationships"><Relationship Id="rId8" Type="http://schemas.openxmlformats.org/officeDocument/2006/relationships/image" Target="../media/image56.sv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notesSlide" Target="../notesSlides/notesSlide28.xml"/><Relationship Id="rId1" Type="http://schemas.openxmlformats.org/officeDocument/2006/relationships/slideLayout" Target="../slideLayouts/slideLayout29.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52.svg"/><Relationship Id="rId9" Type="http://schemas.openxmlformats.org/officeDocument/2006/relationships/image" Target="../media/image1.png"/></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30.xml"/><Relationship Id="rId4" Type="http://schemas.openxmlformats.org/officeDocument/2006/relationships/image" Target="../media/image1.pn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31.xml"/></Relationships>
</file>

<file path=ppt/slides/_rels/slide32.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1.xml"/><Relationship Id="rId1" Type="http://schemas.openxmlformats.org/officeDocument/2006/relationships/slideLayout" Target="../slideLayouts/slideLayout32.xml"/><Relationship Id="rId6" Type="http://schemas.openxmlformats.org/officeDocument/2006/relationships/image" Target="../media/image1.png"/><Relationship Id="rId5" Type="http://schemas.openxmlformats.org/officeDocument/2006/relationships/image" Target="../media/image59.png"/><Relationship Id="rId4" Type="http://schemas.openxmlformats.org/officeDocument/2006/relationships/image" Target="../media/image58.png"/></Relationships>
</file>

<file path=ppt/slides/_rels/slide33.xml.rels><?xml version="1.0" encoding="UTF-8" standalone="yes"?>
<Relationships xmlns="http://schemas.openxmlformats.org/package/2006/relationships"><Relationship Id="rId8" Type="http://schemas.openxmlformats.org/officeDocument/2006/relationships/image" Target="../media/image65.png"/><Relationship Id="rId13" Type="http://schemas.openxmlformats.org/officeDocument/2006/relationships/image" Target="../media/image70.svg"/><Relationship Id="rId3" Type="http://schemas.openxmlformats.org/officeDocument/2006/relationships/image" Target="../media/image60.png"/><Relationship Id="rId7" Type="http://schemas.openxmlformats.org/officeDocument/2006/relationships/image" Target="../media/image64.svg"/><Relationship Id="rId12" Type="http://schemas.openxmlformats.org/officeDocument/2006/relationships/image" Target="../media/image69.png"/><Relationship Id="rId17" Type="http://schemas.openxmlformats.org/officeDocument/2006/relationships/image" Target="../media/image1.png"/><Relationship Id="rId2" Type="http://schemas.openxmlformats.org/officeDocument/2006/relationships/notesSlide" Target="../notesSlides/notesSlide32.xml"/><Relationship Id="rId16" Type="http://schemas.openxmlformats.org/officeDocument/2006/relationships/image" Target="../media/image73.svg"/><Relationship Id="rId1" Type="http://schemas.openxmlformats.org/officeDocument/2006/relationships/slideLayout" Target="../slideLayouts/slideLayout33.xml"/><Relationship Id="rId6" Type="http://schemas.openxmlformats.org/officeDocument/2006/relationships/image" Target="../media/image63.png"/><Relationship Id="rId11" Type="http://schemas.openxmlformats.org/officeDocument/2006/relationships/image" Target="../media/image68.png"/><Relationship Id="rId5" Type="http://schemas.openxmlformats.org/officeDocument/2006/relationships/image" Target="../media/image62.png"/><Relationship Id="rId15" Type="http://schemas.openxmlformats.org/officeDocument/2006/relationships/image" Target="../media/image72.png"/><Relationship Id="rId10" Type="http://schemas.openxmlformats.org/officeDocument/2006/relationships/image" Target="../media/image67.svg"/><Relationship Id="rId4" Type="http://schemas.openxmlformats.org/officeDocument/2006/relationships/image" Target="../media/image61.svg"/><Relationship Id="rId9" Type="http://schemas.openxmlformats.org/officeDocument/2006/relationships/image" Target="../media/image66.png"/><Relationship Id="rId14" Type="http://schemas.openxmlformats.org/officeDocument/2006/relationships/image" Target="../media/image71.png"/></Relationships>
</file>

<file path=ppt/slides/_rels/slide3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3.xml"/><Relationship Id="rId1" Type="http://schemas.openxmlformats.org/officeDocument/2006/relationships/slideLayout" Target="../slideLayouts/slideLayout34.xml"/><Relationship Id="rId4" Type="http://schemas.openxmlformats.org/officeDocument/2006/relationships/image" Target="../media/image1.png"/></Relationships>
</file>

<file path=ppt/slides/_rels/slide3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34.xml"/><Relationship Id="rId1" Type="http://schemas.openxmlformats.org/officeDocument/2006/relationships/slideLayout" Target="../slideLayouts/slideLayout35.xml"/><Relationship Id="rId4" Type="http://schemas.openxmlformats.org/officeDocument/2006/relationships/image" Target="../media/image1.png"/></Relationships>
</file>

<file path=ppt/slides/_rels/slide36.xml.rels><?xml version="1.0" encoding="UTF-8" standalone="yes"?>
<Relationships xmlns="http://schemas.openxmlformats.org/package/2006/relationships"><Relationship Id="rId8" Type="http://schemas.openxmlformats.org/officeDocument/2006/relationships/hyperlink" Target="https://pandas.pydata.org/docs/reference/index.html" TargetMode="External"/><Relationship Id="rId3" Type="http://schemas.openxmlformats.org/officeDocument/2006/relationships/hyperlink" Target="https://www.dataquest.io/blog/api-in-python/" TargetMode="External"/><Relationship Id="rId7" Type="http://schemas.openxmlformats.org/officeDocument/2006/relationships/hyperlink" Target="https://pandas.pydata.org/Pandas_Cheat_Sheet.pdf" TargetMode="External"/><Relationship Id="rId2" Type="http://schemas.openxmlformats.org/officeDocument/2006/relationships/notesSlide" Target="../notesSlides/notesSlide35.xml"/><Relationship Id="rId1" Type="http://schemas.openxmlformats.org/officeDocument/2006/relationships/slideLayout" Target="../slideLayouts/slideLayout36.xml"/><Relationship Id="rId6" Type="http://schemas.openxmlformats.org/officeDocument/2006/relationships/hyperlink" Target="https://pandas.pydata.org/docs/getting_started/comparison/comparison_with_spreadsheets.html#compare-with-spreadsheets" TargetMode="External"/><Relationship Id="rId5" Type="http://schemas.openxmlformats.org/officeDocument/2006/relationships/hyperlink" Target="https://numpy.org/doc/2.4/user/absolute_beginners.html" TargetMode="External"/><Relationship Id="rId4" Type="http://schemas.openxmlformats.org/officeDocument/2006/relationships/hyperlink" Target="https://www.dataquest.io/blog/api-skills-for-ai/" TargetMode="Externa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D02F0ED-CFA8-FA82-7CB0-626323D4497F}"/>
              </a:ext>
            </a:extLst>
          </p:cNvPr>
          <p:cNvSpPr>
            <a:spLocks noGrp="1"/>
          </p:cNvSpPr>
          <p:nvPr>
            <p:ph type="title"/>
          </p:nvPr>
        </p:nvSpPr>
        <p:spPr>
          <a:xfrm>
            <a:off x="770703" y="3720277"/>
            <a:ext cx="5856007" cy="2390067"/>
          </a:xfrm>
        </p:spPr>
        <p:txBody>
          <a:bodyPr>
            <a:noAutofit/>
          </a:bodyPr>
          <a:lstStyle/>
          <a:p>
            <a:pPr algn="l"/>
            <a:r>
              <a:rPr lang="en-US" sz="5280" spc="-180" dirty="0">
                <a:latin typeface="Montserrat" pitchFamily="2" charset="77"/>
              </a:rPr>
              <a:t>APIs, </a:t>
            </a:r>
            <a:r>
              <a:rPr lang="en-US" sz="5280" spc="-180" dirty="0" err="1">
                <a:latin typeface="Montserrat" pitchFamily="2" charset="77"/>
              </a:rPr>
              <a:t>Numpy</a:t>
            </a:r>
            <a:r>
              <a:rPr lang="en-US" sz="5280" spc="-180" dirty="0">
                <a:latin typeface="Montserrat" pitchFamily="2" charset="77"/>
              </a:rPr>
              <a:t> &amp; Pandas</a:t>
            </a:r>
          </a:p>
        </p:txBody>
      </p:sp>
      <p:sp>
        <p:nvSpPr>
          <p:cNvPr id="5" name="TextBox 4">
            <a:extLst>
              <a:ext uri="{FF2B5EF4-FFF2-40B4-BE49-F238E27FC236}">
                <a16:creationId xmlns:a16="http://schemas.microsoft.com/office/drawing/2014/main" id="{7EFF0AAB-3D61-418B-10F3-17E43179E5C8}"/>
              </a:ext>
            </a:extLst>
          </p:cNvPr>
          <p:cNvSpPr txBox="1"/>
          <p:nvPr/>
        </p:nvSpPr>
        <p:spPr>
          <a:xfrm>
            <a:off x="901337" y="6957279"/>
            <a:ext cx="2642616" cy="313932"/>
          </a:xfrm>
          <a:prstGeom prst="rect">
            <a:avLst/>
          </a:prstGeom>
          <a:solidFill>
            <a:srgbClr val="880058"/>
          </a:solidFill>
        </p:spPr>
        <p:txBody>
          <a:bodyPr wrap="square" rtlCol="0">
            <a:spAutoFit/>
          </a:bodyPr>
          <a:lstStyle/>
          <a:p>
            <a:r>
              <a:rPr lang="en-US" sz="1440" dirty="0">
                <a:solidFill>
                  <a:schemeClr val="bg1"/>
                </a:solidFill>
                <a:latin typeface="Montserrat" pitchFamily="2" charset="77"/>
                <a:cs typeface="Arial" panose="020B0604020202020204" pitchFamily="34" charset="0"/>
              </a:rPr>
              <a:t>January 2026</a:t>
            </a:r>
          </a:p>
        </p:txBody>
      </p:sp>
    </p:spTree>
    <p:extLst>
      <p:ext uri="{BB962C8B-B14F-4D97-AF65-F5344CB8AC3E}">
        <p14:creationId xmlns:p14="http://schemas.microsoft.com/office/powerpoint/2010/main" val="381597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2122884"/>
            <a:ext cx="7556421" cy="1240155"/>
          </a:xfrm>
          <a:prstGeom prst="rect">
            <a:avLst/>
          </a:prstGeom>
          <a:noFill/>
          <a:ln/>
        </p:spPr>
        <p:txBody>
          <a:bodyPr wrap="squar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APIs, Files, and Analysis</a:t>
            </a:r>
            <a:endParaRPr lang="en-US" sz="3900" dirty="0"/>
          </a:p>
        </p:txBody>
      </p:sp>
      <p:sp>
        <p:nvSpPr>
          <p:cNvPr id="4" name="Text 1"/>
          <p:cNvSpPr/>
          <p:nvPr/>
        </p:nvSpPr>
        <p:spPr>
          <a:xfrm>
            <a:off x="793790" y="3660696"/>
            <a:ext cx="7556421"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Welcome to Week 4, where we bring together three powerful concepts that form the foundation of modern data work. This week, you'll learn to navigate your computer's file system, communicate with external services through APIs, and analyze data like a professional data scientist.</a:t>
            </a:r>
            <a:endParaRPr lang="en-US" sz="1550" dirty="0"/>
          </a:p>
        </p:txBody>
      </p:sp>
      <p:sp>
        <p:nvSpPr>
          <p:cNvPr id="5" name="Text 2"/>
          <p:cNvSpPr/>
          <p:nvPr/>
        </p:nvSpPr>
        <p:spPr>
          <a:xfrm>
            <a:off x="793790" y="5154097"/>
            <a:ext cx="7556421"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By the end of this module, you'll have the complete toolkit to extract data from anywhere, transform it into insights, and save your results—the full data pipeline from start to finish.</a:t>
            </a:r>
            <a:endParaRPr lang="en-US" sz="1550" dirty="0"/>
          </a:p>
        </p:txBody>
      </p:sp>
      <p:pic>
        <p:nvPicPr>
          <p:cNvPr id="8" name="Picture 7">
            <a:extLst>
              <a:ext uri="{FF2B5EF4-FFF2-40B4-BE49-F238E27FC236}">
                <a16:creationId xmlns:a16="http://schemas.microsoft.com/office/drawing/2014/main" id="{6156A7E7-59A9-8EBC-5997-23D5A47805E2}"/>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699141"/>
            <a:ext cx="1319689" cy="373142"/>
          </a:xfrm>
          <a:prstGeom prst="roundRect">
            <a:avLst>
              <a:gd name="adj" fmla="val 1787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1806297"/>
            <a:ext cx="158710" cy="158710"/>
          </a:xfrm>
          <a:prstGeom prst="rect">
            <a:avLst/>
          </a:prstGeom>
        </p:spPr>
      </p:pic>
      <p:sp>
        <p:nvSpPr>
          <p:cNvPr id="4" name="Text 1"/>
          <p:cNvSpPr/>
          <p:nvPr/>
        </p:nvSpPr>
        <p:spPr>
          <a:xfrm>
            <a:off x="1150858" y="1758672"/>
            <a:ext cx="843558"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MODULE 1</a:t>
            </a:r>
            <a:endParaRPr lang="en-US" sz="1250" dirty="0"/>
          </a:p>
        </p:txBody>
      </p:sp>
      <p:sp>
        <p:nvSpPr>
          <p:cNvPr id="5" name="Text 2"/>
          <p:cNvSpPr/>
          <p:nvPr/>
        </p:nvSpPr>
        <p:spPr>
          <a:xfrm>
            <a:off x="793790" y="2151578"/>
            <a:ext cx="1038737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The OS Module: Navigating Your Computer</a:t>
            </a:r>
            <a:endParaRPr lang="en-US" sz="3900" dirty="0"/>
          </a:p>
        </p:txBody>
      </p:sp>
      <p:sp>
        <p:nvSpPr>
          <p:cNvPr id="6" name="Shape 3"/>
          <p:cNvSpPr/>
          <p:nvPr/>
        </p:nvSpPr>
        <p:spPr>
          <a:xfrm>
            <a:off x="793790" y="3069312"/>
            <a:ext cx="4215289" cy="2587466"/>
          </a:xfrm>
          <a:prstGeom prst="roundRect">
            <a:avLst>
              <a:gd name="adj" fmla="val 322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sp>
        <p:nvSpPr>
          <p:cNvPr id="7" name="Shape 4"/>
          <p:cNvSpPr/>
          <p:nvPr/>
        </p:nvSpPr>
        <p:spPr>
          <a:xfrm>
            <a:off x="999768" y="3275290"/>
            <a:ext cx="595313" cy="595313"/>
          </a:xfrm>
          <a:prstGeom prst="roundRect">
            <a:avLst>
              <a:gd name="adj" fmla="val 15358451"/>
            </a:avLst>
          </a:prstGeom>
          <a:solidFill>
            <a:srgbClr val="720062"/>
          </a:solidFill>
          <a:ln/>
        </p:spPr>
      </p:sp>
      <p:pic>
        <p:nvPicPr>
          <p:cNvPr id="8"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63479" y="3438882"/>
            <a:ext cx="267891" cy="267891"/>
          </a:xfrm>
          <a:prstGeom prst="rect">
            <a:avLst/>
          </a:prstGeom>
        </p:spPr>
      </p:pic>
      <p:sp>
        <p:nvSpPr>
          <p:cNvPr id="9" name="Text 5"/>
          <p:cNvSpPr/>
          <p:nvPr/>
        </p:nvSpPr>
        <p:spPr>
          <a:xfrm>
            <a:off x="999768" y="4068961"/>
            <a:ext cx="2768203"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File System Navigation</a:t>
            </a:r>
            <a:endParaRPr lang="en-US" sz="1950" dirty="0"/>
          </a:p>
        </p:txBody>
      </p:sp>
      <p:sp>
        <p:nvSpPr>
          <p:cNvPr id="10" name="Text 6"/>
          <p:cNvSpPr/>
          <p:nvPr/>
        </p:nvSpPr>
        <p:spPr>
          <a:xfrm>
            <a:off x="999768" y="4498181"/>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Learn to find and locate files on your computer using Python's built-in tools.</a:t>
            </a:r>
            <a:endParaRPr lang="en-US" sz="1550" dirty="0"/>
          </a:p>
        </p:txBody>
      </p:sp>
      <p:sp>
        <p:nvSpPr>
          <p:cNvPr id="11" name="Shape 7"/>
          <p:cNvSpPr/>
          <p:nvPr/>
        </p:nvSpPr>
        <p:spPr>
          <a:xfrm>
            <a:off x="5207437" y="3069312"/>
            <a:ext cx="4215408" cy="2587466"/>
          </a:xfrm>
          <a:prstGeom prst="roundRect">
            <a:avLst>
              <a:gd name="adj" fmla="val 322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2" name="Shape 8"/>
          <p:cNvSpPr/>
          <p:nvPr/>
        </p:nvSpPr>
        <p:spPr>
          <a:xfrm>
            <a:off x="5413415" y="3275290"/>
            <a:ext cx="595313" cy="595313"/>
          </a:xfrm>
          <a:prstGeom prst="roundRect">
            <a:avLst>
              <a:gd name="adj" fmla="val 15358451"/>
            </a:avLst>
          </a:prstGeom>
          <a:solidFill>
            <a:srgbClr val="720062"/>
          </a:solidFill>
          <a:ln/>
        </p:spPr>
      </p:sp>
      <p:pic>
        <p:nvPicPr>
          <p:cNvPr id="13"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577126" y="3438882"/>
            <a:ext cx="267891" cy="267891"/>
          </a:xfrm>
          <a:prstGeom prst="rect">
            <a:avLst/>
          </a:prstGeom>
        </p:spPr>
      </p:pic>
      <p:sp>
        <p:nvSpPr>
          <p:cNvPr id="14" name="Text 9"/>
          <p:cNvSpPr/>
          <p:nvPr/>
        </p:nvSpPr>
        <p:spPr>
          <a:xfrm>
            <a:off x="5413415" y="4068961"/>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Working Directory</a:t>
            </a:r>
            <a:endParaRPr lang="en-US" sz="1950" dirty="0"/>
          </a:p>
        </p:txBody>
      </p:sp>
      <p:sp>
        <p:nvSpPr>
          <p:cNvPr id="15" name="Text 10"/>
          <p:cNvSpPr/>
          <p:nvPr/>
        </p:nvSpPr>
        <p:spPr>
          <a:xfrm>
            <a:off x="5413415" y="4498181"/>
            <a:ext cx="3803452"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Understand where Python is "sitting" and how to move around your folders.</a:t>
            </a:r>
            <a:endParaRPr lang="en-US" sz="1550" dirty="0"/>
          </a:p>
        </p:txBody>
      </p:sp>
      <p:sp>
        <p:nvSpPr>
          <p:cNvPr id="16" name="Shape 11"/>
          <p:cNvSpPr/>
          <p:nvPr/>
        </p:nvSpPr>
        <p:spPr>
          <a:xfrm>
            <a:off x="9621203" y="3069312"/>
            <a:ext cx="4215289" cy="2587466"/>
          </a:xfrm>
          <a:prstGeom prst="roundRect">
            <a:avLst>
              <a:gd name="adj" fmla="val 322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7" name="Shape 12"/>
          <p:cNvSpPr/>
          <p:nvPr/>
        </p:nvSpPr>
        <p:spPr>
          <a:xfrm>
            <a:off x="9827181" y="3275290"/>
            <a:ext cx="595313" cy="595313"/>
          </a:xfrm>
          <a:prstGeom prst="roundRect">
            <a:avLst>
              <a:gd name="adj" fmla="val 15358451"/>
            </a:avLst>
          </a:prstGeom>
          <a:solidFill>
            <a:srgbClr val="720062"/>
          </a:solidFill>
          <a:ln/>
        </p:spPr>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9990892" y="3438882"/>
            <a:ext cx="267891" cy="267891"/>
          </a:xfrm>
          <a:prstGeom prst="rect">
            <a:avLst/>
          </a:prstGeom>
        </p:spPr>
      </p:pic>
      <p:sp>
        <p:nvSpPr>
          <p:cNvPr id="19" name="Text 13"/>
          <p:cNvSpPr/>
          <p:nvPr/>
        </p:nvSpPr>
        <p:spPr>
          <a:xfrm>
            <a:off x="9827181" y="4068961"/>
            <a:ext cx="2598658"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Cross-Platform Paths</a:t>
            </a:r>
            <a:endParaRPr lang="en-US" sz="1950" dirty="0"/>
          </a:p>
        </p:txBody>
      </p:sp>
      <p:sp>
        <p:nvSpPr>
          <p:cNvPr id="20" name="Text 14"/>
          <p:cNvSpPr/>
          <p:nvPr/>
        </p:nvSpPr>
        <p:spPr>
          <a:xfrm>
            <a:off x="9827181" y="4498181"/>
            <a:ext cx="380333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Build file paths that work on Windows, Mac, and Linux automatically.</a:t>
            </a:r>
            <a:endParaRPr lang="en-US" sz="1550" dirty="0"/>
          </a:p>
        </p:txBody>
      </p:sp>
      <p:sp>
        <p:nvSpPr>
          <p:cNvPr id="21" name="Text 15"/>
          <p:cNvSpPr/>
          <p:nvPr/>
        </p:nvSpPr>
        <p:spPr>
          <a:xfrm>
            <a:off x="793790" y="5880021"/>
            <a:ext cx="13042821" cy="6503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Before we can load files or analyze data, Python needs to know where to find them. The </a:t>
            </a:r>
            <a:r>
              <a:rPr lang="en-US" sz="1550" dirty="0">
                <a:solidFill>
                  <a:srgbClr val="000000"/>
                </a:solidFill>
                <a:highlight>
                  <a:srgbClr val="F2F2F2"/>
                </a:highlight>
                <a:latin typeface="Consolas" pitchFamily="34" charset="0"/>
                <a:ea typeface="Consolas" pitchFamily="34" charset="-122"/>
                <a:cs typeface="Consolas" pitchFamily="34" charset="-120"/>
              </a:rPr>
              <a:t>os</a:t>
            </a:r>
            <a:r>
              <a:rPr lang="en-US" sz="1550" dirty="0">
                <a:solidFill>
                  <a:srgbClr val="000000"/>
                </a:solidFill>
                <a:latin typeface="Montserrat Medium" pitchFamily="34" charset="0"/>
                <a:ea typeface="Montserrat Medium" pitchFamily="34" charset="-122"/>
                <a:cs typeface="Montserrat Medium" pitchFamily="34" charset="-120"/>
              </a:rPr>
              <a:t> module is your guide to the file system—think of it as Python's GPS for navigating folders and files on any operating system.</a:t>
            </a:r>
            <a:endParaRPr lang="en-US" sz="1550" dirty="0"/>
          </a:p>
        </p:txBody>
      </p:sp>
      <p:pic>
        <p:nvPicPr>
          <p:cNvPr id="23" name="Picture 22">
            <a:extLst>
              <a:ext uri="{FF2B5EF4-FFF2-40B4-BE49-F238E27FC236}">
                <a16:creationId xmlns:a16="http://schemas.microsoft.com/office/drawing/2014/main" id="{1CD9D5DB-FC49-02AF-CDBA-DD58F433FF62}"/>
              </a:ext>
            </a:extLst>
          </p:cNvPr>
          <p:cNvPicPr>
            <a:picLocks noChangeAspect="1"/>
          </p:cNvPicPr>
          <p:nvPr/>
        </p:nvPicPr>
        <p:blipFill>
          <a:blip r:embed="rId11"/>
          <a:stretch>
            <a:fillRect/>
          </a:stretch>
        </p:blipFill>
        <p:spPr>
          <a:xfrm>
            <a:off x="13342557" y="118334"/>
            <a:ext cx="1125764" cy="41258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1740813"/>
            <a:ext cx="744712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Where Are We? The os Module</a:t>
            </a:r>
            <a:endParaRPr lang="en-US" sz="3900" dirty="0"/>
          </a:p>
        </p:txBody>
      </p:sp>
      <p:sp>
        <p:nvSpPr>
          <p:cNvPr id="3" name="Text 1"/>
          <p:cNvSpPr/>
          <p:nvPr/>
        </p:nvSpPr>
        <p:spPr>
          <a:xfrm>
            <a:off x="793790" y="2757726"/>
            <a:ext cx="13042821" cy="6503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Before we load files, Python needs to know where they are. We use the </a:t>
            </a:r>
            <a:r>
              <a:rPr lang="en-US" sz="1550" dirty="0">
                <a:solidFill>
                  <a:srgbClr val="000000"/>
                </a:solidFill>
                <a:highlight>
                  <a:srgbClr val="F2F2F2"/>
                </a:highlight>
                <a:latin typeface="Consolas" pitchFamily="34" charset="0"/>
                <a:ea typeface="Consolas" pitchFamily="34" charset="-122"/>
                <a:cs typeface="Consolas" pitchFamily="34" charset="-120"/>
              </a:rPr>
              <a:t>os</a:t>
            </a:r>
            <a:r>
              <a:rPr lang="en-US" sz="1550" dirty="0">
                <a:solidFill>
                  <a:srgbClr val="000000"/>
                </a:solidFill>
                <a:latin typeface="Montserrat Medium" pitchFamily="34" charset="0"/>
                <a:ea typeface="Montserrat Medium" pitchFamily="34" charset="-122"/>
                <a:cs typeface="Montserrat Medium" pitchFamily="34" charset="-120"/>
              </a:rPr>
              <a:t> (Operating System) module to talk to Windows, Mac, or Linux—it's the universal translator between Python and your computer's file system.</a:t>
            </a:r>
            <a:endParaRPr lang="en-US" sz="1550" dirty="0"/>
          </a:p>
        </p:txBody>
      </p:sp>
      <p:sp>
        <p:nvSpPr>
          <p:cNvPr id="4" name="Shape 2"/>
          <p:cNvSpPr/>
          <p:nvPr/>
        </p:nvSpPr>
        <p:spPr>
          <a:xfrm>
            <a:off x="793790" y="3631287"/>
            <a:ext cx="13042821" cy="615196"/>
          </a:xfrm>
          <a:prstGeom prst="roundRect">
            <a:avLst>
              <a:gd name="adj" fmla="val 13550"/>
            </a:avLst>
          </a:prstGeom>
          <a:solidFill>
            <a:srgbClr val="F2F2F2"/>
          </a:solidFill>
          <a:ln/>
        </p:spPr>
      </p:sp>
      <p:sp>
        <p:nvSpPr>
          <p:cNvPr id="5" name="Shape 3"/>
          <p:cNvSpPr/>
          <p:nvPr/>
        </p:nvSpPr>
        <p:spPr>
          <a:xfrm>
            <a:off x="783908" y="3631287"/>
            <a:ext cx="13062585" cy="615196"/>
          </a:xfrm>
          <a:prstGeom prst="roundRect">
            <a:avLst>
              <a:gd name="adj" fmla="val 4839"/>
            </a:avLst>
          </a:prstGeom>
          <a:solidFill>
            <a:srgbClr val="F2F2F2"/>
          </a:solidFill>
          <a:ln/>
        </p:spPr>
      </p:sp>
      <p:sp>
        <p:nvSpPr>
          <p:cNvPr id="6" name="Text 4"/>
          <p:cNvSpPr/>
          <p:nvPr/>
        </p:nvSpPr>
        <p:spPr>
          <a:xfrm>
            <a:off x="982266" y="3780115"/>
            <a:ext cx="1266586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import os</a:t>
            </a:r>
            <a:endParaRPr lang="en-US" sz="1550" dirty="0"/>
          </a:p>
        </p:txBody>
      </p:sp>
      <p:sp>
        <p:nvSpPr>
          <p:cNvPr id="7" name="Text 5"/>
          <p:cNvSpPr/>
          <p:nvPr/>
        </p:nvSpPr>
        <p:spPr>
          <a:xfrm>
            <a:off x="793790" y="446972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Every Python session has a "Current Working Directory": the folder it's currently sitting in. Think of it like your home base. When you ask Python to open "data.csv", it looks in this folder first.</a:t>
            </a:r>
            <a:endParaRPr lang="en-US" sz="1550" dirty="0"/>
          </a:p>
        </p:txBody>
      </p:sp>
      <p:sp>
        <p:nvSpPr>
          <p:cNvPr id="8" name="Shape 6"/>
          <p:cNvSpPr/>
          <p:nvPr/>
        </p:nvSpPr>
        <p:spPr>
          <a:xfrm>
            <a:off x="793790" y="5328047"/>
            <a:ext cx="13042821" cy="1160740"/>
          </a:xfrm>
          <a:prstGeom prst="roundRect">
            <a:avLst>
              <a:gd name="adj" fmla="val 718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9" name="Image 0" descr="preencoded.png"/>
          <p:cNvPicPr>
            <a:picLocks noChangeAspect="1"/>
          </p:cNvPicPr>
          <p:nvPr/>
        </p:nvPicPr>
        <p:blipFill>
          <a:blip r:embed="rId3">
            <a:duotone>
              <a:prstClr val="black"/>
              <a:srgbClr val="7030A0">
                <a:tint val="45000"/>
                <a:satMod val="400000"/>
              </a:srgbClr>
            </a:duotone>
          </a:blip>
          <a:stretch>
            <a:fillRect/>
          </a:stretch>
        </p:blipFill>
        <p:spPr>
          <a:xfrm>
            <a:off x="992148" y="5623322"/>
            <a:ext cx="248007" cy="198358"/>
          </a:xfrm>
          <a:prstGeom prst="rect">
            <a:avLst/>
          </a:prstGeom>
          <a:ln>
            <a:solidFill>
              <a:srgbClr val="7030A0"/>
            </a:solidFill>
          </a:ln>
        </p:spPr>
      </p:pic>
      <p:sp>
        <p:nvSpPr>
          <p:cNvPr id="10" name="Text 7"/>
          <p:cNvSpPr/>
          <p:nvPr/>
        </p:nvSpPr>
        <p:spPr>
          <a:xfrm>
            <a:off x="1438513" y="5575935"/>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Key Concept:</a:t>
            </a:r>
            <a:r>
              <a:rPr lang="en-US" sz="1550" dirty="0">
                <a:solidFill>
                  <a:srgbClr val="000000"/>
                </a:solidFill>
                <a:latin typeface="Montserrat Medium" pitchFamily="34" charset="0"/>
                <a:ea typeface="Montserrat Medium" pitchFamily="34" charset="-122"/>
                <a:cs typeface="Montserrat Medium" pitchFamily="34" charset="-120"/>
              </a:rPr>
              <a:t> Jupyter and Python always have a starting location. Understanding this location is the first step to avoiding the dreaded "</a:t>
            </a:r>
            <a:r>
              <a:rPr lang="en-US" sz="1550" dirty="0" err="1">
                <a:solidFill>
                  <a:srgbClr val="000000"/>
                </a:solidFill>
                <a:latin typeface="Montserrat Medium" pitchFamily="34" charset="0"/>
                <a:ea typeface="Montserrat Medium" pitchFamily="34" charset="-122"/>
                <a:cs typeface="Montserrat Medium" pitchFamily="34" charset="-120"/>
              </a:rPr>
              <a:t>FileNotFoundError</a:t>
            </a:r>
            <a:r>
              <a:rPr lang="en-US" sz="1550" dirty="0">
                <a:solidFill>
                  <a:srgbClr val="000000"/>
                </a:solidFill>
                <a:latin typeface="Montserrat Medium" pitchFamily="34" charset="0"/>
                <a:ea typeface="Montserrat Medium" pitchFamily="34" charset="-122"/>
                <a:cs typeface="Montserrat Medium" pitchFamily="34" charset="-120"/>
              </a:rPr>
              <a:t>".</a:t>
            </a:r>
            <a:endParaRPr lang="en-US" sz="1550" dirty="0"/>
          </a:p>
        </p:txBody>
      </p:sp>
      <p:pic>
        <p:nvPicPr>
          <p:cNvPr id="11" name="Picture 10">
            <a:extLst>
              <a:ext uri="{FF2B5EF4-FFF2-40B4-BE49-F238E27FC236}">
                <a16:creationId xmlns:a16="http://schemas.microsoft.com/office/drawing/2014/main" id="{6726416B-72A4-10F4-0162-987E2FB955B4}"/>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672822"/>
            <a:ext cx="8118753"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"Where am I?" and "What is here?"</a:t>
            </a:r>
            <a:endParaRPr lang="en-US" sz="3700" dirty="0"/>
          </a:p>
        </p:txBody>
      </p:sp>
      <p:sp>
        <p:nvSpPr>
          <p:cNvPr id="3" name="Shape 1"/>
          <p:cNvSpPr/>
          <p:nvPr/>
        </p:nvSpPr>
        <p:spPr>
          <a:xfrm>
            <a:off x="793790" y="1544717"/>
            <a:ext cx="13042821" cy="2027515"/>
          </a:xfrm>
          <a:prstGeom prst="roundRect">
            <a:avLst>
              <a:gd name="adj" fmla="val 3906"/>
            </a:avLst>
          </a:prstGeom>
          <a:solidFill>
            <a:srgbClr val="FFFFFF"/>
          </a:solidFill>
          <a:ln w="22860">
            <a:solidFill>
              <a:srgbClr val="720062"/>
            </a:solidFill>
            <a:prstDash val="solid"/>
          </a:ln>
        </p:spPr>
      </p:sp>
      <p:sp>
        <p:nvSpPr>
          <p:cNvPr id="4" name="Shape 2"/>
          <p:cNvSpPr/>
          <p:nvPr/>
        </p:nvSpPr>
        <p:spPr>
          <a:xfrm>
            <a:off x="816650" y="1567577"/>
            <a:ext cx="754142" cy="1981795"/>
          </a:xfrm>
          <a:prstGeom prst="roundRect">
            <a:avLst>
              <a:gd name="adj" fmla="val 686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sp>
        <p:nvSpPr>
          <p:cNvPr id="5" name="Text 3"/>
          <p:cNvSpPr/>
          <p:nvPr/>
        </p:nvSpPr>
        <p:spPr>
          <a:xfrm>
            <a:off x="1048464" y="2381726"/>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000000"/>
                </a:solidFill>
                <a:latin typeface="Inter Bold" pitchFamily="34" charset="0"/>
                <a:ea typeface="Inter Bold" pitchFamily="34" charset="-122"/>
                <a:cs typeface="Inter Bold" pitchFamily="34" charset="-120"/>
              </a:rPr>
              <a:t>1</a:t>
            </a:r>
            <a:endParaRPr lang="en-US" sz="2200" dirty="0"/>
          </a:p>
        </p:txBody>
      </p:sp>
      <p:sp>
        <p:nvSpPr>
          <p:cNvPr id="6" name="Text 4"/>
          <p:cNvSpPr/>
          <p:nvPr/>
        </p:nvSpPr>
        <p:spPr>
          <a:xfrm>
            <a:off x="1759268" y="1756053"/>
            <a:ext cx="3499366"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Get Current Working Directory</a:t>
            </a:r>
            <a:endParaRPr lang="en-US" sz="1850" dirty="0"/>
          </a:p>
        </p:txBody>
      </p:sp>
      <p:sp>
        <p:nvSpPr>
          <p:cNvPr id="7" name="Shape 5"/>
          <p:cNvSpPr/>
          <p:nvPr/>
        </p:nvSpPr>
        <p:spPr>
          <a:xfrm>
            <a:off x="1759268" y="2262783"/>
            <a:ext cx="11866007" cy="584359"/>
          </a:xfrm>
          <a:prstGeom prst="roundRect">
            <a:avLst>
              <a:gd name="adj" fmla="val 13552"/>
            </a:avLst>
          </a:prstGeom>
          <a:solidFill>
            <a:srgbClr val="F2F2F2"/>
          </a:solidFill>
          <a:ln/>
        </p:spPr>
      </p:sp>
      <p:sp>
        <p:nvSpPr>
          <p:cNvPr id="8" name="Shape 6"/>
          <p:cNvSpPr/>
          <p:nvPr/>
        </p:nvSpPr>
        <p:spPr>
          <a:xfrm>
            <a:off x="1749862" y="2262783"/>
            <a:ext cx="11884819" cy="584359"/>
          </a:xfrm>
          <a:prstGeom prst="roundRect">
            <a:avLst>
              <a:gd name="adj" fmla="val 4840"/>
            </a:avLst>
          </a:prstGeom>
          <a:solidFill>
            <a:srgbClr val="F2F2F2"/>
          </a:solidFill>
          <a:ln/>
        </p:spPr>
      </p:sp>
      <p:sp>
        <p:nvSpPr>
          <p:cNvPr id="9" name="Text 7"/>
          <p:cNvSpPr/>
          <p:nvPr/>
        </p:nvSpPr>
        <p:spPr>
          <a:xfrm>
            <a:off x="1938337" y="2404110"/>
            <a:ext cx="1150786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os.getcwd()</a:t>
            </a:r>
            <a:endParaRPr lang="en-US" sz="1450" dirty="0"/>
          </a:p>
        </p:txBody>
      </p:sp>
      <p:sp>
        <p:nvSpPr>
          <p:cNvPr id="10" name="Text 8"/>
          <p:cNvSpPr/>
          <p:nvPr/>
        </p:nvSpPr>
        <p:spPr>
          <a:xfrm>
            <a:off x="1759268" y="3059192"/>
            <a:ext cx="1186600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Tells you exactly which folder you're in right now. This is your starting point.</a:t>
            </a:r>
            <a:endParaRPr lang="en-US" sz="1450" dirty="0"/>
          </a:p>
        </p:txBody>
      </p:sp>
      <p:sp>
        <p:nvSpPr>
          <p:cNvPr id="11" name="Shape 9"/>
          <p:cNvSpPr/>
          <p:nvPr/>
        </p:nvSpPr>
        <p:spPr>
          <a:xfrm>
            <a:off x="793790" y="3760708"/>
            <a:ext cx="13042821" cy="2027515"/>
          </a:xfrm>
          <a:prstGeom prst="roundRect">
            <a:avLst>
              <a:gd name="adj" fmla="val 3906"/>
            </a:avLst>
          </a:prstGeom>
          <a:solidFill>
            <a:srgbClr val="FFFFFF"/>
          </a:solidFill>
          <a:ln w="22860">
            <a:solidFill>
              <a:srgbClr val="720062"/>
            </a:solidFill>
            <a:prstDash val="solid"/>
          </a:ln>
        </p:spPr>
      </p:sp>
      <p:sp>
        <p:nvSpPr>
          <p:cNvPr id="12" name="Shape 10"/>
          <p:cNvSpPr/>
          <p:nvPr/>
        </p:nvSpPr>
        <p:spPr>
          <a:xfrm>
            <a:off x="816650" y="3783568"/>
            <a:ext cx="754142" cy="1981795"/>
          </a:xfrm>
          <a:prstGeom prst="roundRect">
            <a:avLst>
              <a:gd name="adj" fmla="val 686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sp>
        <p:nvSpPr>
          <p:cNvPr id="13" name="Text 11"/>
          <p:cNvSpPr/>
          <p:nvPr/>
        </p:nvSpPr>
        <p:spPr>
          <a:xfrm>
            <a:off x="1048464" y="4597718"/>
            <a:ext cx="282773" cy="353497"/>
          </a:xfrm>
          <a:prstGeom prst="rect">
            <a:avLst/>
          </a:prstGeom>
          <a:noFill/>
          <a:ln/>
        </p:spPr>
        <p:txBody>
          <a:bodyPr wrap="none" lIns="0" tIns="0" rIns="0" bIns="0" rtlCol="0" anchor="t"/>
          <a:lstStyle/>
          <a:p>
            <a:pPr marL="0" indent="0" algn="l">
              <a:lnSpc>
                <a:spcPts val="2200"/>
              </a:lnSpc>
              <a:buNone/>
            </a:pPr>
            <a:r>
              <a:rPr lang="en-US" sz="2200" b="1" dirty="0">
                <a:solidFill>
                  <a:srgbClr val="000000"/>
                </a:solidFill>
                <a:latin typeface="Inter Bold" pitchFamily="34" charset="0"/>
                <a:ea typeface="Inter Bold" pitchFamily="34" charset="-122"/>
                <a:cs typeface="Inter Bold" pitchFamily="34" charset="-120"/>
              </a:rPr>
              <a:t>2</a:t>
            </a:r>
            <a:endParaRPr lang="en-US" sz="2200" dirty="0"/>
          </a:p>
        </p:txBody>
      </p:sp>
      <p:sp>
        <p:nvSpPr>
          <p:cNvPr id="14" name="Text 12"/>
          <p:cNvSpPr/>
          <p:nvPr/>
        </p:nvSpPr>
        <p:spPr>
          <a:xfrm>
            <a:off x="1759268" y="3972044"/>
            <a:ext cx="2653308"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List Directory Contents</a:t>
            </a:r>
            <a:endParaRPr lang="en-US" sz="1850" dirty="0"/>
          </a:p>
        </p:txBody>
      </p:sp>
      <p:sp>
        <p:nvSpPr>
          <p:cNvPr id="15" name="Shape 13"/>
          <p:cNvSpPr/>
          <p:nvPr/>
        </p:nvSpPr>
        <p:spPr>
          <a:xfrm>
            <a:off x="1759268" y="4478774"/>
            <a:ext cx="11866007" cy="584359"/>
          </a:xfrm>
          <a:prstGeom prst="roundRect">
            <a:avLst>
              <a:gd name="adj" fmla="val 13552"/>
            </a:avLst>
          </a:prstGeom>
          <a:solidFill>
            <a:srgbClr val="F2F2F2"/>
          </a:solidFill>
          <a:ln/>
        </p:spPr>
      </p:sp>
      <p:sp>
        <p:nvSpPr>
          <p:cNvPr id="16" name="Shape 14"/>
          <p:cNvSpPr/>
          <p:nvPr/>
        </p:nvSpPr>
        <p:spPr>
          <a:xfrm>
            <a:off x="1749862" y="4478774"/>
            <a:ext cx="11884819" cy="584359"/>
          </a:xfrm>
          <a:prstGeom prst="roundRect">
            <a:avLst>
              <a:gd name="adj" fmla="val 4840"/>
            </a:avLst>
          </a:prstGeom>
          <a:solidFill>
            <a:srgbClr val="F2F2F2"/>
          </a:solidFill>
          <a:ln/>
        </p:spPr>
      </p:sp>
      <p:sp>
        <p:nvSpPr>
          <p:cNvPr id="17" name="Text 15"/>
          <p:cNvSpPr/>
          <p:nvPr/>
        </p:nvSpPr>
        <p:spPr>
          <a:xfrm>
            <a:off x="1938337" y="4620101"/>
            <a:ext cx="1150786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os.listdir()</a:t>
            </a:r>
            <a:endParaRPr lang="en-US" sz="1450" dirty="0"/>
          </a:p>
        </p:txBody>
      </p:sp>
      <p:sp>
        <p:nvSpPr>
          <p:cNvPr id="18" name="Text 16"/>
          <p:cNvSpPr/>
          <p:nvPr/>
        </p:nvSpPr>
        <p:spPr>
          <a:xfrm>
            <a:off x="1759268" y="5275183"/>
            <a:ext cx="1186600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Shows every file and folder in your current location. If your file isn't here, Python can't see it!</a:t>
            </a:r>
            <a:endParaRPr lang="en-US" sz="1450" dirty="0"/>
          </a:p>
        </p:txBody>
      </p:sp>
      <p:sp>
        <p:nvSpPr>
          <p:cNvPr id="19" name="Text 17"/>
          <p:cNvSpPr/>
          <p:nvPr/>
        </p:nvSpPr>
        <p:spPr>
          <a:xfrm>
            <a:off x="1076563" y="6212324"/>
            <a:ext cx="12760047" cy="316944"/>
          </a:xfrm>
          <a:prstGeom prst="rect">
            <a:avLst/>
          </a:prstGeom>
          <a:noFill/>
          <a:ln/>
        </p:spPr>
        <p:txBody>
          <a:bodyPr wrap="none" lIns="0" tIns="0" rIns="0" bIns="0" rtlCol="0" anchor="t"/>
          <a:lstStyle/>
          <a:p>
            <a:pPr marL="0" indent="0" algn="l">
              <a:lnSpc>
                <a:spcPts val="2350"/>
              </a:lnSpc>
              <a:buNone/>
            </a:pPr>
            <a:r>
              <a:rPr lang="en-US" sz="1450" b="1" dirty="0">
                <a:solidFill>
                  <a:srgbClr val="000000"/>
                </a:solidFill>
                <a:latin typeface="Montserrat Medium" pitchFamily="34" charset="0"/>
                <a:ea typeface="Montserrat Medium" pitchFamily="34" charset="-122"/>
                <a:cs typeface="Montserrat Medium" pitchFamily="34" charset="-120"/>
              </a:rPr>
              <a:t>The Trap:</a:t>
            </a:r>
            <a:r>
              <a:rPr lang="en-US" sz="1450" dirty="0">
                <a:solidFill>
                  <a:srgbClr val="000000"/>
                </a:solidFill>
                <a:latin typeface="Montserrat Medium" pitchFamily="34" charset="0"/>
                <a:ea typeface="Montserrat Medium" pitchFamily="34" charset="-122"/>
                <a:cs typeface="Montserrat Medium" pitchFamily="34" charset="-120"/>
              </a:rPr>
              <a:t> If your file isn't in </a:t>
            </a:r>
            <a:r>
              <a:rPr lang="en-US" sz="1450" dirty="0">
                <a:solidFill>
                  <a:srgbClr val="000000"/>
                </a:solidFill>
                <a:highlight>
                  <a:srgbClr val="F2F2F2"/>
                </a:highlight>
                <a:latin typeface="Consolas" pitchFamily="34" charset="0"/>
                <a:ea typeface="Consolas" pitchFamily="34" charset="-122"/>
                <a:cs typeface="Consolas" pitchFamily="34" charset="-120"/>
              </a:rPr>
              <a:t>listdir()</a:t>
            </a:r>
            <a:r>
              <a:rPr lang="en-US" sz="1450" dirty="0">
                <a:solidFill>
                  <a:srgbClr val="000000"/>
                </a:solidFill>
                <a:latin typeface="Montserrat Medium" pitchFamily="34" charset="0"/>
                <a:ea typeface="Montserrat Medium" pitchFamily="34" charset="-122"/>
                <a:cs typeface="Montserrat Medium" pitchFamily="34" charset="-120"/>
              </a:rPr>
              <a:t>, Python can't open it! This simple check solves 90% of FileNotFoundError issues.</a:t>
            </a:r>
            <a:endParaRPr lang="en-US" sz="1450" dirty="0"/>
          </a:p>
        </p:txBody>
      </p:sp>
      <p:sp>
        <p:nvSpPr>
          <p:cNvPr id="20" name="Shape 18"/>
          <p:cNvSpPr/>
          <p:nvPr/>
        </p:nvSpPr>
        <p:spPr>
          <a:xfrm>
            <a:off x="793790" y="6000274"/>
            <a:ext cx="22860" cy="741045"/>
          </a:xfrm>
          <a:prstGeom prst="rect">
            <a:avLst/>
          </a:prstGeom>
          <a:solidFill>
            <a:srgbClr val="7030A0"/>
          </a:solidFill>
          <a:ln>
            <a:solidFill>
              <a:srgbClr val="720062"/>
            </a:solidFill>
          </a:ln>
        </p:spPr>
      </p:sp>
      <p:sp>
        <p:nvSpPr>
          <p:cNvPr id="21" name="Text 19"/>
          <p:cNvSpPr/>
          <p:nvPr/>
        </p:nvSpPr>
        <p:spPr>
          <a:xfrm>
            <a:off x="793790" y="6953369"/>
            <a:ext cx="13042821"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These two commands are your debugging best friends. Whenever you get a file error, run these first to understand where Python is looking and what it can actually see.</a:t>
            </a:r>
            <a:endParaRPr lang="en-US" sz="1450" dirty="0"/>
          </a:p>
        </p:txBody>
      </p:sp>
      <p:pic>
        <p:nvPicPr>
          <p:cNvPr id="22" name="Picture 21">
            <a:extLst>
              <a:ext uri="{FF2B5EF4-FFF2-40B4-BE49-F238E27FC236}">
                <a16:creationId xmlns:a16="http://schemas.microsoft.com/office/drawing/2014/main" id="{9DAA06ED-8B4D-BBCC-8C8F-931C08B30523}"/>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582097"/>
            <a:ext cx="6661309" cy="51137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Building Paths Safely: </a:t>
            </a:r>
            <a:r>
              <a:rPr lang="en-US" sz="3100" b="1" dirty="0">
                <a:solidFill>
                  <a:srgbClr val="000000"/>
                </a:solidFill>
                <a:highlight>
                  <a:srgbClr val="F2F2F2"/>
                </a:highlight>
                <a:latin typeface="Consolas" pitchFamily="34" charset="0"/>
                <a:ea typeface="Consolas" pitchFamily="34" charset="-122"/>
                <a:cs typeface="Consolas" pitchFamily="34" charset="-120"/>
              </a:rPr>
              <a:t>os.path.join</a:t>
            </a:r>
            <a:endParaRPr lang="en-US" sz="3100" dirty="0"/>
          </a:p>
        </p:txBody>
      </p:sp>
      <p:sp>
        <p:nvSpPr>
          <p:cNvPr id="3" name="Text 1"/>
          <p:cNvSpPr/>
          <p:nvPr/>
        </p:nvSpPr>
        <p:spPr>
          <a:xfrm>
            <a:off x="793790" y="1411010"/>
            <a:ext cx="13042821" cy="53863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Hardcoding file paths can lead to errors across different operating systems, as Windows uses backslashes (</a:t>
            </a:r>
            <a:r>
              <a:rPr lang="en-US" sz="1250" dirty="0">
                <a:solidFill>
                  <a:srgbClr val="000000"/>
                </a:solidFill>
                <a:highlight>
                  <a:srgbClr val="F2F2F2"/>
                </a:highlight>
                <a:latin typeface="Consolas" pitchFamily="34" charset="0"/>
                <a:ea typeface="Consolas" pitchFamily="34" charset="-122"/>
                <a:cs typeface="Consolas" pitchFamily="34" charset="-120"/>
              </a:rPr>
              <a:t>\</a:t>
            </a:r>
            <a:r>
              <a:rPr lang="en-US" sz="1250" dirty="0">
                <a:solidFill>
                  <a:srgbClr val="000000"/>
                </a:solidFill>
                <a:latin typeface="Montserrat Medium" pitchFamily="34" charset="0"/>
                <a:ea typeface="Montserrat Medium" pitchFamily="34" charset="-122"/>
                <a:cs typeface="Montserrat Medium" pitchFamily="34" charset="-120"/>
              </a:rPr>
              <a:t>) while Mac/Linux use forward slashes (</a:t>
            </a:r>
            <a:r>
              <a:rPr lang="en-US" sz="1250" dirty="0">
                <a:solidFill>
                  <a:srgbClr val="000000"/>
                </a:solidFill>
                <a:highlight>
                  <a:srgbClr val="F2F2F2"/>
                </a:highlight>
                <a:latin typeface="Consolas" pitchFamily="34" charset="0"/>
                <a:ea typeface="Consolas" pitchFamily="34" charset="-122"/>
                <a:cs typeface="Consolas" pitchFamily="34" charset="-120"/>
              </a:rPr>
              <a:t>/</a:t>
            </a:r>
            <a:r>
              <a:rPr lang="en-US" sz="1250" dirty="0">
                <a:solidFill>
                  <a:srgbClr val="000000"/>
                </a:solidFill>
                <a:latin typeface="Montserrat Medium" pitchFamily="34" charset="0"/>
                <a:ea typeface="Montserrat Medium" pitchFamily="34" charset="-122"/>
                <a:cs typeface="Montserrat Medium" pitchFamily="34" charset="-120"/>
              </a:rPr>
              <a:t>). The </a:t>
            </a:r>
            <a:r>
              <a:rPr lang="en-US" sz="1250" dirty="0">
                <a:solidFill>
                  <a:srgbClr val="000000"/>
                </a:solidFill>
                <a:highlight>
                  <a:srgbClr val="F2F2F2"/>
                </a:highlight>
                <a:latin typeface="Consolas" pitchFamily="34" charset="0"/>
                <a:ea typeface="Consolas" pitchFamily="34" charset="-122"/>
                <a:cs typeface="Consolas" pitchFamily="34" charset="-120"/>
              </a:rPr>
              <a:t>os.path.join()</a:t>
            </a:r>
            <a:r>
              <a:rPr lang="en-US" sz="1250" dirty="0">
                <a:solidFill>
                  <a:srgbClr val="000000"/>
                </a:solidFill>
                <a:latin typeface="Montserrat Medium" pitchFamily="34" charset="0"/>
                <a:ea typeface="Montserrat Medium" pitchFamily="34" charset="-122"/>
                <a:cs typeface="Montserrat Medium" pitchFamily="34" charset="-120"/>
              </a:rPr>
              <a:t> function ensures your scripts are </a:t>
            </a:r>
            <a:r>
              <a:rPr lang="en-US" sz="1250" b="1" dirty="0">
                <a:solidFill>
                  <a:srgbClr val="000000"/>
                </a:solidFill>
                <a:latin typeface="Montserrat Medium" pitchFamily="34" charset="0"/>
                <a:ea typeface="Montserrat Medium" pitchFamily="34" charset="-122"/>
                <a:cs typeface="Montserrat Medium" pitchFamily="34" charset="-120"/>
              </a:rPr>
              <a:t>portable</a:t>
            </a:r>
            <a:r>
              <a:rPr lang="en-US" sz="1250" dirty="0">
                <a:solidFill>
                  <a:srgbClr val="000000"/>
                </a:solidFill>
                <a:latin typeface="Montserrat Medium" pitchFamily="34" charset="0"/>
                <a:ea typeface="Montserrat Medium" pitchFamily="34" charset="-122"/>
                <a:cs typeface="Montserrat Medium" pitchFamily="34" charset="-120"/>
              </a:rPr>
              <a:t> by automatically using the correct path separator for the current system.</a:t>
            </a:r>
            <a:endParaRPr lang="en-US" sz="1250" dirty="0"/>
          </a:p>
        </p:txBody>
      </p:sp>
      <p:sp>
        <p:nvSpPr>
          <p:cNvPr id="4" name="Shape 2"/>
          <p:cNvSpPr/>
          <p:nvPr/>
        </p:nvSpPr>
        <p:spPr>
          <a:xfrm>
            <a:off x="793790" y="2128242"/>
            <a:ext cx="13042821" cy="2270760"/>
          </a:xfrm>
          <a:prstGeom prst="roundRect">
            <a:avLst>
              <a:gd name="adj" fmla="val 2937"/>
            </a:avLst>
          </a:prstGeom>
          <a:solidFill>
            <a:srgbClr val="F2F2F2"/>
          </a:solidFill>
          <a:ln/>
        </p:spPr>
      </p:sp>
      <p:sp>
        <p:nvSpPr>
          <p:cNvPr id="5" name="Shape 3"/>
          <p:cNvSpPr/>
          <p:nvPr/>
        </p:nvSpPr>
        <p:spPr>
          <a:xfrm>
            <a:off x="785932" y="2128242"/>
            <a:ext cx="13058537" cy="2270760"/>
          </a:xfrm>
          <a:prstGeom prst="roundRect">
            <a:avLst>
              <a:gd name="adj" fmla="val 1049"/>
            </a:avLst>
          </a:prstGeom>
          <a:solidFill>
            <a:srgbClr val="F2F2F2"/>
          </a:solidFill>
          <a:ln/>
        </p:spPr>
      </p:sp>
      <p:sp>
        <p:nvSpPr>
          <p:cNvPr id="6" name="Text 4"/>
          <p:cNvSpPr/>
          <p:nvPr/>
        </p:nvSpPr>
        <p:spPr>
          <a:xfrm>
            <a:off x="944642" y="2247305"/>
            <a:ext cx="12741116" cy="2032635"/>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import os</a:t>
            </a:r>
            <a:endParaRPr lang="en-US" sz="1250" dirty="0"/>
          </a:p>
          <a:p>
            <a:pPr marL="0" indent="0" algn="l">
              <a:lnSpc>
                <a:spcPts val="2000"/>
              </a:lnSpc>
              <a:buNone/>
            </a:pP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 os.path.join handles separators automatically</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path = os.path.join("users", "gemini", "documents", "data.csv")</a:t>
            </a:r>
            <a:endParaRPr lang="en-US" sz="1250" dirty="0"/>
          </a:p>
          <a:p>
            <a:pPr marL="0" indent="0" algn="l">
              <a:lnSpc>
                <a:spcPts val="2000"/>
              </a:lnSpc>
              <a:buNone/>
            </a:pP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print(path)</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 On Windows: users\gemini\documents\data.csv</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 On Mac/Linux: users/gemini/documents/data.csv</a:t>
            </a:r>
            <a:endParaRPr lang="en-US" sz="1250" dirty="0"/>
          </a:p>
        </p:txBody>
      </p:sp>
      <p:sp>
        <p:nvSpPr>
          <p:cNvPr id="7" name="Text 5"/>
          <p:cNvSpPr/>
          <p:nvPr/>
        </p:nvSpPr>
        <p:spPr>
          <a:xfrm>
            <a:off x="793790" y="4637127"/>
            <a:ext cx="7670363" cy="396835"/>
          </a:xfrm>
          <a:prstGeom prst="rect">
            <a:avLst/>
          </a:prstGeom>
          <a:noFill/>
          <a:ln/>
        </p:spPr>
        <p:txBody>
          <a:bodyPr wrap="none" lIns="0" tIns="0" rIns="0" bIns="0" rtlCol="0" anchor="t"/>
          <a:lstStyle/>
          <a:p>
            <a:pPr marL="0" indent="0" algn="l">
              <a:lnSpc>
                <a:spcPts val="3100"/>
              </a:lnSpc>
              <a:buNone/>
            </a:pPr>
            <a:r>
              <a:rPr lang="en-US" sz="2500" b="1" dirty="0">
                <a:solidFill>
                  <a:srgbClr val="000000"/>
                </a:solidFill>
                <a:latin typeface="Inter Bold" pitchFamily="34" charset="0"/>
                <a:ea typeface="Inter Bold" pitchFamily="34" charset="-122"/>
                <a:cs typeface="Inter Bold" pitchFamily="34" charset="-120"/>
              </a:rPr>
              <a:t>The os module isn't just for looking; it's for doing.</a:t>
            </a:r>
            <a:endParaRPr lang="en-US" sz="2500" dirty="0"/>
          </a:p>
        </p:txBody>
      </p:sp>
      <p:sp>
        <p:nvSpPr>
          <p:cNvPr id="8" name="Shape 6"/>
          <p:cNvSpPr/>
          <p:nvPr/>
        </p:nvSpPr>
        <p:spPr>
          <a:xfrm>
            <a:off x="793790" y="5272088"/>
            <a:ext cx="13042821" cy="2375297"/>
          </a:xfrm>
          <a:prstGeom prst="roundRect">
            <a:avLst>
              <a:gd name="adj" fmla="val 2808"/>
            </a:avLst>
          </a:prstGeom>
          <a:noFill/>
          <a:ln w="7620">
            <a:solidFill>
              <a:srgbClr val="000000">
                <a:alpha val="8000"/>
              </a:srgbClr>
            </a:solidFill>
            <a:prstDash val="solid"/>
          </a:ln>
        </p:spPr>
      </p:sp>
      <p:sp>
        <p:nvSpPr>
          <p:cNvPr id="9" name="Shape 7"/>
          <p:cNvSpPr/>
          <p:nvPr/>
        </p:nvSpPr>
        <p:spPr>
          <a:xfrm>
            <a:off x="801410" y="5279708"/>
            <a:ext cx="13027581" cy="459819"/>
          </a:xfrm>
          <a:prstGeom prst="rect">
            <a:avLst/>
          </a:prstGeom>
          <a:solidFill>
            <a:srgbClr val="FFFFFF">
              <a:alpha val="4000"/>
            </a:srgbClr>
          </a:solidFill>
          <a:ln/>
        </p:spPr>
      </p:sp>
      <p:sp>
        <p:nvSpPr>
          <p:cNvPr id="10" name="Text 8"/>
          <p:cNvSpPr/>
          <p:nvPr/>
        </p:nvSpPr>
        <p:spPr>
          <a:xfrm>
            <a:off x="960120" y="5382578"/>
            <a:ext cx="6192560" cy="25407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Montserrat Medium" pitchFamily="34" charset="0"/>
                <a:ea typeface="Montserrat Medium" pitchFamily="34" charset="-122"/>
                <a:cs typeface="Montserrat Medium" pitchFamily="34" charset="-120"/>
              </a:rPr>
              <a:t>Task</a:t>
            </a:r>
            <a:endParaRPr lang="en-US" sz="1250" dirty="0"/>
          </a:p>
        </p:txBody>
      </p:sp>
      <p:sp>
        <p:nvSpPr>
          <p:cNvPr id="11" name="Text 9"/>
          <p:cNvSpPr/>
          <p:nvPr/>
        </p:nvSpPr>
        <p:spPr>
          <a:xfrm>
            <a:off x="7477720" y="5382578"/>
            <a:ext cx="6192560" cy="25407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Montserrat Medium" pitchFamily="34" charset="0"/>
                <a:ea typeface="Montserrat Medium" pitchFamily="34" charset="-122"/>
                <a:cs typeface="Montserrat Medium" pitchFamily="34" charset="-120"/>
              </a:rPr>
              <a:t>Command</a:t>
            </a:r>
            <a:endParaRPr lang="en-US" sz="1250" dirty="0"/>
          </a:p>
        </p:txBody>
      </p:sp>
      <p:sp>
        <p:nvSpPr>
          <p:cNvPr id="12" name="Shape 10"/>
          <p:cNvSpPr/>
          <p:nvPr/>
        </p:nvSpPr>
        <p:spPr>
          <a:xfrm>
            <a:off x="801410" y="5739527"/>
            <a:ext cx="13027581" cy="475059"/>
          </a:xfrm>
          <a:prstGeom prst="rect">
            <a:avLst/>
          </a:prstGeom>
          <a:solidFill>
            <a:srgbClr val="000000">
              <a:alpha val="4000"/>
            </a:srgbClr>
          </a:solidFill>
          <a:ln/>
        </p:spPr>
      </p:sp>
      <p:sp>
        <p:nvSpPr>
          <p:cNvPr id="13" name="Text 11"/>
          <p:cNvSpPr/>
          <p:nvPr/>
        </p:nvSpPr>
        <p:spPr>
          <a:xfrm>
            <a:off x="960120" y="5842397"/>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Create a folder</a:t>
            </a:r>
            <a:endParaRPr lang="en-US" sz="1250" dirty="0"/>
          </a:p>
        </p:txBody>
      </p:sp>
      <p:sp>
        <p:nvSpPr>
          <p:cNvPr id="14" name="Text 12"/>
          <p:cNvSpPr/>
          <p:nvPr/>
        </p:nvSpPr>
        <p:spPr>
          <a:xfrm>
            <a:off x="7477720" y="5842397"/>
            <a:ext cx="6192560"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os.mkdir("new_folder")</a:t>
            </a:r>
            <a:endParaRPr lang="en-US" sz="1250" dirty="0"/>
          </a:p>
        </p:txBody>
      </p:sp>
      <p:sp>
        <p:nvSpPr>
          <p:cNvPr id="15" name="Shape 13"/>
          <p:cNvSpPr/>
          <p:nvPr/>
        </p:nvSpPr>
        <p:spPr>
          <a:xfrm>
            <a:off x="801410" y="6214586"/>
            <a:ext cx="13027581" cy="475059"/>
          </a:xfrm>
          <a:prstGeom prst="rect">
            <a:avLst/>
          </a:prstGeom>
          <a:solidFill>
            <a:srgbClr val="FFFFFF">
              <a:alpha val="4000"/>
            </a:srgbClr>
          </a:solidFill>
          <a:ln/>
        </p:spPr>
      </p:sp>
      <p:sp>
        <p:nvSpPr>
          <p:cNvPr id="16" name="Text 14"/>
          <p:cNvSpPr/>
          <p:nvPr/>
        </p:nvSpPr>
        <p:spPr>
          <a:xfrm>
            <a:off x="960120" y="631745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Rename a file</a:t>
            </a:r>
            <a:endParaRPr lang="en-US" sz="1250" dirty="0"/>
          </a:p>
        </p:txBody>
      </p:sp>
      <p:sp>
        <p:nvSpPr>
          <p:cNvPr id="17" name="Text 15"/>
          <p:cNvSpPr/>
          <p:nvPr/>
        </p:nvSpPr>
        <p:spPr>
          <a:xfrm>
            <a:off x="7477720" y="6317456"/>
            <a:ext cx="6192560"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os.rename("old.txt", "new.txt")</a:t>
            </a:r>
            <a:endParaRPr lang="en-US" sz="1250" dirty="0"/>
          </a:p>
        </p:txBody>
      </p:sp>
      <p:sp>
        <p:nvSpPr>
          <p:cNvPr id="18" name="Shape 16"/>
          <p:cNvSpPr/>
          <p:nvPr/>
        </p:nvSpPr>
        <p:spPr>
          <a:xfrm>
            <a:off x="801410" y="6689646"/>
            <a:ext cx="13027581" cy="475059"/>
          </a:xfrm>
          <a:prstGeom prst="rect">
            <a:avLst/>
          </a:prstGeom>
          <a:solidFill>
            <a:srgbClr val="000000">
              <a:alpha val="4000"/>
            </a:srgbClr>
          </a:solidFill>
          <a:ln/>
        </p:spPr>
      </p:sp>
      <p:sp>
        <p:nvSpPr>
          <p:cNvPr id="19" name="Text 17"/>
          <p:cNvSpPr/>
          <p:nvPr/>
        </p:nvSpPr>
        <p:spPr>
          <a:xfrm>
            <a:off x="960120" y="6792516"/>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Check if file exists</a:t>
            </a:r>
            <a:endParaRPr lang="en-US" sz="1250" dirty="0"/>
          </a:p>
        </p:txBody>
      </p:sp>
      <p:sp>
        <p:nvSpPr>
          <p:cNvPr id="20" name="Text 18"/>
          <p:cNvSpPr/>
          <p:nvPr/>
        </p:nvSpPr>
        <p:spPr>
          <a:xfrm>
            <a:off x="7477720" y="6792516"/>
            <a:ext cx="6192560"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os.path.exists("data.csv")</a:t>
            </a:r>
            <a:endParaRPr lang="en-US" sz="1250" dirty="0"/>
          </a:p>
        </p:txBody>
      </p:sp>
      <p:sp>
        <p:nvSpPr>
          <p:cNvPr id="21" name="Shape 19"/>
          <p:cNvSpPr/>
          <p:nvPr/>
        </p:nvSpPr>
        <p:spPr>
          <a:xfrm>
            <a:off x="801410" y="7164705"/>
            <a:ext cx="13027581" cy="475059"/>
          </a:xfrm>
          <a:prstGeom prst="rect">
            <a:avLst/>
          </a:prstGeom>
          <a:solidFill>
            <a:srgbClr val="FFFFFF">
              <a:alpha val="4000"/>
            </a:srgbClr>
          </a:solidFill>
          <a:ln/>
        </p:spPr>
      </p:sp>
      <p:sp>
        <p:nvSpPr>
          <p:cNvPr id="22" name="Text 20"/>
          <p:cNvSpPr/>
          <p:nvPr/>
        </p:nvSpPr>
        <p:spPr>
          <a:xfrm>
            <a:off x="960120" y="7267575"/>
            <a:ext cx="6192560"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Delete a file</a:t>
            </a:r>
            <a:endParaRPr lang="en-US" sz="1250" dirty="0"/>
          </a:p>
        </p:txBody>
      </p:sp>
      <p:sp>
        <p:nvSpPr>
          <p:cNvPr id="23" name="Text 21"/>
          <p:cNvSpPr/>
          <p:nvPr/>
        </p:nvSpPr>
        <p:spPr>
          <a:xfrm>
            <a:off x="7477720" y="7267575"/>
            <a:ext cx="6192560"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pitchFamily="34" charset="0"/>
                <a:ea typeface="Consolas" pitchFamily="34" charset="-122"/>
                <a:cs typeface="Consolas" pitchFamily="34" charset="-120"/>
              </a:rPr>
              <a:t>os.remove("old_file.txt")</a:t>
            </a:r>
            <a:endParaRPr lang="en-US" sz="1250" dirty="0"/>
          </a:p>
        </p:txBody>
      </p:sp>
      <p:pic>
        <p:nvPicPr>
          <p:cNvPr id="24" name="Picture 23">
            <a:extLst>
              <a:ext uri="{FF2B5EF4-FFF2-40B4-BE49-F238E27FC236}">
                <a16:creationId xmlns:a16="http://schemas.microsoft.com/office/drawing/2014/main" id="{497B039E-508F-EDB5-F42E-A051A2E19E4D}"/>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787837"/>
            <a:ext cx="1352074" cy="373142"/>
          </a:xfrm>
          <a:prstGeom prst="roundRect">
            <a:avLst>
              <a:gd name="adj" fmla="val 1787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894993"/>
            <a:ext cx="158710" cy="158710"/>
          </a:xfrm>
          <a:prstGeom prst="rect">
            <a:avLst/>
          </a:prstGeom>
        </p:spPr>
      </p:pic>
      <p:sp>
        <p:nvSpPr>
          <p:cNvPr id="4" name="Text 1"/>
          <p:cNvSpPr/>
          <p:nvPr/>
        </p:nvSpPr>
        <p:spPr>
          <a:xfrm>
            <a:off x="1150858" y="847368"/>
            <a:ext cx="875943"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MODULE 2</a:t>
            </a:r>
            <a:endParaRPr lang="en-US" sz="1250" dirty="0"/>
          </a:p>
        </p:txBody>
      </p:sp>
      <p:sp>
        <p:nvSpPr>
          <p:cNvPr id="5" name="Text 2"/>
          <p:cNvSpPr/>
          <p:nvPr/>
        </p:nvSpPr>
        <p:spPr>
          <a:xfrm>
            <a:off x="793790" y="1240274"/>
            <a:ext cx="6057543"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APIs: Standard &amp; Custom</a:t>
            </a:r>
            <a:endParaRPr lang="en-US" sz="3900" dirty="0"/>
          </a:p>
        </p:txBody>
      </p:sp>
      <p:sp>
        <p:nvSpPr>
          <p:cNvPr id="6" name="Text 3"/>
          <p:cNvSpPr/>
          <p:nvPr/>
        </p:nvSpPr>
        <p:spPr>
          <a:xfrm>
            <a:off x="793790" y="235636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The Waiter Analogy</a:t>
            </a:r>
            <a:endParaRPr lang="en-US" sz="1950" dirty="0"/>
          </a:p>
        </p:txBody>
      </p:sp>
      <p:sp>
        <p:nvSpPr>
          <p:cNvPr id="7" name="Text 4"/>
          <p:cNvSpPr/>
          <p:nvPr/>
        </p:nvSpPr>
        <p:spPr>
          <a:xfrm>
            <a:off x="793790" y="2785586"/>
            <a:ext cx="4182189"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APIs act like waiters—you place an order (request), and they bring you data from the kitchen (server).</a:t>
            </a:r>
            <a:endParaRPr lang="en-US" sz="1550" dirty="0"/>
          </a:p>
        </p:txBody>
      </p:sp>
      <p:sp>
        <p:nvSpPr>
          <p:cNvPr id="8" name="Text 5"/>
          <p:cNvSpPr/>
          <p:nvPr/>
        </p:nvSpPr>
        <p:spPr>
          <a:xfrm>
            <a:off x="5223986" y="2356366"/>
            <a:ext cx="294572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Authentication Required</a:t>
            </a:r>
            <a:endParaRPr lang="en-US" sz="1950" dirty="0"/>
          </a:p>
        </p:txBody>
      </p:sp>
      <p:sp>
        <p:nvSpPr>
          <p:cNvPr id="9" name="Text 6"/>
          <p:cNvSpPr/>
          <p:nvPr/>
        </p:nvSpPr>
        <p:spPr>
          <a:xfrm>
            <a:off x="5223986" y="2785586"/>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Most APIs require an API key—your digital passport that identifies you and tracks your usage.</a:t>
            </a:r>
            <a:endParaRPr lang="en-US" sz="1550" dirty="0"/>
          </a:p>
        </p:txBody>
      </p:sp>
      <p:sp>
        <p:nvSpPr>
          <p:cNvPr id="10" name="Text 7"/>
          <p:cNvSpPr/>
          <p:nvPr/>
        </p:nvSpPr>
        <p:spPr>
          <a:xfrm>
            <a:off x="9654302" y="235636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Client Libraries</a:t>
            </a:r>
            <a:endParaRPr lang="en-US" sz="1950" dirty="0"/>
          </a:p>
        </p:txBody>
      </p:sp>
      <p:sp>
        <p:nvSpPr>
          <p:cNvPr id="11" name="Text 8"/>
          <p:cNvSpPr/>
          <p:nvPr/>
        </p:nvSpPr>
        <p:spPr>
          <a:xfrm>
            <a:off x="9654302" y="2785586"/>
            <a:ext cx="4182308"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Wrapper libraries simplify complex APIs, letting you focus on results instead of technical details.</a:t>
            </a:r>
            <a:endParaRPr lang="en-US" sz="1550" dirty="0"/>
          </a:p>
        </p:txBody>
      </p:sp>
      <p:sp>
        <p:nvSpPr>
          <p:cNvPr id="12" name="Shape 9"/>
          <p:cNvSpPr/>
          <p:nvPr/>
        </p:nvSpPr>
        <p:spPr>
          <a:xfrm>
            <a:off x="793790" y="3961448"/>
            <a:ext cx="13042821" cy="2621875"/>
          </a:xfrm>
          <a:prstGeom prst="roundRect">
            <a:avLst>
              <a:gd name="adj" fmla="val 3179"/>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3" name="Image 1" descr="preencoded.png"/>
          <p:cNvPicPr>
            <a:picLocks noChangeAspect="1"/>
          </p:cNvPicPr>
          <p:nvPr/>
        </p:nvPicPr>
        <p:blipFill>
          <a:blip r:embed="rId5">
            <a:duotone>
              <a:prstClr val="black"/>
              <a:srgbClr val="7030A0">
                <a:tint val="45000"/>
                <a:satMod val="400000"/>
              </a:srgbClr>
            </a:duotone>
          </a:blip>
          <a:stretch>
            <a:fillRect/>
          </a:stretch>
        </p:blipFill>
        <p:spPr>
          <a:xfrm>
            <a:off x="992148" y="4236125"/>
            <a:ext cx="310039" cy="248007"/>
          </a:xfrm>
          <a:prstGeom prst="rect">
            <a:avLst/>
          </a:prstGeom>
        </p:spPr>
      </p:pic>
      <p:sp>
        <p:nvSpPr>
          <p:cNvPr id="14" name="Text 10"/>
          <p:cNvSpPr/>
          <p:nvPr/>
        </p:nvSpPr>
        <p:spPr>
          <a:xfrm>
            <a:off x="1500545" y="420933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APIs as Abstraction</a:t>
            </a:r>
            <a:endParaRPr lang="en-US" sz="1950" dirty="0"/>
          </a:p>
        </p:txBody>
      </p:sp>
      <p:sp>
        <p:nvSpPr>
          <p:cNvPr id="15" name="Text 11"/>
          <p:cNvSpPr/>
          <p:nvPr/>
        </p:nvSpPr>
        <p:spPr>
          <a:xfrm>
            <a:off x="1500545" y="4717852"/>
            <a:ext cx="12137708"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APIs are a prime example of </a:t>
            </a:r>
            <a:r>
              <a:rPr lang="en-US" sz="1550" dirty="0">
                <a:solidFill>
                  <a:srgbClr val="000000"/>
                </a:solidFill>
                <a:highlight>
                  <a:srgbClr val="D7E7F5"/>
                </a:highlight>
                <a:latin typeface="Montserrat Medium" pitchFamily="34" charset="0"/>
                <a:ea typeface="Montserrat Medium" pitchFamily="34" charset="-122"/>
                <a:cs typeface="Montserrat Medium" pitchFamily="34" charset="-120"/>
              </a:rPr>
              <a:t>abstraction</a:t>
            </a:r>
            <a:r>
              <a:rPr lang="en-US" sz="1550" dirty="0">
                <a:solidFill>
                  <a:srgbClr val="000000"/>
                </a:solidFill>
                <a:latin typeface="Montserrat Medium" pitchFamily="34" charset="0"/>
                <a:ea typeface="Montserrat Medium" pitchFamily="34" charset="-122"/>
                <a:cs typeface="Montserrat Medium" pitchFamily="34" charset="-120"/>
              </a:rPr>
              <a:t>, a core concept in Object-Oriented Programming (OOP). They hide the intricate implementation details—like how a server processes data, handles database queries, or manages authentication logic—and expose only a simple, user-friendly interface. Just as you use OOP methods without needing to know their internal workings, APIs allow your code to access powerful web services without understanding their underlying complexity. This bridges the gap between theoretical OOP principles and real-world software development.</a:t>
            </a:r>
            <a:endParaRPr lang="en-US" sz="1550" dirty="0"/>
          </a:p>
        </p:txBody>
      </p:sp>
      <p:sp>
        <p:nvSpPr>
          <p:cNvPr id="16" name="Text 12"/>
          <p:cNvSpPr/>
          <p:nvPr/>
        </p:nvSpPr>
        <p:spPr>
          <a:xfrm>
            <a:off x="793790" y="680656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APIs (Application Programming Interfaces) are how modern software communicates. They let your Python code talk to other services over the internet—from AI models to weather data to social media platforms.</a:t>
            </a:r>
            <a:endParaRPr lang="en-US" sz="1550" dirty="0"/>
          </a:p>
        </p:txBody>
      </p:sp>
      <p:pic>
        <p:nvPicPr>
          <p:cNvPr id="17" name="Picture 16">
            <a:extLst>
              <a:ext uri="{FF2B5EF4-FFF2-40B4-BE49-F238E27FC236}">
                <a16:creationId xmlns:a16="http://schemas.microsoft.com/office/drawing/2014/main" id="{1AC6CA5F-0C07-334E-4DB4-72619E2BDD25}"/>
              </a:ext>
            </a:extLst>
          </p:cNvPr>
          <p:cNvPicPr>
            <a:picLocks noChangeAspect="1"/>
          </p:cNvPicPr>
          <p:nvPr/>
        </p:nvPicPr>
        <p:blipFill>
          <a:blip r:embed="rId6"/>
          <a:stretch>
            <a:fillRect/>
          </a:stretch>
        </p:blipFill>
        <p:spPr>
          <a:xfrm>
            <a:off x="13342557" y="118334"/>
            <a:ext cx="1125764" cy="4125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939171"/>
            <a:ext cx="771144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Introduction to APIs: The Waiter</a:t>
            </a:r>
            <a:endParaRPr lang="en-US" sz="3900" dirty="0"/>
          </a:p>
        </p:txBody>
      </p:sp>
      <p:sp>
        <p:nvSpPr>
          <p:cNvPr id="3" name="Text 1"/>
          <p:cNvSpPr/>
          <p:nvPr/>
        </p:nvSpPr>
        <p:spPr>
          <a:xfrm>
            <a:off x="793790" y="305526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What is an API?</a:t>
            </a:r>
            <a:endParaRPr lang="en-US" sz="2300" dirty="0"/>
          </a:p>
        </p:txBody>
      </p:sp>
      <p:sp>
        <p:nvSpPr>
          <p:cNvPr id="4" name="Text 2"/>
          <p:cNvSpPr/>
          <p:nvPr/>
        </p:nvSpPr>
        <p:spPr>
          <a:xfrm>
            <a:off x="793790" y="3625691"/>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An API is a way for code to talk to other software over the internet. Think of it like a waiter in a restaurant:</a:t>
            </a:r>
            <a:endParaRPr lang="en-US" sz="1550" dirty="0"/>
          </a:p>
        </p:txBody>
      </p:sp>
      <p:sp>
        <p:nvSpPr>
          <p:cNvPr id="5" name="Text 3"/>
          <p:cNvSpPr/>
          <p:nvPr/>
        </p:nvSpPr>
        <p:spPr>
          <a:xfrm>
            <a:off x="793790" y="443936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You (the customer) make a request</a:t>
            </a:r>
            <a:endParaRPr lang="en-US" sz="1550" dirty="0"/>
          </a:p>
        </p:txBody>
      </p:sp>
      <p:sp>
        <p:nvSpPr>
          <p:cNvPr id="6" name="Text 4"/>
          <p:cNvSpPr/>
          <p:nvPr/>
        </p:nvSpPr>
        <p:spPr>
          <a:xfrm>
            <a:off x="793790" y="4826318"/>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The waiter takes it to the kitchen (server)</a:t>
            </a:r>
            <a:endParaRPr lang="en-US" sz="1550" dirty="0"/>
          </a:p>
        </p:txBody>
      </p:sp>
      <p:sp>
        <p:nvSpPr>
          <p:cNvPr id="7" name="Text 5"/>
          <p:cNvSpPr/>
          <p:nvPr/>
        </p:nvSpPr>
        <p:spPr>
          <a:xfrm>
            <a:off x="793790" y="5213271"/>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The kitchen prepares your order (processes data)</a:t>
            </a:r>
            <a:endParaRPr lang="en-US" sz="1550" dirty="0"/>
          </a:p>
        </p:txBody>
      </p:sp>
      <p:sp>
        <p:nvSpPr>
          <p:cNvPr id="8" name="Text 6"/>
          <p:cNvSpPr/>
          <p:nvPr/>
        </p:nvSpPr>
        <p:spPr>
          <a:xfrm>
            <a:off x="793790" y="5600224"/>
            <a:ext cx="6279356"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The waiter brings back your food (returns data)</a:t>
            </a:r>
            <a:endParaRPr lang="en-US" sz="1550" dirty="0"/>
          </a:p>
        </p:txBody>
      </p:sp>
      <p:sp>
        <p:nvSpPr>
          <p:cNvPr id="9" name="Text 7"/>
          <p:cNvSpPr/>
          <p:nvPr/>
        </p:nvSpPr>
        <p:spPr>
          <a:xfrm>
            <a:off x="7564874" y="3055263"/>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Standard APIs</a:t>
            </a:r>
            <a:endParaRPr lang="en-US" sz="2300" dirty="0"/>
          </a:p>
        </p:txBody>
      </p:sp>
      <p:sp>
        <p:nvSpPr>
          <p:cNvPr id="10" name="Text 8"/>
          <p:cNvSpPr/>
          <p:nvPr/>
        </p:nvSpPr>
        <p:spPr>
          <a:xfrm>
            <a:off x="7564874" y="3625691"/>
            <a:ext cx="6279356"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With standard APIs, we send a request and the server sends back raw data, usually in JSON format. We use Python's </a:t>
            </a:r>
            <a:r>
              <a:rPr lang="en-US" sz="1550" dirty="0">
                <a:solidFill>
                  <a:srgbClr val="000000"/>
                </a:solidFill>
                <a:highlight>
                  <a:srgbClr val="F2F2F2"/>
                </a:highlight>
                <a:latin typeface="Consolas" pitchFamily="34" charset="0"/>
                <a:ea typeface="Consolas" pitchFamily="34" charset="-122"/>
                <a:cs typeface="Consolas" pitchFamily="34" charset="-120"/>
              </a:rPr>
              <a:t>requests</a:t>
            </a:r>
            <a:r>
              <a:rPr lang="en-US" sz="1550" dirty="0">
                <a:solidFill>
                  <a:srgbClr val="000000"/>
                </a:solidFill>
                <a:latin typeface="Montserrat Medium" pitchFamily="34" charset="0"/>
                <a:ea typeface="Montserrat Medium" pitchFamily="34" charset="-122"/>
                <a:cs typeface="Montserrat Medium" pitchFamily="34" charset="-120"/>
              </a:rPr>
              <a:t> library to handle this communication:</a:t>
            </a:r>
            <a:endParaRPr lang="en-US" sz="1550" dirty="0"/>
          </a:p>
        </p:txBody>
      </p:sp>
      <p:sp>
        <p:nvSpPr>
          <p:cNvPr id="11" name="Shape 9"/>
          <p:cNvSpPr/>
          <p:nvPr/>
        </p:nvSpPr>
        <p:spPr>
          <a:xfrm>
            <a:off x="7564874" y="4816793"/>
            <a:ext cx="6279356" cy="1250275"/>
          </a:xfrm>
          <a:prstGeom prst="roundRect">
            <a:avLst>
              <a:gd name="adj" fmla="val 6667"/>
            </a:avLst>
          </a:prstGeom>
          <a:solidFill>
            <a:srgbClr val="F2F2F2"/>
          </a:solidFill>
          <a:ln/>
        </p:spPr>
      </p:sp>
      <p:sp>
        <p:nvSpPr>
          <p:cNvPr id="12" name="Shape 10"/>
          <p:cNvSpPr/>
          <p:nvPr/>
        </p:nvSpPr>
        <p:spPr>
          <a:xfrm>
            <a:off x="7554992" y="4816793"/>
            <a:ext cx="6299121" cy="1250275"/>
          </a:xfrm>
          <a:prstGeom prst="roundRect">
            <a:avLst>
              <a:gd name="adj" fmla="val 2381"/>
            </a:avLst>
          </a:prstGeom>
          <a:solidFill>
            <a:srgbClr val="F2F2F2"/>
          </a:solidFill>
          <a:ln/>
        </p:spPr>
      </p:sp>
      <p:sp>
        <p:nvSpPr>
          <p:cNvPr id="13" name="Text 11"/>
          <p:cNvSpPr/>
          <p:nvPr/>
        </p:nvSpPr>
        <p:spPr>
          <a:xfrm>
            <a:off x="7753350" y="4965621"/>
            <a:ext cx="59024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import requests</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response = requests.get(url)</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data = response.json()</a:t>
            </a:r>
            <a:endParaRPr lang="en-US" sz="1550" dirty="0"/>
          </a:p>
        </p:txBody>
      </p:sp>
      <p:pic>
        <p:nvPicPr>
          <p:cNvPr id="14" name="Picture 13">
            <a:extLst>
              <a:ext uri="{FF2B5EF4-FFF2-40B4-BE49-F238E27FC236}">
                <a16:creationId xmlns:a16="http://schemas.microsoft.com/office/drawing/2014/main" id="{E0B8613E-DCE3-7407-56C9-E217F5B83059}"/>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752957"/>
            <a:ext cx="8282702"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The API Key: Your Digital Passport</a:t>
            </a:r>
            <a:endParaRPr lang="en-US" sz="3900" dirty="0"/>
          </a:p>
        </p:txBody>
      </p:sp>
      <p:sp>
        <p:nvSpPr>
          <p:cNvPr id="3" name="Text 1"/>
          <p:cNvSpPr/>
          <p:nvPr/>
        </p:nvSpPr>
        <p:spPr>
          <a:xfrm>
            <a:off x="793790" y="276987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Light" pitchFamily="34" charset="0"/>
                <a:ea typeface="Inter Light" pitchFamily="34" charset="-122"/>
                <a:cs typeface="Inter Light" pitchFamily="34" charset="-120"/>
              </a:rPr>
              <a:t>01</a:t>
            </a:r>
            <a:endParaRPr lang="en-US" sz="1550" dirty="0"/>
          </a:p>
        </p:txBody>
      </p:sp>
      <p:sp>
        <p:nvSpPr>
          <p:cNvPr id="4" name="Shape 2"/>
          <p:cNvSpPr/>
          <p:nvPr/>
        </p:nvSpPr>
        <p:spPr>
          <a:xfrm>
            <a:off x="793790" y="3084195"/>
            <a:ext cx="4215289" cy="22860"/>
          </a:xfrm>
          <a:prstGeom prst="rect">
            <a:avLst/>
          </a:prstGeom>
          <a:solidFill>
            <a:srgbClr val="720062"/>
          </a:solidFill>
          <a:ln/>
        </p:spPr>
      </p:sp>
      <p:sp>
        <p:nvSpPr>
          <p:cNvPr id="5" name="Text 3"/>
          <p:cNvSpPr/>
          <p:nvPr/>
        </p:nvSpPr>
        <p:spPr>
          <a:xfrm>
            <a:off x="793790" y="322909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What is an API Key?</a:t>
            </a:r>
            <a:endParaRPr lang="en-US" sz="1950" dirty="0"/>
          </a:p>
        </p:txBody>
      </p:sp>
      <p:sp>
        <p:nvSpPr>
          <p:cNvPr id="6" name="Text 4"/>
          <p:cNvSpPr/>
          <p:nvPr/>
        </p:nvSpPr>
        <p:spPr>
          <a:xfrm>
            <a:off x="793790" y="3658314"/>
            <a:ext cx="4215289"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 long string of random characters that tells the server who you are. Think of it like a VIP wristband or credit card—it grants access and tracks your usage.</a:t>
            </a:r>
            <a:endParaRPr lang="en-US" sz="1550" dirty="0"/>
          </a:p>
        </p:txBody>
      </p:sp>
      <p:sp>
        <p:nvSpPr>
          <p:cNvPr id="7" name="Text 5"/>
          <p:cNvSpPr/>
          <p:nvPr/>
        </p:nvSpPr>
        <p:spPr>
          <a:xfrm>
            <a:off x="5207437" y="276987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Light" pitchFamily="34" charset="0"/>
                <a:ea typeface="Inter Light" pitchFamily="34" charset="-122"/>
                <a:cs typeface="Inter Light" pitchFamily="34" charset="-120"/>
              </a:rPr>
              <a:t>02</a:t>
            </a:r>
            <a:endParaRPr lang="en-US" sz="1550" dirty="0"/>
          </a:p>
        </p:txBody>
      </p:sp>
      <p:sp>
        <p:nvSpPr>
          <p:cNvPr id="8" name="Shape 6"/>
          <p:cNvSpPr/>
          <p:nvPr/>
        </p:nvSpPr>
        <p:spPr>
          <a:xfrm>
            <a:off x="5207437" y="3084195"/>
            <a:ext cx="4215408" cy="22860"/>
          </a:xfrm>
          <a:prstGeom prst="rect">
            <a:avLst/>
          </a:prstGeom>
          <a:solidFill>
            <a:srgbClr val="720062"/>
          </a:solidFill>
          <a:ln/>
        </p:spPr>
      </p:sp>
      <p:sp>
        <p:nvSpPr>
          <p:cNvPr id="9" name="Text 7"/>
          <p:cNvSpPr/>
          <p:nvPr/>
        </p:nvSpPr>
        <p:spPr>
          <a:xfrm>
            <a:off x="5207437" y="322909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Why Keys Matter</a:t>
            </a:r>
            <a:endParaRPr lang="en-US" sz="1950" dirty="0"/>
          </a:p>
        </p:txBody>
      </p:sp>
      <p:sp>
        <p:nvSpPr>
          <p:cNvPr id="10" name="Text 8"/>
          <p:cNvSpPr/>
          <p:nvPr/>
        </p:nvSpPr>
        <p:spPr>
          <a:xfrm>
            <a:off x="5207437" y="3658314"/>
            <a:ext cx="4215408"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Most APIs aren't open to the public. They require authentication to prevent abuse, track usage limits, and sometimes charge for access based on how much you use.</a:t>
            </a:r>
            <a:endParaRPr lang="en-US" sz="1550" dirty="0"/>
          </a:p>
        </p:txBody>
      </p:sp>
      <p:sp>
        <p:nvSpPr>
          <p:cNvPr id="11" name="Text 9"/>
          <p:cNvSpPr/>
          <p:nvPr/>
        </p:nvSpPr>
        <p:spPr>
          <a:xfrm>
            <a:off x="9621203" y="2769870"/>
            <a:ext cx="198358" cy="248007"/>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Inter Light" pitchFamily="34" charset="0"/>
                <a:ea typeface="Inter Light" pitchFamily="34" charset="-122"/>
                <a:cs typeface="Inter Light" pitchFamily="34" charset="-120"/>
              </a:rPr>
              <a:t>03</a:t>
            </a:r>
            <a:endParaRPr lang="en-US" sz="1550" dirty="0"/>
          </a:p>
        </p:txBody>
      </p:sp>
      <p:sp>
        <p:nvSpPr>
          <p:cNvPr id="12" name="Shape 10"/>
          <p:cNvSpPr/>
          <p:nvPr/>
        </p:nvSpPr>
        <p:spPr>
          <a:xfrm>
            <a:off x="9621203" y="3084195"/>
            <a:ext cx="4215289" cy="22860"/>
          </a:xfrm>
          <a:prstGeom prst="rect">
            <a:avLst/>
          </a:prstGeom>
          <a:solidFill>
            <a:srgbClr val="720062"/>
          </a:solidFill>
          <a:ln/>
        </p:spPr>
      </p:sp>
      <p:sp>
        <p:nvSpPr>
          <p:cNvPr id="13" name="Text 11"/>
          <p:cNvSpPr/>
          <p:nvPr/>
        </p:nvSpPr>
        <p:spPr>
          <a:xfrm>
            <a:off x="9621203" y="3229094"/>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The Golden Rule</a:t>
            </a:r>
            <a:endParaRPr lang="en-US" sz="1950" dirty="0"/>
          </a:p>
        </p:txBody>
      </p:sp>
      <p:sp>
        <p:nvSpPr>
          <p:cNvPr id="14" name="Text 12"/>
          <p:cNvSpPr/>
          <p:nvPr/>
        </p:nvSpPr>
        <p:spPr>
          <a:xfrm>
            <a:off x="9621203" y="3658314"/>
            <a:ext cx="4215289" cy="127015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highlight>
                  <a:srgbClr val="EBC375"/>
                </a:highlight>
                <a:latin typeface="Montserrat Medium" pitchFamily="34" charset="0"/>
                <a:ea typeface="Montserrat Medium" pitchFamily="34" charset="-122"/>
                <a:cs typeface="Montserrat Medium" pitchFamily="34" charset="-120"/>
              </a:rPr>
              <a:t>NEVER share your API key.</a:t>
            </a:r>
            <a:r>
              <a:rPr lang="en-US" sz="1550" dirty="0">
                <a:solidFill>
                  <a:srgbClr val="000000"/>
                </a:solidFill>
                <a:latin typeface="Montserrat Medium" pitchFamily="34" charset="0"/>
                <a:ea typeface="Montserrat Medium" pitchFamily="34" charset="-122"/>
                <a:cs typeface="Montserrat Medium" pitchFamily="34" charset="-120"/>
              </a:rPr>
              <a:t> If someone steals it, they can use your quota and potentially your money. Treat it like a password.</a:t>
            </a:r>
            <a:endParaRPr lang="en-US" sz="1550" dirty="0"/>
          </a:p>
        </p:txBody>
      </p:sp>
      <p:sp>
        <p:nvSpPr>
          <p:cNvPr id="15" name="Shape 13"/>
          <p:cNvSpPr/>
          <p:nvPr/>
        </p:nvSpPr>
        <p:spPr>
          <a:xfrm>
            <a:off x="793790" y="5300543"/>
            <a:ext cx="13042821" cy="1175980"/>
          </a:xfrm>
          <a:prstGeom prst="roundRect">
            <a:avLst>
              <a:gd name="adj" fmla="val 708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6" name="Image 0" descr="preencoded.png"/>
          <p:cNvPicPr>
            <a:picLocks noChangeAspect="1"/>
          </p:cNvPicPr>
          <p:nvPr/>
        </p:nvPicPr>
        <p:blipFill>
          <a:blip r:embed="rId3">
            <a:duotone>
              <a:prstClr val="black"/>
              <a:srgbClr val="720062">
                <a:tint val="45000"/>
                <a:satMod val="400000"/>
              </a:srgbClr>
            </a:duotone>
          </a:blip>
          <a:stretch>
            <a:fillRect/>
          </a:stretch>
        </p:blipFill>
        <p:spPr>
          <a:xfrm>
            <a:off x="992148" y="5595818"/>
            <a:ext cx="248007" cy="198358"/>
          </a:xfrm>
          <a:prstGeom prst="rect">
            <a:avLst/>
          </a:prstGeom>
        </p:spPr>
      </p:pic>
      <p:sp>
        <p:nvSpPr>
          <p:cNvPr id="17" name="Text 14"/>
          <p:cNvSpPr/>
          <p:nvPr/>
        </p:nvSpPr>
        <p:spPr>
          <a:xfrm>
            <a:off x="1438513" y="5548432"/>
            <a:ext cx="12199739" cy="65031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Pro Tip:</a:t>
            </a:r>
            <a:r>
              <a:rPr lang="en-US" sz="1550" dirty="0">
                <a:solidFill>
                  <a:srgbClr val="000000"/>
                </a:solidFill>
                <a:latin typeface="Montserrat Medium" pitchFamily="34" charset="0"/>
                <a:ea typeface="Montserrat Medium" pitchFamily="34" charset="-122"/>
                <a:cs typeface="Montserrat Medium" pitchFamily="34" charset="-120"/>
              </a:rPr>
              <a:t> If you post code on GitHub, hide your keys first using environment variables or </a:t>
            </a:r>
            <a:r>
              <a:rPr lang="en-US" sz="1550" dirty="0">
                <a:solidFill>
                  <a:srgbClr val="000000"/>
                </a:solidFill>
                <a:highlight>
                  <a:srgbClr val="F2F2F2"/>
                </a:highlight>
                <a:latin typeface="Consolas" pitchFamily="34" charset="0"/>
                <a:ea typeface="Consolas" pitchFamily="34" charset="-122"/>
                <a:cs typeface="Consolas" pitchFamily="34" charset="-120"/>
              </a:rPr>
              <a:t>.env</a:t>
            </a:r>
            <a:r>
              <a:rPr lang="en-US" sz="1550" dirty="0">
                <a:solidFill>
                  <a:srgbClr val="000000"/>
                </a:solidFill>
                <a:latin typeface="Montserrat Medium" pitchFamily="34" charset="0"/>
                <a:ea typeface="Montserrat Medium" pitchFamily="34" charset="-122"/>
                <a:cs typeface="Montserrat Medium" pitchFamily="34" charset="-120"/>
              </a:rPr>
              <a:t> files. Never commit keys to version control!</a:t>
            </a:r>
            <a:endParaRPr lang="en-US" sz="1550" dirty="0"/>
          </a:p>
        </p:txBody>
      </p:sp>
      <p:pic>
        <p:nvPicPr>
          <p:cNvPr id="18" name="Picture 17">
            <a:extLst>
              <a:ext uri="{FF2B5EF4-FFF2-40B4-BE49-F238E27FC236}">
                <a16:creationId xmlns:a16="http://schemas.microsoft.com/office/drawing/2014/main" id="{D923FB7D-9E5B-BCD0-6607-C530DBE18FE2}"/>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647105"/>
            <a:ext cx="7098744"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Using a "Client Library" (Gemini API)</a:t>
            </a:r>
            <a:endParaRPr lang="en-US" sz="3100" dirty="0"/>
          </a:p>
        </p:txBody>
      </p:sp>
      <p:sp>
        <p:nvSpPr>
          <p:cNvPr id="3" name="Text 1"/>
          <p:cNvSpPr/>
          <p:nvPr/>
        </p:nvSpPr>
        <p:spPr>
          <a:xfrm>
            <a:off x="793790" y="1540073"/>
            <a:ext cx="2482215"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Why Client Libraries?</a:t>
            </a:r>
            <a:endParaRPr lang="en-US" sz="1850" dirty="0"/>
          </a:p>
        </p:txBody>
      </p:sp>
      <p:sp>
        <p:nvSpPr>
          <p:cNvPr id="4" name="Text 2"/>
          <p:cNvSpPr/>
          <p:nvPr/>
        </p:nvSpPr>
        <p:spPr>
          <a:xfrm>
            <a:off x="793790" y="1996440"/>
            <a:ext cx="5656302"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Some APIs are complex (like AI services). Instead of dealing with raw HTTP requests, we use a </a:t>
            </a:r>
            <a:r>
              <a:rPr lang="en-US" sz="1250" b="1" dirty="0">
                <a:solidFill>
                  <a:srgbClr val="000000"/>
                </a:solidFill>
                <a:latin typeface="Montserrat Medium" pitchFamily="34" charset="0"/>
                <a:ea typeface="Montserrat Medium" pitchFamily="34" charset="-122"/>
                <a:cs typeface="Montserrat Medium" pitchFamily="34" charset="-120"/>
              </a:rPr>
              <a:t>wrapper library</a:t>
            </a:r>
            <a:r>
              <a:rPr lang="en-US" sz="1250" dirty="0">
                <a:solidFill>
                  <a:srgbClr val="000000"/>
                </a:solidFill>
                <a:latin typeface="Montserrat Medium" pitchFamily="34" charset="0"/>
                <a:ea typeface="Montserrat Medium" pitchFamily="34" charset="-122"/>
                <a:cs typeface="Montserrat Medium" pitchFamily="34" charset="-120"/>
              </a:rPr>
              <a:t> that simplifies everything.</a:t>
            </a:r>
            <a:endParaRPr lang="en-US" sz="1250" dirty="0"/>
          </a:p>
        </p:txBody>
      </p:sp>
      <p:sp>
        <p:nvSpPr>
          <p:cNvPr id="5" name="Text 3"/>
          <p:cNvSpPr/>
          <p:nvPr/>
        </p:nvSpPr>
        <p:spPr>
          <a:xfrm>
            <a:off x="793790" y="2647474"/>
            <a:ext cx="5656302"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Example: Google's Gemini AI provides a Python library that handles all the technical details for you.</a:t>
            </a:r>
            <a:endParaRPr lang="en-US" sz="1250" dirty="0"/>
          </a:p>
        </p:txBody>
      </p:sp>
      <p:sp>
        <p:nvSpPr>
          <p:cNvPr id="6" name="Text 4"/>
          <p:cNvSpPr/>
          <p:nvPr/>
        </p:nvSpPr>
        <p:spPr>
          <a:xfrm>
            <a:off x="6844903" y="1540073"/>
            <a:ext cx="2381607" cy="297656"/>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Three Simple Steps</a:t>
            </a:r>
            <a:endParaRPr lang="en-US" sz="1850" dirty="0"/>
          </a:p>
        </p:txBody>
      </p:sp>
      <p:pic>
        <p:nvPicPr>
          <p:cNvPr id="7" name="Image 0" descr="preencoded.png"/>
          <p:cNvPicPr>
            <a:picLocks noChangeAspect="1"/>
          </p:cNvPicPr>
          <p:nvPr/>
        </p:nvPicPr>
        <p:blipFill>
          <a:blip r:embed="rId3">
            <a:duotone>
              <a:prstClr val="black"/>
              <a:srgbClr val="720062">
                <a:tint val="45000"/>
                <a:satMod val="400000"/>
              </a:srgbClr>
            </a:duotone>
          </a:blip>
          <a:stretch>
            <a:fillRect/>
          </a:stretch>
        </p:blipFill>
        <p:spPr>
          <a:xfrm>
            <a:off x="6844903" y="2016323"/>
            <a:ext cx="476250" cy="1143000"/>
          </a:xfrm>
          <a:prstGeom prst="rect">
            <a:avLst/>
          </a:prstGeom>
        </p:spPr>
      </p:pic>
      <p:sp>
        <p:nvSpPr>
          <p:cNvPr id="8" name="Text 5"/>
          <p:cNvSpPr/>
          <p:nvPr/>
        </p:nvSpPr>
        <p:spPr>
          <a:xfrm>
            <a:off x="7479863" y="2175034"/>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Install the Library</a:t>
            </a:r>
            <a:endParaRPr lang="en-US" sz="1550" dirty="0"/>
          </a:p>
        </p:txBody>
      </p:sp>
      <p:sp>
        <p:nvSpPr>
          <p:cNvPr id="9" name="Shape 6"/>
          <p:cNvSpPr/>
          <p:nvPr/>
        </p:nvSpPr>
        <p:spPr>
          <a:xfrm>
            <a:off x="7479863" y="2601635"/>
            <a:ext cx="6364248" cy="492204"/>
          </a:xfrm>
          <a:prstGeom prst="roundRect">
            <a:avLst>
              <a:gd name="adj" fmla="val 13549"/>
            </a:avLst>
          </a:prstGeom>
          <a:solidFill>
            <a:srgbClr val="F2F2F2"/>
          </a:solidFill>
          <a:ln/>
        </p:spPr>
      </p:sp>
      <p:sp>
        <p:nvSpPr>
          <p:cNvPr id="10" name="Shape 7"/>
          <p:cNvSpPr/>
          <p:nvPr/>
        </p:nvSpPr>
        <p:spPr>
          <a:xfrm>
            <a:off x="7472005" y="2601635"/>
            <a:ext cx="6379964" cy="492204"/>
          </a:xfrm>
          <a:prstGeom prst="roundRect">
            <a:avLst>
              <a:gd name="adj" fmla="val 4839"/>
            </a:avLst>
          </a:prstGeom>
          <a:solidFill>
            <a:srgbClr val="F2F2F2"/>
          </a:solidFill>
          <a:ln/>
        </p:spPr>
      </p:sp>
      <p:sp>
        <p:nvSpPr>
          <p:cNvPr id="11" name="Text 8"/>
          <p:cNvSpPr/>
          <p:nvPr/>
        </p:nvSpPr>
        <p:spPr>
          <a:xfrm>
            <a:off x="7630716" y="2720697"/>
            <a:ext cx="6062543"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pip install google-generativeai</a:t>
            </a:r>
            <a:endParaRPr lang="en-US" sz="1250" dirty="0"/>
          </a:p>
        </p:txBody>
      </p:sp>
      <p:sp>
        <p:nvSpPr>
          <p:cNvPr id="13" name="Text 9"/>
          <p:cNvSpPr/>
          <p:nvPr/>
        </p:nvSpPr>
        <p:spPr>
          <a:xfrm>
            <a:off x="7717988" y="3569970"/>
            <a:ext cx="2347079"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Configure with Your Key</a:t>
            </a:r>
            <a:endParaRPr lang="en-US" sz="1550" dirty="0"/>
          </a:p>
        </p:txBody>
      </p:sp>
      <p:sp>
        <p:nvSpPr>
          <p:cNvPr id="14" name="Shape 10"/>
          <p:cNvSpPr/>
          <p:nvPr/>
        </p:nvSpPr>
        <p:spPr>
          <a:xfrm>
            <a:off x="7717988" y="3996571"/>
            <a:ext cx="6126123" cy="746284"/>
          </a:xfrm>
          <a:prstGeom prst="roundRect">
            <a:avLst>
              <a:gd name="adj" fmla="val 8936"/>
            </a:avLst>
          </a:prstGeom>
          <a:solidFill>
            <a:srgbClr val="F2F2F2"/>
          </a:solidFill>
          <a:ln/>
        </p:spPr>
      </p:sp>
      <p:sp>
        <p:nvSpPr>
          <p:cNvPr id="15" name="Shape 11"/>
          <p:cNvSpPr/>
          <p:nvPr/>
        </p:nvSpPr>
        <p:spPr>
          <a:xfrm>
            <a:off x="7710130" y="3996571"/>
            <a:ext cx="6141839" cy="746284"/>
          </a:xfrm>
          <a:prstGeom prst="roundRect">
            <a:avLst>
              <a:gd name="adj" fmla="val 3191"/>
            </a:avLst>
          </a:prstGeom>
          <a:solidFill>
            <a:srgbClr val="F2F2F2"/>
          </a:solidFill>
          <a:ln/>
        </p:spPr>
      </p:sp>
      <p:sp>
        <p:nvSpPr>
          <p:cNvPr id="16" name="Text 12"/>
          <p:cNvSpPr/>
          <p:nvPr/>
        </p:nvSpPr>
        <p:spPr>
          <a:xfrm>
            <a:off x="7868841" y="4115633"/>
            <a:ext cx="5824418"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import google.generativeai as genai</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genai.configure(api_key="YOUR_KEY_HERE")</a:t>
            </a:r>
            <a:endParaRPr lang="en-US" sz="1250" dirty="0"/>
          </a:p>
        </p:txBody>
      </p:sp>
      <p:sp>
        <p:nvSpPr>
          <p:cNvPr id="18" name="Text 13"/>
          <p:cNvSpPr/>
          <p:nvPr/>
        </p:nvSpPr>
        <p:spPr>
          <a:xfrm>
            <a:off x="7956113" y="5218986"/>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Ask Questions!</a:t>
            </a:r>
            <a:endParaRPr lang="en-US" sz="1550" dirty="0"/>
          </a:p>
        </p:txBody>
      </p:sp>
      <p:sp>
        <p:nvSpPr>
          <p:cNvPr id="19" name="Shape 14"/>
          <p:cNvSpPr/>
          <p:nvPr/>
        </p:nvSpPr>
        <p:spPr>
          <a:xfrm>
            <a:off x="7956113" y="5645587"/>
            <a:ext cx="5887998" cy="746284"/>
          </a:xfrm>
          <a:prstGeom prst="roundRect">
            <a:avLst>
              <a:gd name="adj" fmla="val 8936"/>
            </a:avLst>
          </a:prstGeom>
          <a:solidFill>
            <a:srgbClr val="F2F2F2"/>
          </a:solidFill>
          <a:ln/>
        </p:spPr>
      </p:sp>
      <p:sp>
        <p:nvSpPr>
          <p:cNvPr id="20" name="Shape 15"/>
          <p:cNvSpPr/>
          <p:nvPr/>
        </p:nvSpPr>
        <p:spPr>
          <a:xfrm>
            <a:off x="7948255" y="5645587"/>
            <a:ext cx="5903714" cy="746284"/>
          </a:xfrm>
          <a:prstGeom prst="roundRect">
            <a:avLst>
              <a:gd name="adj" fmla="val 3191"/>
            </a:avLst>
          </a:prstGeom>
          <a:solidFill>
            <a:srgbClr val="F2F2F2"/>
          </a:solidFill>
          <a:ln/>
        </p:spPr>
      </p:sp>
      <p:sp>
        <p:nvSpPr>
          <p:cNvPr id="21" name="Text 16"/>
          <p:cNvSpPr/>
          <p:nvPr/>
        </p:nvSpPr>
        <p:spPr>
          <a:xfrm>
            <a:off x="8106966" y="5764649"/>
            <a:ext cx="5586293"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model = genai.GenerativeModel('gemini-pro')</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response = model.generate_content("Tell me a joke")</a:t>
            </a:r>
            <a:endParaRPr lang="en-US" sz="1250" dirty="0"/>
          </a:p>
        </p:txBody>
      </p:sp>
      <p:sp>
        <p:nvSpPr>
          <p:cNvPr id="22" name="Shape 17"/>
          <p:cNvSpPr/>
          <p:nvPr/>
        </p:nvSpPr>
        <p:spPr>
          <a:xfrm>
            <a:off x="793790" y="6907768"/>
            <a:ext cx="13042821" cy="674608"/>
          </a:xfrm>
          <a:prstGeom prst="roundRect">
            <a:avLst>
              <a:gd name="adj" fmla="val 9885"/>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23" name="Image 3" descr="preencoded.png"/>
          <p:cNvPicPr>
            <a:picLocks noChangeAspect="1"/>
          </p:cNvPicPr>
          <p:nvPr/>
        </p:nvPicPr>
        <p:blipFill>
          <a:blip r:embed="rId4">
            <a:duotone>
              <a:prstClr val="black"/>
              <a:srgbClr val="720062">
                <a:tint val="45000"/>
                <a:satMod val="400000"/>
              </a:srgbClr>
            </a:duotone>
          </a:blip>
          <a:stretch>
            <a:fillRect/>
          </a:stretch>
        </p:blipFill>
        <p:spPr>
          <a:xfrm>
            <a:off x="952500" y="7150060"/>
            <a:ext cx="198358" cy="158710"/>
          </a:xfrm>
          <a:prstGeom prst="rect">
            <a:avLst/>
          </a:prstGeom>
        </p:spPr>
      </p:pic>
      <p:sp>
        <p:nvSpPr>
          <p:cNvPr id="24" name="Text 18"/>
          <p:cNvSpPr/>
          <p:nvPr/>
        </p:nvSpPr>
        <p:spPr>
          <a:xfrm>
            <a:off x="1309568" y="7106126"/>
            <a:ext cx="12368332"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Try running the code with a fake key first to show the "401 Unauthorized" error.</a:t>
            </a:r>
            <a:endParaRPr lang="en-US" sz="1250" dirty="0"/>
          </a:p>
        </p:txBody>
      </p:sp>
      <p:pic>
        <p:nvPicPr>
          <p:cNvPr id="25" name="Image 0" descr="preencoded.png">
            <a:extLst>
              <a:ext uri="{FF2B5EF4-FFF2-40B4-BE49-F238E27FC236}">
                <a16:creationId xmlns:a16="http://schemas.microsoft.com/office/drawing/2014/main" id="{9643C9E7-25BD-3145-54D6-6D68D92BACF7}"/>
              </a:ext>
            </a:extLst>
          </p:cNvPr>
          <p:cNvPicPr>
            <a:picLocks noChangeAspect="1"/>
          </p:cNvPicPr>
          <p:nvPr/>
        </p:nvPicPr>
        <p:blipFill>
          <a:blip r:embed="rId3">
            <a:duotone>
              <a:prstClr val="black"/>
              <a:srgbClr val="720062">
                <a:tint val="45000"/>
                <a:satMod val="400000"/>
              </a:srgbClr>
            </a:duotone>
          </a:blip>
          <a:stretch>
            <a:fillRect/>
          </a:stretch>
        </p:blipFill>
        <p:spPr>
          <a:xfrm>
            <a:off x="7141377" y="3569970"/>
            <a:ext cx="476250" cy="1143000"/>
          </a:xfrm>
          <a:prstGeom prst="rect">
            <a:avLst/>
          </a:prstGeom>
        </p:spPr>
      </p:pic>
      <p:pic>
        <p:nvPicPr>
          <p:cNvPr id="26" name="Image 0" descr="preencoded.png">
            <a:extLst>
              <a:ext uri="{FF2B5EF4-FFF2-40B4-BE49-F238E27FC236}">
                <a16:creationId xmlns:a16="http://schemas.microsoft.com/office/drawing/2014/main" id="{278C549B-0987-13E6-A56F-517EAC899685}"/>
              </a:ext>
            </a:extLst>
          </p:cNvPr>
          <p:cNvPicPr>
            <a:picLocks noChangeAspect="1"/>
          </p:cNvPicPr>
          <p:nvPr/>
        </p:nvPicPr>
        <p:blipFill>
          <a:blip r:embed="rId3">
            <a:duotone>
              <a:prstClr val="black"/>
              <a:srgbClr val="720062">
                <a:tint val="45000"/>
                <a:satMod val="400000"/>
              </a:srgbClr>
            </a:duotone>
          </a:blip>
          <a:stretch>
            <a:fillRect/>
          </a:stretch>
        </p:blipFill>
        <p:spPr>
          <a:xfrm>
            <a:off x="7404437" y="5218986"/>
            <a:ext cx="476250" cy="1143000"/>
          </a:xfrm>
          <a:prstGeom prst="rect">
            <a:avLst/>
          </a:prstGeom>
        </p:spPr>
      </p:pic>
      <p:pic>
        <p:nvPicPr>
          <p:cNvPr id="27" name="Picture 26">
            <a:extLst>
              <a:ext uri="{FF2B5EF4-FFF2-40B4-BE49-F238E27FC236}">
                <a16:creationId xmlns:a16="http://schemas.microsoft.com/office/drawing/2014/main" id="{DCE0596B-88B1-6CD2-704F-C9D8D2D12A03}"/>
              </a:ext>
            </a:extLst>
          </p:cNvPr>
          <p:cNvPicPr>
            <a:picLocks noChangeAspect="1"/>
          </p:cNvPicPr>
          <p:nvPr/>
        </p:nvPicPr>
        <p:blipFill>
          <a:blip r:embed="rId5"/>
          <a:stretch>
            <a:fillRect/>
          </a:stretch>
        </p:blipFill>
        <p:spPr>
          <a:xfrm>
            <a:off x="13342557" y="118334"/>
            <a:ext cx="1125764" cy="41258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93313"/>
            <a:ext cx="7518797"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JSON: The Universal Language</a:t>
            </a:r>
            <a:endParaRPr lang="en-US" sz="3900" dirty="0"/>
          </a:p>
        </p:txBody>
      </p:sp>
      <p:sp>
        <p:nvSpPr>
          <p:cNvPr id="3" name="Text 1"/>
          <p:cNvSpPr/>
          <p:nvPr/>
        </p:nvSpPr>
        <p:spPr>
          <a:xfrm>
            <a:off x="793790" y="190940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What is JSON?</a:t>
            </a:r>
            <a:endParaRPr lang="en-US" sz="2300" dirty="0"/>
          </a:p>
        </p:txBody>
      </p:sp>
      <p:sp>
        <p:nvSpPr>
          <p:cNvPr id="4" name="Text 2"/>
          <p:cNvSpPr/>
          <p:nvPr/>
        </p:nvSpPr>
        <p:spPr>
          <a:xfrm>
            <a:off x="793790" y="2479834"/>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Most APIs send data back in </a:t>
            </a:r>
            <a:r>
              <a:rPr lang="en-US" sz="1550" b="1" dirty="0">
                <a:solidFill>
                  <a:srgbClr val="000000"/>
                </a:solidFill>
                <a:latin typeface="Montserrat Medium" pitchFamily="34" charset="0"/>
                <a:ea typeface="Montserrat Medium" pitchFamily="34" charset="-122"/>
                <a:cs typeface="Montserrat Medium" pitchFamily="34" charset="-120"/>
              </a:rPr>
              <a:t>JSON</a:t>
            </a:r>
            <a:r>
              <a:rPr lang="en-US" sz="1550" dirty="0">
                <a:solidFill>
                  <a:srgbClr val="000000"/>
                </a:solidFill>
                <a:latin typeface="Montserrat Medium" pitchFamily="34" charset="0"/>
                <a:ea typeface="Montserrat Medium" pitchFamily="34" charset="-122"/>
                <a:cs typeface="Montserrat Medium" pitchFamily="34" charset="-120"/>
              </a:rPr>
              <a:t> (JavaScript Object Notation) format. The good news? JSON looks exactly like a Python dictionary!</a:t>
            </a:r>
            <a:endParaRPr lang="en-US" sz="1550" dirty="0"/>
          </a:p>
        </p:txBody>
      </p:sp>
      <p:sp>
        <p:nvSpPr>
          <p:cNvPr id="5" name="Shape 3"/>
          <p:cNvSpPr/>
          <p:nvPr/>
        </p:nvSpPr>
        <p:spPr>
          <a:xfrm>
            <a:off x="793790" y="3655695"/>
            <a:ext cx="6279356" cy="1885355"/>
          </a:xfrm>
          <a:prstGeom prst="roundRect">
            <a:avLst>
              <a:gd name="adj" fmla="val 4421"/>
            </a:avLst>
          </a:prstGeom>
          <a:solidFill>
            <a:srgbClr val="F2F2F2"/>
          </a:solidFill>
          <a:ln/>
        </p:spPr>
      </p:sp>
      <p:sp>
        <p:nvSpPr>
          <p:cNvPr id="6" name="Shape 4"/>
          <p:cNvSpPr/>
          <p:nvPr/>
        </p:nvSpPr>
        <p:spPr>
          <a:xfrm>
            <a:off x="783908" y="3655695"/>
            <a:ext cx="6299121" cy="1885355"/>
          </a:xfrm>
          <a:prstGeom prst="roundRect">
            <a:avLst>
              <a:gd name="adj" fmla="val 1579"/>
            </a:avLst>
          </a:prstGeom>
          <a:solidFill>
            <a:srgbClr val="F2F2F2"/>
          </a:solidFill>
          <a:ln/>
        </p:spPr>
      </p:sp>
      <p:sp>
        <p:nvSpPr>
          <p:cNvPr id="7" name="Text 5"/>
          <p:cNvSpPr/>
          <p:nvPr/>
        </p:nvSpPr>
        <p:spPr>
          <a:xfrm>
            <a:off x="982266" y="3804523"/>
            <a:ext cx="5902404" cy="1587698"/>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"name": "Alice",</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"age": 30,</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"city": "New York"</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a:t>
            </a:r>
            <a:endParaRPr lang="en-US" sz="1550" dirty="0"/>
          </a:p>
        </p:txBody>
      </p:sp>
      <p:sp>
        <p:nvSpPr>
          <p:cNvPr id="8" name="Text 6"/>
          <p:cNvSpPr/>
          <p:nvPr/>
        </p:nvSpPr>
        <p:spPr>
          <a:xfrm>
            <a:off x="793790" y="5764292"/>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It's just keys and values, organized in a structure Python already understands.</a:t>
            </a:r>
            <a:endParaRPr lang="en-US" sz="1550" dirty="0"/>
          </a:p>
        </p:txBody>
      </p:sp>
      <p:sp>
        <p:nvSpPr>
          <p:cNvPr id="9" name="Text 7"/>
          <p:cNvSpPr/>
          <p:nvPr/>
        </p:nvSpPr>
        <p:spPr>
          <a:xfrm>
            <a:off x="7564874" y="1909405"/>
            <a:ext cx="3987165"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Converting JSON to Python</a:t>
            </a:r>
            <a:endParaRPr lang="en-US" sz="2300" dirty="0"/>
          </a:p>
        </p:txBody>
      </p:sp>
      <p:sp>
        <p:nvSpPr>
          <p:cNvPr id="10" name="Text 8"/>
          <p:cNvSpPr/>
          <p:nvPr/>
        </p:nvSpPr>
        <p:spPr>
          <a:xfrm>
            <a:off x="7564874" y="2479834"/>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When you receive data from an API, one simple command converts the web text into a Python dictionary:</a:t>
            </a:r>
            <a:endParaRPr lang="en-US" sz="1550" dirty="0"/>
          </a:p>
        </p:txBody>
      </p:sp>
      <p:sp>
        <p:nvSpPr>
          <p:cNvPr id="11" name="Shape 9"/>
          <p:cNvSpPr/>
          <p:nvPr/>
        </p:nvSpPr>
        <p:spPr>
          <a:xfrm>
            <a:off x="7564874" y="3338155"/>
            <a:ext cx="6279356" cy="615196"/>
          </a:xfrm>
          <a:prstGeom prst="roundRect">
            <a:avLst>
              <a:gd name="adj" fmla="val 13550"/>
            </a:avLst>
          </a:prstGeom>
          <a:solidFill>
            <a:srgbClr val="F2F2F2"/>
          </a:solidFill>
          <a:ln/>
        </p:spPr>
      </p:sp>
      <p:sp>
        <p:nvSpPr>
          <p:cNvPr id="12" name="Shape 10"/>
          <p:cNvSpPr/>
          <p:nvPr/>
        </p:nvSpPr>
        <p:spPr>
          <a:xfrm>
            <a:off x="7554992" y="3338155"/>
            <a:ext cx="6299121" cy="615196"/>
          </a:xfrm>
          <a:prstGeom prst="roundRect">
            <a:avLst>
              <a:gd name="adj" fmla="val 4839"/>
            </a:avLst>
          </a:prstGeom>
          <a:solidFill>
            <a:srgbClr val="F2F2F2"/>
          </a:solidFill>
          <a:ln/>
        </p:spPr>
      </p:sp>
      <p:sp>
        <p:nvSpPr>
          <p:cNvPr id="13" name="Text 11"/>
          <p:cNvSpPr/>
          <p:nvPr/>
        </p:nvSpPr>
        <p:spPr>
          <a:xfrm>
            <a:off x="7753350" y="3486983"/>
            <a:ext cx="59024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data = response.json()</a:t>
            </a:r>
            <a:endParaRPr lang="en-US" sz="1550" dirty="0"/>
          </a:p>
        </p:txBody>
      </p:sp>
      <p:sp>
        <p:nvSpPr>
          <p:cNvPr id="14" name="Text 12"/>
          <p:cNvSpPr/>
          <p:nvPr/>
        </p:nvSpPr>
        <p:spPr>
          <a:xfrm>
            <a:off x="7564874" y="4176593"/>
            <a:ext cx="6279356"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Now you can access the data like any dictionary:</a:t>
            </a:r>
            <a:endParaRPr lang="en-US" sz="1550" dirty="0"/>
          </a:p>
        </p:txBody>
      </p:sp>
      <p:sp>
        <p:nvSpPr>
          <p:cNvPr id="15" name="Shape 13"/>
          <p:cNvSpPr/>
          <p:nvPr/>
        </p:nvSpPr>
        <p:spPr>
          <a:xfrm>
            <a:off x="7564874" y="4717375"/>
            <a:ext cx="6279356" cy="932736"/>
          </a:xfrm>
          <a:prstGeom prst="roundRect">
            <a:avLst>
              <a:gd name="adj" fmla="val 8937"/>
            </a:avLst>
          </a:prstGeom>
          <a:solidFill>
            <a:srgbClr val="F2F2F2"/>
          </a:solidFill>
          <a:ln/>
        </p:spPr>
      </p:sp>
      <p:sp>
        <p:nvSpPr>
          <p:cNvPr id="16" name="Shape 14"/>
          <p:cNvSpPr/>
          <p:nvPr/>
        </p:nvSpPr>
        <p:spPr>
          <a:xfrm>
            <a:off x="7554992" y="4717375"/>
            <a:ext cx="6299121" cy="932736"/>
          </a:xfrm>
          <a:prstGeom prst="roundRect">
            <a:avLst>
              <a:gd name="adj" fmla="val 3192"/>
            </a:avLst>
          </a:prstGeom>
          <a:solidFill>
            <a:srgbClr val="F2F2F2"/>
          </a:solidFill>
          <a:ln/>
        </p:spPr>
      </p:sp>
      <p:sp>
        <p:nvSpPr>
          <p:cNvPr id="17" name="Text 15"/>
          <p:cNvSpPr/>
          <p:nvPr/>
        </p:nvSpPr>
        <p:spPr>
          <a:xfrm>
            <a:off x="7753350" y="4866203"/>
            <a:ext cx="590240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print(data["name"])  # Alice</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print(data["age"])   # 30</a:t>
            </a:r>
            <a:endParaRPr lang="en-US" sz="1550" dirty="0"/>
          </a:p>
        </p:txBody>
      </p:sp>
      <p:sp>
        <p:nvSpPr>
          <p:cNvPr id="18" name="Text 16"/>
          <p:cNvSpPr/>
          <p:nvPr/>
        </p:nvSpPr>
        <p:spPr>
          <a:xfrm>
            <a:off x="793790" y="680120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This seamless conversion makes working with APIs feel natural—you're just working with dictionaries and lists, data structures you already know.</a:t>
            </a:r>
            <a:endParaRPr lang="en-US" sz="1550" dirty="0"/>
          </a:p>
        </p:txBody>
      </p:sp>
      <p:pic>
        <p:nvPicPr>
          <p:cNvPr id="19" name="Picture 18">
            <a:extLst>
              <a:ext uri="{FF2B5EF4-FFF2-40B4-BE49-F238E27FC236}">
                <a16:creationId xmlns:a16="http://schemas.microsoft.com/office/drawing/2014/main" id="{5C39AD6B-0528-C0D4-D02A-CBA9480F4BF0}"/>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793790" y="2742843"/>
            <a:ext cx="9597866"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Web Scraping: Your Web Data Extractor</a:t>
            </a:r>
            <a:endParaRPr lang="en-US" sz="3900" dirty="0"/>
          </a:p>
        </p:txBody>
      </p:sp>
      <p:sp>
        <p:nvSpPr>
          <p:cNvPr id="3" name="Text 1"/>
          <p:cNvSpPr/>
          <p:nvPr/>
        </p:nvSpPr>
        <p:spPr>
          <a:xfrm>
            <a:off x="793790" y="3660577"/>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While APIs offer structured access to data, not all websites provide them. Web scraping is the art of programmatically extracting information directly from web pages, turning unstructured HTML into usable data.</a:t>
            </a:r>
            <a:endParaRPr lang="en-US" sz="1550" dirty="0"/>
          </a:p>
        </p:txBody>
      </p:sp>
      <p:sp>
        <p:nvSpPr>
          <p:cNvPr id="4" name="Text 2"/>
          <p:cNvSpPr/>
          <p:nvPr/>
        </p:nvSpPr>
        <p:spPr>
          <a:xfrm>
            <a:off x="793790" y="4518898"/>
            <a:ext cx="13042821"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Think of it as having a super-fast assistant who can read a website and copy-paste exactly the pieces of information you need, but on a massive scale. Python, with its powerful libraries like </a:t>
            </a:r>
            <a:r>
              <a:rPr lang="en-US" sz="1550" dirty="0">
                <a:solidFill>
                  <a:srgbClr val="000000"/>
                </a:solidFill>
                <a:highlight>
                  <a:srgbClr val="F2F2F2"/>
                </a:highlight>
                <a:latin typeface="Consolas" pitchFamily="34" charset="0"/>
                <a:ea typeface="Consolas" pitchFamily="34" charset="-122"/>
                <a:cs typeface="Consolas" pitchFamily="34" charset="-120"/>
              </a:rPr>
              <a:t>BeautifulSoup</a:t>
            </a:r>
            <a:r>
              <a:rPr lang="en-US" sz="1550" dirty="0">
                <a:solidFill>
                  <a:srgbClr val="000000"/>
                </a:solidFill>
                <a:latin typeface="Montserrat Medium" pitchFamily="34" charset="0"/>
                <a:ea typeface="Montserrat Medium" pitchFamily="34" charset="-122"/>
                <a:cs typeface="Montserrat Medium" pitchFamily="34" charset="-120"/>
              </a:rPr>
              <a:t> and </a:t>
            </a:r>
            <a:r>
              <a:rPr lang="en-US" sz="1550" dirty="0">
                <a:solidFill>
                  <a:srgbClr val="000000"/>
                </a:solidFill>
                <a:highlight>
                  <a:srgbClr val="F2F2F2"/>
                </a:highlight>
                <a:latin typeface="Consolas" pitchFamily="34" charset="0"/>
                <a:ea typeface="Consolas" pitchFamily="34" charset="-122"/>
                <a:cs typeface="Consolas" pitchFamily="34" charset="-120"/>
              </a:rPr>
              <a:t>Requests</a:t>
            </a:r>
            <a:r>
              <a:rPr lang="en-US" sz="1550" dirty="0">
                <a:solidFill>
                  <a:srgbClr val="000000"/>
                </a:solidFill>
                <a:latin typeface="Montserrat Medium" pitchFamily="34" charset="0"/>
                <a:ea typeface="Montserrat Medium" pitchFamily="34" charset="-122"/>
                <a:cs typeface="Montserrat Medium" pitchFamily="34" charset="-120"/>
              </a:rPr>
              <a:t>, makes this process efficient and manageable.</a:t>
            </a:r>
            <a:endParaRPr lang="en-US" sz="1550" dirty="0"/>
          </a:p>
        </p:txBody>
      </p:sp>
      <p:pic>
        <p:nvPicPr>
          <p:cNvPr id="5" name="Picture 4">
            <a:extLst>
              <a:ext uri="{FF2B5EF4-FFF2-40B4-BE49-F238E27FC236}">
                <a16:creationId xmlns:a16="http://schemas.microsoft.com/office/drawing/2014/main" id="{50F9DDEC-2970-F868-C69B-82A495D2DAC3}"/>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784384" y="546973"/>
            <a:ext cx="9432965" cy="551498"/>
          </a:xfrm>
          <a:prstGeom prst="rect">
            <a:avLst/>
          </a:prstGeom>
          <a:noFill/>
          <a:ln/>
        </p:spPr>
        <p:txBody>
          <a:bodyPr wrap="none" lIns="0" tIns="0" rIns="0" bIns="0" rtlCol="0" anchor="t"/>
          <a:lstStyle/>
          <a:p>
            <a:pPr marL="0" indent="0" algn="l">
              <a:lnSpc>
                <a:spcPts val="4300"/>
              </a:lnSpc>
              <a:buNone/>
            </a:pPr>
            <a:r>
              <a:rPr lang="en-US" sz="3450" b="1" dirty="0">
                <a:solidFill>
                  <a:srgbClr val="000000"/>
                </a:solidFill>
                <a:latin typeface="Inter Bold" pitchFamily="34" charset="0"/>
                <a:ea typeface="Inter Bold" pitchFamily="34" charset="-122"/>
                <a:cs typeface="Inter Bold" pitchFamily="34" charset="-120"/>
              </a:rPr>
              <a:t>Web Scraping in Action: Your First Extractor</a:t>
            </a:r>
            <a:endParaRPr lang="en-US" sz="3450" dirty="0"/>
          </a:p>
        </p:txBody>
      </p:sp>
      <p:sp>
        <p:nvSpPr>
          <p:cNvPr id="3" name="Text 1"/>
          <p:cNvSpPr/>
          <p:nvPr/>
        </p:nvSpPr>
        <p:spPr>
          <a:xfrm>
            <a:off x="784384" y="1451372"/>
            <a:ext cx="13061633" cy="572214"/>
          </a:xfrm>
          <a:prstGeom prst="rect">
            <a:avLst/>
          </a:prstGeom>
          <a:noFill/>
          <a:ln/>
        </p:spPr>
        <p:txBody>
          <a:bodyPr wrap="square" lIns="0" tIns="0" rIns="0" bIns="0" rtlCol="0" anchor="t"/>
          <a:lstStyle/>
          <a:p>
            <a:pPr marL="0" indent="0" algn="l">
              <a:lnSpc>
                <a:spcPts val="2200"/>
              </a:lnSpc>
              <a:buNone/>
            </a:pPr>
            <a:r>
              <a:rPr lang="en-US" sz="1350" dirty="0">
                <a:solidFill>
                  <a:srgbClr val="000000"/>
                </a:solidFill>
                <a:latin typeface="Montserrat Medium" pitchFamily="34" charset="0"/>
                <a:ea typeface="Montserrat Medium" pitchFamily="34" charset="-122"/>
                <a:cs typeface="Montserrat Medium" pitchFamily="34" charset="-120"/>
              </a:rPr>
              <a:t>Let's dive into a practical example. This Python script uses the </a:t>
            </a:r>
            <a:r>
              <a:rPr lang="en-US" sz="1350" dirty="0">
                <a:solidFill>
                  <a:srgbClr val="000000"/>
                </a:solidFill>
                <a:highlight>
                  <a:srgbClr val="F2F2F2"/>
                </a:highlight>
                <a:latin typeface="Consolas" pitchFamily="34" charset="0"/>
                <a:ea typeface="Consolas" pitchFamily="34" charset="-122"/>
                <a:cs typeface="Consolas" pitchFamily="34" charset="-120"/>
              </a:rPr>
              <a:t>requests</a:t>
            </a:r>
            <a:r>
              <a:rPr lang="en-US" sz="1350" dirty="0">
                <a:solidFill>
                  <a:srgbClr val="000000"/>
                </a:solidFill>
                <a:latin typeface="Montserrat Medium" pitchFamily="34" charset="0"/>
                <a:ea typeface="Montserrat Medium" pitchFamily="34" charset="-122"/>
                <a:cs typeface="Montserrat Medium" pitchFamily="34" charset="-120"/>
              </a:rPr>
              <a:t> library to fetch a webpage and </a:t>
            </a:r>
            <a:r>
              <a:rPr lang="en-US" sz="1350" dirty="0">
                <a:solidFill>
                  <a:srgbClr val="000000"/>
                </a:solidFill>
                <a:highlight>
                  <a:srgbClr val="F2F2F2"/>
                </a:highlight>
                <a:latin typeface="Consolas" pitchFamily="34" charset="0"/>
                <a:ea typeface="Consolas" pitchFamily="34" charset="-122"/>
                <a:cs typeface="Consolas" pitchFamily="34" charset="-120"/>
              </a:rPr>
              <a:t>BeautifulSoup</a:t>
            </a:r>
            <a:r>
              <a:rPr lang="en-US" sz="1350" dirty="0">
                <a:solidFill>
                  <a:srgbClr val="000000"/>
                </a:solidFill>
                <a:latin typeface="Montserrat Medium" pitchFamily="34" charset="0"/>
                <a:ea typeface="Montserrat Medium" pitchFamily="34" charset="-122"/>
                <a:cs typeface="Montserrat Medium" pitchFamily="34" charset="-120"/>
              </a:rPr>
              <a:t> to parse the HTML, allowing us to extract specific pieces of information, like the page title.</a:t>
            </a:r>
            <a:endParaRPr lang="en-US" sz="1350" dirty="0"/>
          </a:p>
        </p:txBody>
      </p:sp>
      <p:sp>
        <p:nvSpPr>
          <p:cNvPr id="4" name="Shape 2"/>
          <p:cNvSpPr/>
          <p:nvPr/>
        </p:nvSpPr>
        <p:spPr>
          <a:xfrm>
            <a:off x="784384" y="2420541"/>
            <a:ext cx="7664768" cy="5063609"/>
          </a:xfrm>
          <a:prstGeom prst="roundRect">
            <a:avLst>
              <a:gd name="adj" fmla="val 1464"/>
            </a:avLst>
          </a:prstGeom>
          <a:solidFill>
            <a:srgbClr val="F2F2F2"/>
          </a:solidFill>
          <a:ln/>
        </p:spPr>
      </p:sp>
      <p:sp>
        <p:nvSpPr>
          <p:cNvPr id="5" name="Shape 3"/>
          <p:cNvSpPr/>
          <p:nvPr/>
        </p:nvSpPr>
        <p:spPr>
          <a:xfrm>
            <a:off x="775573" y="2420541"/>
            <a:ext cx="7682389" cy="5063609"/>
          </a:xfrm>
          <a:prstGeom prst="roundRect">
            <a:avLst>
              <a:gd name="adj" fmla="val 523"/>
            </a:avLst>
          </a:prstGeom>
          <a:solidFill>
            <a:srgbClr val="F2F2F2"/>
          </a:solidFill>
          <a:ln/>
        </p:spPr>
      </p:sp>
      <p:sp>
        <p:nvSpPr>
          <p:cNvPr id="6" name="Text 4"/>
          <p:cNvSpPr/>
          <p:nvPr/>
        </p:nvSpPr>
        <p:spPr>
          <a:xfrm>
            <a:off x="952024" y="2552819"/>
            <a:ext cx="7329488" cy="4799052"/>
          </a:xfrm>
          <a:prstGeom prst="rect">
            <a:avLst/>
          </a:prstGeom>
          <a:noFill/>
          <a:ln/>
        </p:spPr>
        <p:txBody>
          <a:bodyPr wrap="square" lIns="0" tIns="0" rIns="0" bIns="0" rtlCol="0" anchor="t"/>
          <a:lstStyle/>
          <a:p>
            <a:pPr marL="0" indent="0" algn="l">
              <a:lnSpc>
                <a:spcPts val="2200"/>
              </a:lnSpc>
              <a:buNone/>
            </a:pPr>
            <a:r>
              <a:rPr lang="en-US" sz="1350" dirty="0">
                <a:solidFill>
                  <a:srgbClr val="000000"/>
                </a:solidFill>
                <a:highlight>
                  <a:srgbClr val="F2F2F2"/>
                </a:highlight>
                <a:latin typeface="Consolas Medium" pitchFamily="34" charset="0"/>
                <a:ea typeface="Consolas Medium" pitchFamily="34" charset="-122"/>
                <a:cs typeface="Consolas Medium" pitchFamily="34" charset="-120"/>
              </a:rPr>
              <a:t>import requests
from bs4 import BeautifulSoup
# Define the URL of the page to scrape
url = 'http://example.com'
# Send an HTTP GET request to the URL
response = requests.get(url)
# Parse the HTML content of the page
soup = BeautifulSoup(response.text, 'html.parser')
# Find the &lt;title&gt; tag and extract its text
page_title = soup.find('title').get_text()
print(f"Extracted Page Title: {page_title}")
</a:t>
            </a:r>
            <a:endParaRPr lang="en-US" sz="1350" dirty="0"/>
          </a:p>
        </p:txBody>
      </p:sp>
      <p:sp>
        <p:nvSpPr>
          <p:cNvPr id="7" name="Shape 5"/>
          <p:cNvSpPr/>
          <p:nvPr/>
        </p:nvSpPr>
        <p:spPr>
          <a:xfrm>
            <a:off x="8887301" y="2420541"/>
            <a:ext cx="4966335" cy="1879044"/>
          </a:xfrm>
          <a:prstGeom prst="roundRect">
            <a:avLst>
              <a:gd name="adj" fmla="val 3945"/>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8" name="Image 0" descr="preencoded.png"/>
          <p:cNvPicPr>
            <a:picLocks noChangeAspect="1"/>
          </p:cNvPicPr>
          <p:nvPr/>
        </p:nvPicPr>
        <p:blipFill>
          <a:blip r:embed="rId3">
            <a:duotone>
              <a:prstClr val="black"/>
              <a:srgbClr val="7030A0">
                <a:tint val="45000"/>
                <a:satMod val="400000"/>
              </a:srgbClr>
            </a:duotone>
          </a:blip>
          <a:stretch>
            <a:fillRect/>
          </a:stretch>
        </p:blipFill>
        <p:spPr>
          <a:xfrm>
            <a:off x="9063752" y="2684740"/>
            <a:ext cx="220623" cy="176451"/>
          </a:xfrm>
          <a:prstGeom prst="rect">
            <a:avLst/>
          </a:prstGeom>
        </p:spPr>
      </p:pic>
      <p:sp>
        <p:nvSpPr>
          <p:cNvPr id="9" name="Text 6"/>
          <p:cNvSpPr/>
          <p:nvPr/>
        </p:nvSpPr>
        <p:spPr>
          <a:xfrm>
            <a:off x="9460825" y="2641044"/>
            <a:ext cx="4216360" cy="1411486"/>
          </a:xfrm>
          <a:prstGeom prst="rect">
            <a:avLst/>
          </a:prstGeom>
          <a:noFill/>
          <a:ln/>
        </p:spPr>
        <p:txBody>
          <a:bodyPr wrap="square" lIns="0" tIns="0" rIns="0" bIns="0" rtlCol="0" anchor="t"/>
          <a:lstStyle/>
          <a:p>
            <a:pPr marL="0" indent="0" algn="l">
              <a:lnSpc>
                <a:spcPts val="2200"/>
              </a:lnSpc>
              <a:buNone/>
            </a:pPr>
            <a:r>
              <a:rPr lang="en-US" sz="1350" dirty="0">
                <a:solidFill>
                  <a:srgbClr val="000000"/>
                </a:solidFill>
                <a:latin typeface="Montserrat Medium" pitchFamily="34" charset="0"/>
                <a:ea typeface="Montserrat Medium" pitchFamily="34" charset="-122"/>
                <a:cs typeface="Montserrat Medium" pitchFamily="34" charset="-120"/>
              </a:rPr>
              <a:t>This simple script demonstrates the core steps of web scraping: fetching the HTML, parsing it, and then navigating the structure to pull out desired content. It's a powerful way to gather data not readily available via APIs.</a:t>
            </a:r>
            <a:endParaRPr lang="en-US" sz="1350" dirty="0"/>
          </a:p>
        </p:txBody>
      </p:sp>
      <p:pic>
        <p:nvPicPr>
          <p:cNvPr id="10" name="Picture 9">
            <a:extLst>
              <a:ext uri="{FF2B5EF4-FFF2-40B4-BE49-F238E27FC236}">
                <a16:creationId xmlns:a16="http://schemas.microsoft.com/office/drawing/2014/main" id="{67364DF4-5428-B62A-5F9F-B818268C85EF}"/>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793790" y="1786057"/>
            <a:ext cx="1351836" cy="373142"/>
          </a:xfrm>
          <a:prstGeom prst="roundRect">
            <a:avLst>
              <a:gd name="adj" fmla="val 1787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1893213"/>
            <a:ext cx="158710" cy="158710"/>
          </a:xfrm>
          <a:prstGeom prst="rect">
            <a:avLst/>
          </a:prstGeom>
        </p:spPr>
      </p:pic>
      <p:sp>
        <p:nvSpPr>
          <p:cNvPr id="4" name="Text 1"/>
          <p:cNvSpPr/>
          <p:nvPr/>
        </p:nvSpPr>
        <p:spPr>
          <a:xfrm>
            <a:off x="1150858" y="1845588"/>
            <a:ext cx="87570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MODULE 3</a:t>
            </a:r>
            <a:endParaRPr lang="en-US" sz="1250" dirty="0"/>
          </a:p>
        </p:txBody>
      </p:sp>
      <p:sp>
        <p:nvSpPr>
          <p:cNvPr id="5" name="Text 2"/>
          <p:cNvSpPr/>
          <p:nvPr/>
        </p:nvSpPr>
        <p:spPr>
          <a:xfrm>
            <a:off x="793790" y="2238494"/>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NumPy: The Engine</a:t>
            </a:r>
            <a:endParaRPr lang="en-US" sz="3900" dirty="0"/>
          </a:p>
        </p:txBody>
      </p:sp>
      <p:sp>
        <p:nvSpPr>
          <p:cNvPr id="6" name="Shape 3"/>
          <p:cNvSpPr/>
          <p:nvPr/>
        </p:nvSpPr>
        <p:spPr>
          <a:xfrm>
            <a:off x="793790" y="3156228"/>
            <a:ext cx="4215289" cy="2111335"/>
          </a:xfrm>
          <a:prstGeom prst="roundRect">
            <a:avLst>
              <a:gd name="adj" fmla="val 394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7" name="Text 4"/>
          <p:cNvSpPr/>
          <p:nvPr/>
        </p:nvSpPr>
        <p:spPr>
          <a:xfrm>
            <a:off x="999768" y="336220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Speed</a:t>
            </a:r>
            <a:endParaRPr lang="en-US" sz="1950" dirty="0"/>
          </a:p>
        </p:txBody>
      </p:sp>
      <p:sp>
        <p:nvSpPr>
          <p:cNvPr id="8" name="Text 5"/>
          <p:cNvSpPr/>
          <p:nvPr/>
        </p:nvSpPr>
        <p:spPr>
          <a:xfrm>
            <a:off x="999768" y="3791426"/>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NumPy arrays are </a:t>
            </a:r>
            <a:r>
              <a:rPr lang="en-US" sz="1550" b="1" dirty="0">
                <a:solidFill>
                  <a:srgbClr val="000000"/>
                </a:solidFill>
                <a:latin typeface="Montserrat Medium" pitchFamily="34" charset="0"/>
                <a:ea typeface="Montserrat Medium" pitchFamily="34" charset="-122"/>
                <a:cs typeface="Montserrat Medium" pitchFamily="34" charset="-120"/>
              </a:rPr>
              <a:t>fast</a:t>
            </a:r>
            <a:r>
              <a:rPr lang="en-US" sz="1550" dirty="0">
                <a:solidFill>
                  <a:srgbClr val="000000"/>
                </a:solidFill>
                <a:latin typeface="Montserrat Medium" pitchFamily="34" charset="0"/>
                <a:ea typeface="Montserrat Medium" pitchFamily="34" charset="-122"/>
                <a:cs typeface="Montserrat Medium" pitchFamily="34" charset="-120"/>
              </a:rPr>
              <a:t>—they run at C-language speed, making calculations on large datasets nearly instantaneous.</a:t>
            </a:r>
            <a:endParaRPr lang="en-US" sz="1550" dirty="0"/>
          </a:p>
        </p:txBody>
      </p:sp>
      <p:sp>
        <p:nvSpPr>
          <p:cNvPr id="9" name="Shape 6"/>
          <p:cNvSpPr/>
          <p:nvPr/>
        </p:nvSpPr>
        <p:spPr>
          <a:xfrm>
            <a:off x="5207437" y="3156228"/>
            <a:ext cx="4215408" cy="2111335"/>
          </a:xfrm>
          <a:prstGeom prst="roundRect">
            <a:avLst>
              <a:gd name="adj" fmla="val 394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0" name="Text 7"/>
          <p:cNvSpPr/>
          <p:nvPr/>
        </p:nvSpPr>
        <p:spPr>
          <a:xfrm>
            <a:off x="5413415" y="336220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Vectorization</a:t>
            </a:r>
            <a:endParaRPr lang="en-US" sz="1950" dirty="0"/>
          </a:p>
        </p:txBody>
      </p:sp>
      <p:sp>
        <p:nvSpPr>
          <p:cNvPr id="11" name="Text 8"/>
          <p:cNvSpPr/>
          <p:nvPr/>
        </p:nvSpPr>
        <p:spPr>
          <a:xfrm>
            <a:off x="5413415" y="3791426"/>
            <a:ext cx="3803452"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Perform math on entire arrays at once without loops. </a:t>
            </a:r>
            <a:r>
              <a:rPr lang="en-US" sz="1550" dirty="0">
                <a:solidFill>
                  <a:srgbClr val="000000"/>
                </a:solidFill>
                <a:highlight>
                  <a:srgbClr val="F2F2F2"/>
                </a:highlight>
                <a:latin typeface="Consolas" pitchFamily="34" charset="0"/>
                <a:ea typeface="Consolas" pitchFamily="34" charset="-122"/>
                <a:cs typeface="Consolas" pitchFamily="34" charset="-120"/>
              </a:rPr>
              <a:t>array * 2</a:t>
            </a:r>
            <a:r>
              <a:rPr lang="en-US" sz="1550" dirty="0">
                <a:solidFill>
                  <a:srgbClr val="000000"/>
                </a:solidFill>
                <a:latin typeface="Montserrat Medium" pitchFamily="34" charset="0"/>
                <a:ea typeface="Montserrat Medium" pitchFamily="34" charset="-122"/>
                <a:cs typeface="Montserrat Medium" pitchFamily="34" charset="-120"/>
              </a:rPr>
              <a:t> multiplies every element instantly.</a:t>
            </a:r>
            <a:endParaRPr lang="en-US" sz="1550" dirty="0"/>
          </a:p>
        </p:txBody>
      </p:sp>
      <p:sp>
        <p:nvSpPr>
          <p:cNvPr id="12" name="Shape 9"/>
          <p:cNvSpPr/>
          <p:nvPr/>
        </p:nvSpPr>
        <p:spPr>
          <a:xfrm>
            <a:off x="9621203" y="3156228"/>
            <a:ext cx="4215289" cy="2111335"/>
          </a:xfrm>
          <a:prstGeom prst="roundRect">
            <a:avLst>
              <a:gd name="adj" fmla="val 394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3" name="Text 10"/>
          <p:cNvSpPr/>
          <p:nvPr/>
        </p:nvSpPr>
        <p:spPr>
          <a:xfrm>
            <a:off x="9827181" y="3362206"/>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Dimensions</a:t>
            </a:r>
            <a:endParaRPr lang="en-US" sz="1950" dirty="0"/>
          </a:p>
        </p:txBody>
      </p:sp>
      <p:sp>
        <p:nvSpPr>
          <p:cNvPr id="14" name="Text 11"/>
          <p:cNvSpPr/>
          <p:nvPr/>
        </p:nvSpPr>
        <p:spPr>
          <a:xfrm>
            <a:off x="9827181" y="3791426"/>
            <a:ext cx="3803333"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Work with multi-dimensional data: vectors (1D), matrices (2D), and tensors (3D+) for advanced applications.</a:t>
            </a:r>
            <a:endParaRPr lang="en-US" sz="1550" dirty="0"/>
          </a:p>
        </p:txBody>
      </p:sp>
      <p:sp>
        <p:nvSpPr>
          <p:cNvPr id="15" name="Text 12"/>
          <p:cNvSpPr/>
          <p:nvPr/>
        </p:nvSpPr>
        <p:spPr>
          <a:xfrm>
            <a:off x="793790" y="5490805"/>
            <a:ext cx="13042821"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NumPy is the computational engine that powers data science in Python. While lists are slow for mathematical operations, NumPy arrays are optimized for speed and efficiency. Think of NumPy as the engine—Pandas (which we'll cover next) is the car we actually drive.</a:t>
            </a:r>
            <a:endParaRPr lang="en-US" sz="1550" dirty="0"/>
          </a:p>
        </p:txBody>
      </p:sp>
      <p:pic>
        <p:nvPicPr>
          <p:cNvPr id="16" name="Picture 15">
            <a:extLst>
              <a:ext uri="{FF2B5EF4-FFF2-40B4-BE49-F238E27FC236}">
                <a16:creationId xmlns:a16="http://schemas.microsoft.com/office/drawing/2014/main" id="{465CC1A8-D781-F52C-0D07-E69DE1C851B9}"/>
              </a:ext>
            </a:extLst>
          </p:cNvPr>
          <p:cNvPicPr>
            <a:picLocks noChangeAspect="1"/>
          </p:cNvPicPr>
          <p:nvPr/>
        </p:nvPicPr>
        <p:blipFill>
          <a:blip r:embed="rId5"/>
          <a:stretch>
            <a:fillRect/>
          </a:stretch>
        </p:blipFill>
        <p:spPr>
          <a:xfrm>
            <a:off x="13342557" y="118334"/>
            <a:ext cx="1125764" cy="41258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681633"/>
            <a:ext cx="692431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Why NumPy? Speed Matters</a:t>
            </a:r>
            <a:endParaRPr lang="en-US" sz="3900" dirty="0"/>
          </a:p>
        </p:txBody>
      </p:sp>
      <p:sp>
        <p:nvSpPr>
          <p:cNvPr id="4" name="Text 1"/>
          <p:cNvSpPr/>
          <p:nvPr/>
        </p:nvSpPr>
        <p:spPr>
          <a:xfrm>
            <a:off x="6280190" y="1797725"/>
            <a:ext cx="3296007"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Problem with Lists</a:t>
            </a:r>
            <a:endParaRPr lang="en-US" sz="2300" dirty="0"/>
          </a:p>
        </p:txBody>
      </p:sp>
      <p:sp>
        <p:nvSpPr>
          <p:cNvPr id="5" name="Text 2"/>
          <p:cNvSpPr/>
          <p:nvPr/>
        </p:nvSpPr>
        <p:spPr>
          <a:xfrm>
            <a:off x="6280190" y="2368153"/>
            <a:ext cx="3536156"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Python lists are flexible but slow for mathematical operations. To multiply every number in a list by 2, you need a loop:</a:t>
            </a:r>
            <a:endParaRPr lang="en-US" sz="1550" dirty="0"/>
          </a:p>
        </p:txBody>
      </p:sp>
      <p:sp>
        <p:nvSpPr>
          <p:cNvPr id="6" name="Shape 3"/>
          <p:cNvSpPr/>
          <p:nvPr/>
        </p:nvSpPr>
        <p:spPr>
          <a:xfrm>
            <a:off x="6280190" y="3861554"/>
            <a:ext cx="3536156" cy="1567815"/>
          </a:xfrm>
          <a:prstGeom prst="roundRect">
            <a:avLst>
              <a:gd name="adj" fmla="val 5317"/>
            </a:avLst>
          </a:prstGeom>
          <a:solidFill>
            <a:srgbClr val="F2F2F2"/>
          </a:solidFill>
          <a:ln/>
        </p:spPr>
      </p:sp>
      <p:sp>
        <p:nvSpPr>
          <p:cNvPr id="7" name="Shape 4"/>
          <p:cNvSpPr/>
          <p:nvPr/>
        </p:nvSpPr>
        <p:spPr>
          <a:xfrm>
            <a:off x="6270307" y="3861554"/>
            <a:ext cx="3555921" cy="1567815"/>
          </a:xfrm>
          <a:prstGeom prst="roundRect">
            <a:avLst>
              <a:gd name="adj" fmla="val 1899"/>
            </a:avLst>
          </a:prstGeom>
          <a:solidFill>
            <a:srgbClr val="F2F2F2"/>
          </a:solidFill>
          <a:ln/>
        </p:spPr>
      </p:sp>
      <p:sp>
        <p:nvSpPr>
          <p:cNvPr id="8" name="Text 5"/>
          <p:cNvSpPr/>
          <p:nvPr/>
        </p:nvSpPr>
        <p:spPr>
          <a:xfrm>
            <a:off x="6468666" y="4010382"/>
            <a:ext cx="3159204"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numbers = [1, 2, 3, 4, 5]</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result = []</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for n in numbers:</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result.append(n * 2)</a:t>
            </a:r>
            <a:endParaRPr lang="en-US" sz="1550" dirty="0"/>
          </a:p>
        </p:txBody>
      </p:sp>
      <p:sp>
        <p:nvSpPr>
          <p:cNvPr id="9" name="Text 6"/>
          <p:cNvSpPr/>
          <p:nvPr/>
        </p:nvSpPr>
        <p:spPr>
          <a:xfrm>
            <a:off x="6280190" y="5652611"/>
            <a:ext cx="35361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This works, but it's inefficient for large datasets.</a:t>
            </a:r>
            <a:endParaRPr lang="en-US" sz="1550" dirty="0"/>
          </a:p>
        </p:txBody>
      </p:sp>
      <p:sp>
        <p:nvSpPr>
          <p:cNvPr id="10" name="Text 7"/>
          <p:cNvSpPr/>
          <p:nvPr/>
        </p:nvSpPr>
        <p:spPr>
          <a:xfrm>
            <a:off x="10308074" y="179772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NumPy Solution</a:t>
            </a:r>
            <a:endParaRPr lang="en-US" sz="2300" dirty="0"/>
          </a:p>
        </p:txBody>
      </p:sp>
      <p:sp>
        <p:nvSpPr>
          <p:cNvPr id="11" name="Text 8"/>
          <p:cNvSpPr/>
          <p:nvPr/>
        </p:nvSpPr>
        <p:spPr>
          <a:xfrm>
            <a:off x="10308074" y="2368153"/>
            <a:ext cx="3536156"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NumPy uses </a:t>
            </a:r>
            <a:r>
              <a:rPr lang="en-US" sz="1550" b="1" dirty="0">
                <a:solidFill>
                  <a:srgbClr val="000000"/>
                </a:solidFill>
                <a:latin typeface="Montserrat Medium" pitchFamily="34" charset="0"/>
                <a:ea typeface="Montserrat Medium" pitchFamily="34" charset="-122"/>
                <a:cs typeface="Montserrat Medium" pitchFamily="34" charset="-120"/>
              </a:rPr>
              <a:t>vectorization</a:t>
            </a:r>
            <a:r>
              <a:rPr lang="en-US" sz="1550" dirty="0">
                <a:solidFill>
                  <a:srgbClr val="000000"/>
                </a:solidFill>
                <a:latin typeface="Montserrat Medium" pitchFamily="34" charset="0"/>
                <a:ea typeface="Montserrat Medium" pitchFamily="34" charset="-122"/>
                <a:cs typeface="Montserrat Medium" pitchFamily="34" charset="-120"/>
              </a:rPr>
              <a:t>—math on the whole array at once, with no loops needed:</a:t>
            </a:r>
            <a:endParaRPr lang="en-US" sz="1550" dirty="0"/>
          </a:p>
        </p:txBody>
      </p:sp>
      <p:sp>
        <p:nvSpPr>
          <p:cNvPr id="12" name="Shape 9"/>
          <p:cNvSpPr/>
          <p:nvPr/>
        </p:nvSpPr>
        <p:spPr>
          <a:xfrm>
            <a:off x="10308074" y="3544014"/>
            <a:ext cx="3536156" cy="1250275"/>
          </a:xfrm>
          <a:prstGeom prst="roundRect">
            <a:avLst>
              <a:gd name="adj" fmla="val 6667"/>
            </a:avLst>
          </a:prstGeom>
          <a:solidFill>
            <a:srgbClr val="F2F2F2"/>
          </a:solidFill>
          <a:ln/>
        </p:spPr>
      </p:sp>
      <p:sp>
        <p:nvSpPr>
          <p:cNvPr id="13" name="Shape 10"/>
          <p:cNvSpPr/>
          <p:nvPr/>
        </p:nvSpPr>
        <p:spPr>
          <a:xfrm>
            <a:off x="10298192" y="3544014"/>
            <a:ext cx="3555921" cy="1250275"/>
          </a:xfrm>
          <a:prstGeom prst="roundRect">
            <a:avLst>
              <a:gd name="adj" fmla="val 2381"/>
            </a:avLst>
          </a:prstGeom>
          <a:solidFill>
            <a:srgbClr val="F2F2F2"/>
          </a:solidFill>
          <a:ln/>
        </p:spPr>
      </p:sp>
      <p:sp>
        <p:nvSpPr>
          <p:cNvPr id="14" name="Text 11"/>
          <p:cNvSpPr/>
          <p:nvPr/>
        </p:nvSpPr>
        <p:spPr>
          <a:xfrm>
            <a:off x="10496550" y="3692843"/>
            <a:ext cx="3159204"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import numpy as np</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numbers = np.array([1, 2, 3, 4, 5])</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result = numbers * 2</a:t>
            </a:r>
            <a:endParaRPr lang="en-US" sz="1550" dirty="0"/>
          </a:p>
        </p:txBody>
      </p:sp>
      <p:sp>
        <p:nvSpPr>
          <p:cNvPr id="15" name="Text 12"/>
          <p:cNvSpPr/>
          <p:nvPr/>
        </p:nvSpPr>
        <p:spPr>
          <a:xfrm>
            <a:off x="10308074" y="5017532"/>
            <a:ext cx="3536156"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This runs at C-language speed, making it hundreds of times faster for large datasets.</a:t>
            </a:r>
            <a:endParaRPr lang="en-US" sz="1550" dirty="0"/>
          </a:p>
        </p:txBody>
      </p:sp>
      <p:sp>
        <p:nvSpPr>
          <p:cNvPr id="16" name="Shape 13"/>
          <p:cNvSpPr/>
          <p:nvPr/>
        </p:nvSpPr>
        <p:spPr>
          <a:xfrm>
            <a:off x="6280190" y="6689527"/>
            <a:ext cx="7556421" cy="858441"/>
          </a:xfrm>
          <a:prstGeom prst="roundRect">
            <a:avLst>
              <a:gd name="adj" fmla="val 9711"/>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7" name="Image 1" descr="preencoded.png"/>
          <p:cNvPicPr>
            <a:picLocks noChangeAspect="1"/>
          </p:cNvPicPr>
          <p:nvPr/>
        </p:nvPicPr>
        <p:blipFill>
          <a:blip r:embed="rId4">
            <a:duotone>
              <a:prstClr val="black"/>
              <a:srgbClr val="7030A0">
                <a:tint val="45000"/>
                <a:satMod val="400000"/>
              </a:srgbClr>
            </a:duotone>
          </a:blip>
          <a:stretch>
            <a:fillRect/>
          </a:stretch>
        </p:blipFill>
        <p:spPr>
          <a:xfrm>
            <a:off x="6478548" y="6984802"/>
            <a:ext cx="248007" cy="198358"/>
          </a:xfrm>
          <a:prstGeom prst="rect">
            <a:avLst/>
          </a:prstGeom>
        </p:spPr>
      </p:pic>
      <p:sp>
        <p:nvSpPr>
          <p:cNvPr id="18" name="Text 14"/>
          <p:cNvSpPr/>
          <p:nvPr/>
        </p:nvSpPr>
        <p:spPr>
          <a:xfrm>
            <a:off x="6935447" y="6757161"/>
            <a:ext cx="6713339" cy="697887"/>
          </a:xfrm>
          <a:prstGeom prst="rect">
            <a:avLst/>
          </a:prstGeom>
          <a:noFill/>
          <a:ln/>
        </p:spPr>
        <p:txBody>
          <a:bodyPr wrap="none" lIns="0" tIns="0" rIns="0" bIns="0" rtlCol="0" anchor="t"/>
          <a:lstStyle/>
          <a:p>
            <a:pPr marL="0" indent="0" algn="l">
              <a:lnSpc>
                <a:spcPts val="2500"/>
              </a:lnSpc>
              <a:buNone/>
            </a:pPr>
            <a:r>
              <a:rPr lang="en-US" sz="1200" b="1" dirty="0">
                <a:solidFill>
                  <a:srgbClr val="000000"/>
                </a:solidFill>
                <a:latin typeface="Montserrat Medium" pitchFamily="34" charset="0"/>
                <a:ea typeface="Montserrat Medium" pitchFamily="34" charset="-122"/>
                <a:cs typeface="Montserrat Medium" pitchFamily="34" charset="-120"/>
              </a:rPr>
              <a:t>Installation:</a:t>
            </a:r>
            <a:r>
              <a:rPr lang="en-US" sz="1200" dirty="0">
                <a:solidFill>
                  <a:srgbClr val="000000"/>
                </a:solidFill>
                <a:latin typeface="Montserrat Medium" pitchFamily="34" charset="0"/>
                <a:ea typeface="Montserrat Medium" pitchFamily="34" charset="-122"/>
                <a:cs typeface="Montserrat Medium" pitchFamily="34" charset="-120"/>
              </a:rPr>
              <a:t> </a:t>
            </a:r>
            <a:r>
              <a:rPr lang="en-US" sz="1200" dirty="0">
                <a:solidFill>
                  <a:srgbClr val="000000"/>
                </a:solidFill>
                <a:highlight>
                  <a:srgbClr val="F2F2F2"/>
                </a:highlight>
                <a:latin typeface="Consolas" pitchFamily="34" charset="0"/>
                <a:ea typeface="Consolas" pitchFamily="34" charset="-122"/>
                <a:cs typeface="Consolas" pitchFamily="34" charset="-120"/>
              </a:rPr>
              <a:t>pip install numpy</a:t>
            </a:r>
            <a:r>
              <a:rPr lang="en-US" sz="1200" dirty="0">
                <a:solidFill>
                  <a:srgbClr val="000000"/>
                </a:solidFill>
                <a:latin typeface="Montserrat Medium" pitchFamily="34" charset="0"/>
                <a:ea typeface="Montserrat Medium" pitchFamily="34" charset="-122"/>
                <a:cs typeface="Montserrat Medium" pitchFamily="34" charset="-120"/>
              </a:rPr>
              <a:t> | </a:t>
            </a:r>
            <a:r>
              <a:rPr lang="en-US" sz="1200" b="1" dirty="0">
                <a:solidFill>
                  <a:srgbClr val="000000"/>
                </a:solidFill>
                <a:latin typeface="Montserrat Medium" pitchFamily="34" charset="0"/>
                <a:ea typeface="Montserrat Medium" pitchFamily="34" charset="-122"/>
                <a:cs typeface="Montserrat Medium" pitchFamily="34" charset="-120"/>
              </a:rPr>
              <a:t>Import:</a:t>
            </a:r>
            <a:r>
              <a:rPr lang="en-US" sz="1200" dirty="0">
                <a:solidFill>
                  <a:srgbClr val="000000"/>
                </a:solidFill>
                <a:latin typeface="Montserrat Medium" pitchFamily="34" charset="0"/>
                <a:ea typeface="Montserrat Medium" pitchFamily="34" charset="-122"/>
                <a:cs typeface="Montserrat Medium" pitchFamily="34" charset="-120"/>
              </a:rPr>
              <a:t> import numpy as np</a:t>
            </a:r>
          </a:p>
          <a:p>
            <a:pPr marL="0" indent="0" algn="l">
              <a:lnSpc>
                <a:spcPts val="2500"/>
              </a:lnSpc>
              <a:buNone/>
            </a:pPr>
            <a:r>
              <a:rPr lang="en-US" sz="1200" dirty="0">
                <a:solidFill>
                  <a:srgbClr val="000000"/>
                </a:solidFill>
                <a:latin typeface="Montserrat Medium" pitchFamily="34" charset="0"/>
                <a:cs typeface="Montserrat Medium" pitchFamily="34" charset="-120"/>
              </a:rPr>
              <a:t>Note: Arrays can only contain one data type. All values must be of the same data type.</a:t>
            </a:r>
            <a:endParaRPr lang="en-US" sz="1200" dirty="0"/>
          </a:p>
        </p:txBody>
      </p:sp>
      <p:pic>
        <p:nvPicPr>
          <p:cNvPr id="19" name="Picture 18">
            <a:extLst>
              <a:ext uri="{FF2B5EF4-FFF2-40B4-BE49-F238E27FC236}">
                <a16:creationId xmlns:a16="http://schemas.microsoft.com/office/drawing/2014/main" id="{7DF36A3C-422F-8828-DE5D-A74BA4013269}"/>
              </a:ext>
            </a:extLst>
          </p:cNvPr>
          <p:cNvPicPr>
            <a:picLocks noChangeAspect="1"/>
          </p:cNvPicPr>
          <p:nvPr/>
        </p:nvPicPr>
        <p:blipFill>
          <a:blip r:embed="rId5"/>
          <a:stretch>
            <a:fillRect/>
          </a:stretch>
        </p:blipFill>
        <p:spPr>
          <a:xfrm>
            <a:off x="13342557" y="118334"/>
            <a:ext cx="1125764" cy="412584"/>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793790" y="1219438"/>
            <a:ext cx="8121848"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Dimensions: Vectors vs. Matrices</a:t>
            </a:r>
            <a:endParaRPr lang="en-US" sz="3900" dirty="0"/>
          </a:p>
        </p:txBody>
      </p:sp>
      <p:sp>
        <p:nvSpPr>
          <p:cNvPr id="3" name="Shape 1"/>
          <p:cNvSpPr/>
          <p:nvPr/>
        </p:nvSpPr>
        <p:spPr>
          <a:xfrm>
            <a:off x="793790" y="2434828"/>
            <a:ext cx="4215289" cy="3270409"/>
          </a:xfrm>
          <a:prstGeom prst="roundRect">
            <a:avLst>
              <a:gd name="adj" fmla="val 3355"/>
            </a:avLst>
          </a:prstGeom>
          <a:solidFill>
            <a:srgbClr val="FFFFFF"/>
          </a:solidFill>
          <a:ln/>
        </p:spPr>
      </p:sp>
      <p:sp>
        <p:nvSpPr>
          <p:cNvPr id="4" name="Shape 2"/>
          <p:cNvSpPr/>
          <p:nvPr/>
        </p:nvSpPr>
        <p:spPr>
          <a:xfrm>
            <a:off x="793790" y="2411968"/>
            <a:ext cx="4215289" cy="91440"/>
          </a:xfrm>
          <a:prstGeom prst="roundRect">
            <a:avLst>
              <a:gd name="adj" fmla="val 91163"/>
            </a:avLst>
          </a:prstGeom>
          <a:solidFill>
            <a:srgbClr val="720062"/>
          </a:solidFill>
          <a:ln/>
        </p:spPr>
      </p:sp>
      <p:sp>
        <p:nvSpPr>
          <p:cNvPr id="5" name="Shape 3"/>
          <p:cNvSpPr/>
          <p:nvPr/>
        </p:nvSpPr>
        <p:spPr>
          <a:xfrm>
            <a:off x="2603778" y="2137172"/>
            <a:ext cx="595313" cy="595313"/>
          </a:xfrm>
          <a:prstGeom prst="roundRect">
            <a:avLst>
              <a:gd name="adj" fmla="val 153600"/>
            </a:avLst>
          </a:prstGeom>
          <a:solidFill>
            <a:srgbClr val="720062"/>
          </a:solidFill>
          <a:ln/>
        </p:spPr>
      </p:sp>
      <p:sp>
        <p:nvSpPr>
          <p:cNvPr id="6" name="Text 4"/>
          <p:cNvSpPr/>
          <p:nvPr/>
        </p:nvSpPr>
        <p:spPr>
          <a:xfrm>
            <a:off x="2825404" y="2253726"/>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1</a:t>
            </a:r>
            <a:endParaRPr lang="en-US" sz="1850" dirty="0"/>
          </a:p>
        </p:txBody>
      </p:sp>
      <p:sp>
        <p:nvSpPr>
          <p:cNvPr id="7" name="Text 5"/>
          <p:cNvSpPr/>
          <p:nvPr/>
        </p:nvSpPr>
        <p:spPr>
          <a:xfrm>
            <a:off x="1015008" y="293096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1D Array (Vector)</a:t>
            </a:r>
            <a:endParaRPr lang="en-US" sz="1950" dirty="0"/>
          </a:p>
        </p:txBody>
      </p:sp>
      <p:sp>
        <p:nvSpPr>
          <p:cNvPr id="8" name="Text 6"/>
          <p:cNvSpPr/>
          <p:nvPr/>
        </p:nvSpPr>
        <p:spPr>
          <a:xfrm>
            <a:off x="1015008" y="3360182"/>
            <a:ext cx="3772853" cy="6503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 single row of numbers, like a list. Shape: </a:t>
            </a:r>
            <a:r>
              <a:rPr lang="en-US" sz="1550" dirty="0">
                <a:solidFill>
                  <a:srgbClr val="000000"/>
                </a:solidFill>
                <a:highlight>
                  <a:srgbClr val="F2F2F2"/>
                </a:highlight>
                <a:latin typeface="Consolas" pitchFamily="34" charset="0"/>
                <a:ea typeface="Consolas" pitchFamily="34" charset="-122"/>
                <a:cs typeface="Consolas" pitchFamily="34" charset="-120"/>
              </a:rPr>
              <a:t>(3,)</a:t>
            </a:r>
            <a:endParaRPr lang="en-US" sz="1550" dirty="0"/>
          </a:p>
        </p:txBody>
      </p:sp>
      <p:sp>
        <p:nvSpPr>
          <p:cNvPr id="9" name="Shape 7"/>
          <p:cNvSpPr/>
          <p:nvPr/>
        </p:nvSpPr>
        <p:spPr>
          <a:xfrm>
            <a:off x="1015008" y="4233743"/>
            <a:ext cx="3772853" cy="615196"/>
          </a:xfrm>
          <a:prstGeom prst="roundRect">
            <a:avLst>
              <a:gd name="adj" fmla="val 13550"/>
            </a:avLst>
          </a:prstGeom>
          <a:solidFill>
            <a:srgbClr val="F2F2F2"/>
          </a:solidFill>
          <a:ln/>
        </p:spPr>
      </p:sp>
      <p:sp>
        <p:nvSpPr>
          <p:cNvPr id="10" name="Shape 8"/>
          <p:cNvSpPr/>
          <p:nvPr/>
        </p:nvSpPr>
        <p:spPr>
          <a:xfrm>
            <a:off x="1005126" y="4233743"/>
            <a:ext cx="3792617" cy="615196"/>
          </a:xfrm>
          <a:prstGeom prst="roundRect">
            <a:avLst>
              <a:gd name="adj" fmla="val 4839"/>
            </a:avLst>
          </a:prstGeom>
          <a:solidFill>
            <a:srgbClr val="F2F2F2"/>
          </a:solidFill>
          <a:ln/>
        </p:spPr>
      </p:sp>
      <p:sp>
        <p:nvSpPr>
          <p:cNvPr id="11" name="Text 9"/>
          <p:cNvSpPr/>
          <p:nvPr/>
        </p:nvSpPr>
        <p:spPr>
          <a:xfrm>
            <a:off x="1203484" y="4382572"/>
            <a:ext cx="339590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np.array([1, 2, 3])</a:t>
            </a:r>
            <a:endParaRPr lang="en-US" sz="1550" dirty="0"/>
          </a:p>
        </p:txBody>
      </p:sp>
      <p:sp>
        <p:nvSpPr>
          <p:cNvPr id="12" name="Shape 10"/>
          <p:cNvSpPr/>
          <p:nvPr/>
        </p:nvSpPr>
        <p:spPr>
          <a:xfrm>
            <a:off x="5207437" y="2434828"/>
            <a:ext cx="4215408" cy="3270409"/>
          </a:xfrm>
          <a:prstGeom prst="roundRect">
            <a:avLst>
              <a:gd name="adj" fmla="val 3355"/>
            </a:avLst>
          </a:prstGeom>
          <a:solidFill>
            <a:srgbClr val="FFFFFF"/>
          </a:solidFill>
          <a:ln/>
        </p:spPr>
      </p:sp>
      <p:sp>
        <p:nvSpPr>
          <p:cNvPr id="13" name="Shape 11"/>
          <p:cNvSpPr/>
          <p:nvPr/>
        </p:nvSpPr>
        <p:spPr>
          <a:xfrm>
            <a:off x="5207437" y="2411968"/>
            <a:ext cx="4215408" cy="91440"/>
          </a:xfrm>
          <a:prstGeom prst="roundRect">
            <a:avLst>
              <a:gd name="adj" fmla="val 91163"/>
            </a:avLst>
          </a:prstGeom>
          <a:solidFill>
            <a:srgbClr val="720062"/>
          </a:solidFill>
          <a:ln/>
        </p:spPr>
      </p:sp>
      <p:sp>
        <p:nvSpPr>
          <p:cNvPr id="14" name="Shape 12"/>
          <p:cNvSpPr/>
          <p:nvPr/>
        </p:nvSpPr>
        <p:spPr>
          <a:xfrm>
            <a:off x="7017425" y="2137172"/>
            <a:ext cx="595313" cy="595313"/>
          </a:xfrm>
          <a:prstGeom prst="roundRect">
            <a:avLst>
              <a:gd name="adj" fmla="val 153600"/>
            </a:avLst>
          </a:prstGeom>
          <a:solidFill>
            <a:srgbClr val="720062"/>
          </a:solidFill>
          <a:ln/>
        </p:spPr>
      </p:sp>
      <p:sp>
        <p:nvSpPr>
          <p:cNvPr id="15" name="Text 13"/>
          <p:cNvSpPr/>
          <p:nvPr/>
        </p:nvSpPr>
        <p:spPr>
          <a:xfrm>
            <a:off x="7239050" y="2242968"/>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2</a:t>
            </a:r>
            <a:endParaRPr lang="en-US" sz="1850" dirty="0"/>
          </a:p>
        </p:txBody>
      </p:sp>
      <p:sp>
        <p:nvSpPr>
          <p:cNvPr id="16" name="Text 14"/>
          <p:cNvSpPr/>
          <p:nvPr/>
        </p:nvSpPr>
        <p:spPr>
          <a:xfrm>
            <a:off x="5428655" y="293096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2D Array (Matrix)</a:t>
            </a:r>
            <a:endParaRPr lang="en-US" sz="1950" dirty="0"/>
          </a:p>
        </p:txBody>
      </p:sp>
      <p:sp>
        <p:nvSpPr>
          <p:cNvPr id="17" name="Text 15"/>
          <p:cNvSpPr/>
          <p:nvPr/>
        </p:nvSpPr>
        <p:spPr>
          <a:xfrm>
            <a:off x="5428655" y="3360182"/>
            <a:ext cx="3772972"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Rows and columns, like a spreadsheet. Shape: </a:t>
            </a:r>
            <a:r>
              <a:rPr lang="en-US" sz="1550" dirty="0">
                <a:solidFill>
                  <a:srgbClr val="000000"/>
                </a:solidFill>
                <a:highlight>
                  <a:srgbClr val="F2F2F2"/>
                </a:highlight>
                <a:latin typeface="Consolas" pitchFamily="34" charset="0"/>
                <a:ea typeface="Consolas" pitchFamily="34" charset="-122"/>
                <a:cs typeface="Consolas" pitchFamily="34" charset="-120"/>
              </a:rPr>
              <a:t>(2, 3)</a:t>
            </a:r>
            <a:r>
              <a:rPr lang="en-US" sz="1550" dirty="0">
                <a:solidFill>
                  <a:srgbClr val="000000"/>
                </a:solidFill>
                <a:latin typeface="Montserrat Medium" pitchFamily="34" charset="0"/>
                <a:ea typeface="Montserrat Medium" pitchFamily="34" charset="-122"/>
                <a:cs typeface="Montserrat Medium" pitchFamily="34" charset="-120"/>
              </a:rPr>
              <a:t> means 2 rows, 3 columns</a:t>
            </a:r>
            <a:endParaRPr lang="en-US" sz="1550" dirty="0"/>
          </a:p>
        </p:txBody>
      </p:sp>
      <p:sp>
        <p:nvSpPr>
          <p:cNvPr id="18" name="Shape 16"/>
          <p:cNvSpPr/>
          <p:nvPr/>
        </p:nvSpPr>
        <p:spPr>
          <a:xfrm>
            <a:off x="5428655" y="4551283"/>
            <a:ext cx="3772972" cy="932736"/>
          </a:xfrm>
          <a:prstGeom prst="roundRect">
            <a:avLst>
              <a:gd name="adj" fmla="val 8937"/>
            </a:avLst>
          </a:prstGeom>
          <a:solidFill>
            <a:srgbClr val="F2F2F2"/>
          </a:solidFill>
          <a:ln/>
        </p:spPr>
      </p:sp>
      <p:sp>
        <p:nvSpPr>
          <p:cNvPr id="19" name="Shape 17"/>
          <p:cNvSpPr/>
          <p:nvPr/>
        </p:nvSpPr>
        <p:spPr>
          <a:xfrm>
            <a:off x="5418773" y="4551283"/>
            <a:ext cx="3792736" cy="932736"/>
          </a:xfrm>
          <a:prstGeom prst="roundRect">
            <a:avLst>
              <a:gd name="adj" fmla="val 3192"/>
            </a:avLst>
          </a:prstGeom>
          <a:solidFill>
            <a:srgbClr val="F2F2F2"/>
          </a:solidFill>
          <a:ln/>
        </p:spPr>
      </p:sp>
      <p:sp>
        <p:nvSpPr>
          <p:cNvPr id="20" name="Text 18"/>
          <p:cNvSpPr/>
          <p:nvPr/>
        </p:nvSpPr>
        <p:spPr>
          <a:xfrm>
            <a:off x="5617131" y="4700111"/>
            <a:ext cx="3396020"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np.array([[1, 2, 3],</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[4, 5, 6]])</a:t>
            </a:r>
            <a:endParaRPr lang="en-US" sz="1550" dirty="0"/>
          </a:p>
        </p:txBody>
      </p:sp>
      <p:sp>
        <p:nvSpPr>
          <p:cNvPr id="21" name="Shape 19"/>
          <p:cNvSpPr/>
          <p:nvPr/>
        </p:nvSpPr>
        <p:spPr>
          <a:xfrm>
            <a:off x="9621203" y="2434828"/>
            <a:ext cx="4215289" cy="3270409"/>
          </a:xfrm>
          <a:prstGeom prst="roundRect">
            <a:avLst>
              <a:gd name="adj" fmla="val 3355"/>
            </a:avLst>
          </a:prstGeom>
          <a:solidFill>
            <a:srgbClr val="FFFFFF"/>
          </a:solidFill>
          <a:ln/>
        </p:spPr>
      </p:sp>
      <p:sp>
        <p:nvSpPr>
          <p:cNvPr id="22" name="Shape 20"/>
          <p:cNvSpPr/>
          <p:nvPr/>
        </p:nvSpPr>
        <p:spPr>
          <a:xfrm>
            <a:off x="9621203" y="2411968"/>
            <a:ext cx="4215289" cy="91440"/>
          </a:xfrm>
          <a:prstGeom prst="roundRect">
            <a:avLst>
              <a:gd name="adj" fmla="val 91163"/>
            </a:avLst>
          </a:prstGeom>
          <a:solidFill>
            <a:srgbClr val="720062"/>
          </a:solidFill>
          <a:ln/>
        </p:spPr>
      </p:sp>
      <p:sp>
        <p:nvSpPr>
          <p:cNvPr id="23" name="Shape 21"/>
          <p:cNvSpPr/>
          <p:nvPr/>
        </p:nvSpPr>
        <p:spPr>
          <a:xfrm>
            <a:off x="11431191" y="2137172"/>
            <a:ext cx="595313" cy="595313"/>
          </a:xfrm>
          <a:prstGeom prst="roundRect">
            <a:avLst>
              <a:gd name="adj" fmla="val 153600"/>
            </a:avLst>
          </a:prstGeom>
          <a:solidFill>
            <a:srgbClr val="720062"/>
          </a:solidFill>
          <a:ln/>
        </p:spPr>
      </p:sp>
      <p:sp>
        <p:nvSpPr>
          <p:cNvPr id="24" name="Text 22"/>
          <p:cNvSpPr/>
          <p:nvPr/>
        </p:nvSpPr>
        <p:spPr>
          <a:xfrm>
            <a:off x="11652816" y="2232210"/>
            <a:ext cx="238125" cy="297656"/>
          </a:xfrm>
          <a:prstGeom prst="rect">
            <a:avLst/>
          </a:prstGeom>
          <a:noFill/>
          <a:ln/>
        </p:spPr>
        <p:txBody>
          <a:bodyPr wrap="none" lIns="0" tIns="0" rIns="0" bIns="0" rtlCol="0" anchor="t"/>
          <a:lstStyle/>
          <a:p>
            <a:pPr marL="0" indent="0" algn="l">
              <a:lnSpc>
                <a:spcPts val="3000"/>
              </a:lnSpc>
              <a:buNone/>
            </a:pPr>
            <a:r>
              <a:rPr lang="en-US" sz="1850" b="1" dirty="0">
                <a:solidFill>
                  <a:srgbClr val="FFFFFF"/>
                </a:solidFill>
                <a:latin typeface="Inter Bold" pitchFamily="34" charset="0"/>
                <a:ea typeface="Inter Bold" pitchFamily="34" charset="-122"/>
                <a:cs typeface="Inter Bold" pitchFamily="34" charset="-120"/>
              </a:rPr>
              <a:t>3</a:t>
            </a:r>
            <a:endParaRPr lang="en-US" sz="1850" dirty="0"/>
          </a:p>
        </p:txBody>
      </p:sp>
      <p:sp>
        <p:nvSpPr>
          <p:cNvPr id="25" name="Text 23"/>
          <p:cNvSpPr/>
          <p:nvPr/>
        </p:nvSpPr>
        <p:spPr>
          <a:xfrm>
            <a:off x="9842421" y="293096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3D+ Array (Tensor)</a:t>
            </a:r>
            <a:endParaRPr lang="en-US" sz="1950" dirty="0"/>
          </a:p>
        </p:txBody>
      </p:sp>
      <p:sp>
        <p:nvSpPr>
          <p:cNvPr id="26" name="Text 24"/>
          <p:cNvSpPr/>
          <p:nvPr/>
        </p:nvSpPr>
        <p:spPr>
          <a:xfrm>
            <a:off x="9842421" y="3360182"/>
            <a:ext cx="377285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 cube of numbers. Used in deep learning and AI for complex data like images or video.</a:t>
            </a:r>
            <a:endParaRPr lang="en-US" sz="1550" dirty="0"/>
          </a:p>
        </p:txBody>
      </p:sp>
      <p:sp>
        <p:nvSpPr>
          <p:cNvPr id="27" name="Shape 25"/>
          <p:cNvSpPr/>
          <p:nvPr/>
        </p:nvSpPr>
        <p:spPr>
          <a:xfrm>
            <a:off x="9842421" y="4536043"/>
            <a:ext cx="3772853" cy="932736"/>
          </a:xfrm>
          <a:prstGeom prst="roundRect">
            <a:avLst>
              <a:gd name="adj" fmla="val 8937"/>
            </a:avLst>
          </a:prstGeom>
          <a:solidFill>
            <a:srgbClr val="F2F2F2"/>
          </a:solidFill>
          <a:ln/>
        </p:spPr>
      </p:sp>
      <p:sp>
        <p:nvSpPr>
          <p:cNvPr id="28" name="Shape 26"/>
          <p:cNvSpPr/>
          <p:nvPr/>
        </p:nvSpPr>
        <p:spPr>
          <a:xfrm>
            <a:off x="9832538" y="4536043"/>
            <a:ext cx="3792617" cy="932736"/>
          </a:xfrm>
          <a:prstGeom prst="roundRect">
            <a:avLst>
              <a:gd name="adj" fmla="val 3192"/>
            </a:avLst>
          </a:prstGeom>
          <a:solidFill>
            <a:srgbClr val="F2F2F2"/>
          </a:solidFill>
          <a:ln/>
        </p:spPr>
      </p:sp>
      <p:sp>
        <p:nvSpPr>
          <p:cNvPr id="29" name="Text 27"/>
          <p:cNvSpPr/>
          <p:nvPr/>
        </p:nvSpPr>
        <p:spPr>
          <a:xfrm>
            <a:off x="10030897" y="4684871"/>
            <a:ext cx="339590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np.array([[[1, 2], [3, 4]],</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[[5, 6], [7, 8]]])</a:t>
            </a:r>
            <a:endParaRPr lang="en-US" sz="1550" dirty="0"/>
          </a:p>
        </p:txBody>
      </p:sp>
      <p:pic>
        <p:nvPicPr>
          <p:cNvPr id="32" name="Picture 31">
            <a:extLst>
              <a:ext uri="{FF2B5EF4-FFF2-40B4-BE49-F238E27FC236}">
                <a16:creationId xmlns:a16="http://schemas.microsoft.com/office/drawing/2014/main" id="{C236AD74-558C-2498-97EE-6A372FA54003}"/>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793790" y="775930"/>
            <a:ext cx="850725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Creating and Checking Dimensions</a:t>
            </a:r>
            <a:endParaRPr lang="en-US" sz="3900" dirty="0"/>
          </a:p>
        </p:txBody>
      </p:sp>
      <p:sp>
        <p:nvSpPr>
          <p:cNvPr id="3" name="Text 1"/>
          <p:cNvSpPr/>
          <p:nvPr/>
        </p:nvSpPr>
        <p:spPr>
          <a:xfrm>
            <a:off x="793790" y="1892022"/>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Creating a 2D Matrix</a:t>
            </a:r>
            <a:endParaRPr lang="en-US" sz="2300" dirty="0"/>
          </a:p>
        </p:txBody>
      </p:sp>
      <p:sp>
        <p:nvSpPr>
          <p:cNvPr id="4" name="Text 2"/>
          <p:cNvSpPr/>
          <p:nvPr/>
        </p:nvSpPr>
        <p:spPr>
          <a:xfrm>
            <a:off x="793790" y="2462451"/>
            <a:ext cx="695563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Use a list of lists to create a matrix. Each inner list becomes a row:</a:t>
            </a:r>
            <a:endParaRPr lang="en-US" sz="1550" dirty="0"/>
          </a:p>
        </p:txBody>
      </p:sp>
      <p:sp>
        <p:nvSpPr>
          <p:cNvPr id="5" name="Shape 3"/>
          <p:cNvSpPr/>
          <p:nvPr/>
        </p:nvSpPr>
        <p:spPr>
          <a:xfrm>
            <a:off x="793790" y="3003233"/>
            <a:ext cx="6955631" cy="932736"/>
          </a:xfrm>
          <a:prstGeom prst="roundRect">
            <a:avLst>
              <a:gd name="adj" fmla="val 8937"/>
            </a:avLst>
          </a:prstGeom>
          <a:solidFill>
            <a:srgbClr val="F2F2F2"/>
          </a:solidFill>
          <a:ln/>
        </p:spPr>
      </p:sp>
      <p:sp>
        <p:nvSpPr>
          <p:cNvPr id="6" name="Shape 4"/>
          <p:cNvSpPr/>
          <p:nvPr/>
        </p:nvSpPr>
        <p:spPr>
          <a:xfrm>
            <a:off x="783908" y="3003233"/>
            <a:ext cx="6975396" cy="932736"/>
          </a:xfrm>
          <a:prstGeom prst="roundRect">
            <a:avLst>
              <a:gd name="adj" fmla="val 3192"/>
            </a:avLst>
          </a:prstGeom>
          <a:solidFill>
            <a:srgbClr val="F2F2F2"/>
          </a:solidFill>
          <a:ln/>
        </p:spPr>
      </p:sp>
      <p:sp>
        <p:nvSpPr>
          <p:cNvPr id="7" name="Text 5"/>
          <p:cNvSpPr/>
          <p:nvPr/>
        </p:nvSpPr>
        <p:spPr>
          <a:xfrm>
            <a:off x="982266" y="3152061"/>
            <a:ext cx="6578679"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matrix = np.array([[1, 2],</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[3, 4]])</a:t>
            </a:r>
            <a:endParaRPr lang="en-US" sz="1550" dirty="0"/>
          </a:p>
        </p:txBody>
      </p:sp>
      <p:sp>
        <p:nvSpPr>
          <p:cNvPr id="8" name="Text 6"/>
          <p:cNvSpPr/>
          <p:nvPr/>
        </p:nvSpPr>
        <p:spPr>
          <a:xfrm>
            <a:off x="793790" y="4159210"/>
            <a:ext cx="695563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This creates a 2×2 matrix with 2 rows and 2 columns.</a:t>
            </a:r>
            <a:endParaRPr lang="en-US" sz="1550" dirty="0"/>
          </a:p>
        </p:txBody>
      </p:sp>
      <p:sp>
        <p:nvSpPr>
          <p:cNvPr id="9" name="Text 7"/>
          <p:cNvSpPr/>
          <p:nvPr/>
        </p:nvSpPr>
        <p:spPr>
          <a:xfrm>
            <a:off x="793790" y="4675108"/>
            <a:ext cx="4428411"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Most Important Command</a:t>
            </a:r>
            <a:endParaRPr lang="en-US" sz="2300" dirty="0"/>
          </a:p>
        </p:txBody>
      </p:sp>
      <p:sp>
        <p:nvSpPr>
          <p:cNvPr id="10" name="Text 8"/>
          <p:cNvSpPr/>
          <p:nvPr/>
        </p:nvSpPr>
        <p:spPr>
          <a:xfrm>
            <a:off x="793790" y="5245537"/>
            <a:ext cx="6955631" cy="6503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pitchFamily="34" charset="0"/>
                <a:ea typeface="Consolas" pitchFamily="34" charset="-122"/>
                <a:cs typeface="Consolas" pitchFamily="34" charset="-120"/>
              </a:rPr>
              <a:t>arr.shape</a:t>
            </a:r>
            <a:r>
              <a:rPr lang="en-US" sz="1550" dirty="0">
                <a:solidFill>
                  <a:srgbClr val="000000"/>
                </a:solidFill>
                <a:latin typeface="Montserrat Medium" pitchFamily="34" charset="0"/>
                <a:ea typeface="Montserrat Medium" pitchFamily="34" charset="-122"/>
                <a:cs typeface="Montserrat Medium" pitchFamily="34" charset="-120"/>
              </a:rPr>
              <a:t> tells you the structure of your array. It returns a tuple showing dimensions:</a:t>
            </a:r>
            <a:endParaRPr lang="en-US" sz="1550" dirty="0"/>
          </a:p>
        </p:txBody>
      </p:sp>
      <p:sp>
        <p:nvSpPr>
          <p:cNvPr id="11" name="Shape 9"/>
          <p:cNvSpPr/>
          <p:nvPr/>
        </p:nvSpPr>
        <p:spPr>
          <a:xfrm>
            <a:off x="793790" y="6119098"/>
            <a:ext cx="6955631" cy="615196"/>
          </a:xfrm>
          <a:prstGeom prst="roundRect">
            <a:avLst>
              <a:gd name="adj" fmla="val 13550"/>
            </a:avLst>
          </a:prstGeom>
          <a:solidFill>
            <a:srgbClr val="F2F2F2"/>
          </a:solidFill>
          <a:ln/>
        </p:spPr>
      </p:sp>
      <p:sp>
        <p:nvSpPr>
          <p:cNvPr id="12" name="Shape 10"/>
          <p:cNvSpPr/>
          <p:nvPr/>
        </p:nvSpPr>
        <p:spPr>
          <a:xfrm>
            <a:off x="783908" y="6119098"/>
            <a:ext cx="6975396" cy="615196"/>
          </a:xfrm>
          <a:prstGeom prst="roundRect">
            <a:avLst>
              <a:gd name="adj" fmla="val 4839"/>
            </a:avLst>
          </a:prstGeom>
          <a:solidFill>
            <a:srgbClr val="F2F2F2"/>
          </a:solidFill>
          <a:ln/>
        </p:spPr>
      </p:sp>
      <p:sp>
        <p:nvSpPr>
          <p:cNvPr id="13" name="Text 11"/>
          <p:cNvSpPr/>
          <p:nvPr/>
        </p:nvSpPr>
        <p:spPr>
          <a:xfrm>
            <a:off x="982266" y="6267926"/>
            <a:ext cx="657867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print(matrix.shape)  # (2, 2)</a:t>
            </a:r>
            <a:endParaRPr lang="en-US" sz="1550" dirty="0"/>
          </a:p>
        </p:txBody>
      </p:sp>
      <p:sp>
        <p:nvSpPr>
          <p:cNvPr id="14" name="Text 12"/>
          <p:cNvSpPr/>
          <p:nvPr/>
        </p:nvSpPr>
        <p:spPr>
          <a:xfrm>
            <a:off x="793790" y="6957536"/>
            <a:ext cx="695563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This means 2 rows and 2 columns.</a:t>
            </a:r>
            <a:endParaRPr lang="en-US" sz="1550" dirty="0"/>
          </a:p>
        </p:txBody>
      </p:sp>
      <p:sp>
        <p:nvSpPr>
          <p:cNvPr id="15" name="Shape 13"/>
          <p:cNvSpPr/>
          <p:nvPr/>
        </p:nvSpPr>
        <p:spPr>
          <a:xfrm>
            <a:off x="8241149" y="1916906"/>
            <a:ext cx="5602962" cy="1811060"/>
          </a:xfrm>
          <a:prstGeom prst="roundRect">
            <a:avLst>
              <a:gd name="adj" fmla="val 460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6" name="Image 0" descr="preencoded.png"/>
          <p:cNvPicPr>
            <a:picLocks noChangeAspect="1"/>
          </p:cNvPicPr>
          <p:nvPr/>
        </p:nvPicPr>
        <p:blipFill>
          <a:blip r:embed="rId3">
            <a:duotone>
              <a:prstClr val="black"/>
              <a:srgbClr val="7030A0">
                <a:tint val="45000"/>
                <a:satMod val="400000"/>
              </a:srgbClr>
            </a:duotone>
          </a:blip>
          <a:stretch>
            <a:fillRect/>
          </a:stretch>
        </p:blipFill>
        <p:spPr>
          <a:xfrm>
            <a:off x="8439507" y="2212181"/>
            <a:ext cx="248007" cy="198358"/>
          </a:xfrm>
          <a:prstGeom prst="rect">
            <a:avLst/>
          </a:prstGeom>
        </p:spPr>
      </p:pic>
      <p:sp>
        <p:nvSpPr>
          <p:cNvPr id="17" name="Text 14"/>
          <p:cNvSpPr/>
          <p:nvPr/>
        </p:nvSpPr>
        <p:spPr>
          <a:xfrm>
            <a:off x="8885873" y="2164794"/>
            <a:ext cx="4759881" cy="128539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Critical Skill:</a:t>
            </a:r>
            <a:r>
              <a:rPr lang="en-US" sz="1550" dirty="0">
                <a:solidFill>
                  <a:srgbClr val="000000"/>
                </a:solidFill>
                <a:latin typeface="Montserrat Medium" pitchFamily="34" charset="0"/>
                <a:ea typeface="Montserrat Medium" pitchFamily="34" charset="-122"/>
                <a:cs typeface="Montserrat Medium" pitchFamily="34" charset="-120"/>
              </a:rPr>
              <a:t> Beginners often get "shape errors" in AI and data science. Learning </a:t>
            </a:r>
            <a:r>
              <a:rPr lang="en-US" sz="1550" dirty="0">
                <a:solidFill>
                  <a:srgbClr val="000000"/>
                </a:solidFill>
                <a:highlight>
                  <a:srgbClr val="F2F2F2"/>
                </a:highlight>
                <a:latin typeface="Consolas" pitchFamily="34" charset="0"/>
                <a:ea typeface="Consolas" pitchFamily="34" charset="-122"/>
                <a:cs typeface="Consolas" pitchFamily="34" charset="-120"/>
              </a:rPr>
              <a:t>.shape</a:t>
            </a:r>
            <a:r>
              <a:rPr lang="en-US" sz="1550" dirty="0">
                <a:solidFill>
                  <a:srgbClr val="000000"/>
                </a:solidFill>
                <a:latin typeface="Montserrat Medium" pitchFamily="34" charset="0"/>
                <a:ea typeface="Montserrat Medium" pitchFamily="34" charset="-122"/>
                <a:cs typeface="Montserrat Medium" pitchFamily="34" charset="-120"/>
              </a:rPr>
              <a:t> now saves massive headaches later. Always check your dimensions!</a:t>
            </a:r>
            <a:endParaRPr lang="en-US" sz="1550" dirty="0"/>
          </a:p>
        </p:txBody>
      </p:sp>
      <p:pic>
        <p:nvPicPr>
          <p:cNvPr id="18" name="Picture 17">
            <a:extLst>
              <a:ext uri="{FF2B5EF4-FFF2-40B4-BE49-F238E27FC236}">
                <a16:creationId xmlns:a16="http://schemas.microsoft.com/office/drawing/2014/main" id="{ECECDB2E-5E3F-8FEC-70F6-00A932A79207}"/>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793790" y="600551"/>
            <a:ext cx="6843951"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Indexing in 2D (Rows and Columns)</a:t>
            </a:r>
            <a:endParaRPr lang="en-US" sz="3100" dirty="0"/>
          </a:p>
        </p:txBody>
      </p:sp>
      <p:pic>
        <p:nvPicPr>
          <p:cNvPr id="3" name="Image 0" descr="preencoded.png"/>
          <p:cNvPicPr>
            <a:picLocks noChangeAspect="1"/>
          </p:cNvPicPr>
          <p:nvPr/>
        </p:nvPicPr>
        <p:blipFill>
          <a:blip r:embed="rId3">
            <a:duotone>
              <a:prstClr val="black"/>
              <a:srgbClr val="720062">
                <a:tint val="45000"/>
                <a:satMod val="400000"/>
              </a:srgbClr>
            </a:duotone>
          </a:blip>
          <a:stretch>
            <a:fillRect/>
          </a:stretch>
        </p:blipFill>
        <p:spPr>
          <a:xfrm>
            <a:off x="793790" y="1334810"/>
            <a:ext cx="793790" cy="1600795"/>
          </a:xfrm>
          <a:prstGeom prst="rect">
            <a:avLst/>
          </a:prstGeom>
        </p:spPr>
      </p:pic>
      <p:sp>
        <p:nvSpPr>
          <p:cNvPr id="4" name="Text 1"/>
          <p:cNvSpPr/>
          <p:nvPr/>
        </p:nvSpPr>
        <p:spPr>
          <a:xfrm>
            <a:off x="1746290" y="1493520"/>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Single Element</a:t>
            </a:r>
            <a:endParaRPr lang="en-US" sz="1550" dirty="0"/>
          </a:p>
        </p:txBody>
      </p:sp>
      <p:sp>
        <p:nvSpPr>
          <p:cNvPr id="5" name="Text 2"/>
          <p:cNvSpPr/>
          <p:nvPr/>
        </p:nvSpPr>
        <p:spPr>
          <a:xfrm>
            <a:off x="1746290" y="1836777"/>
            <a:ext cx="12090321"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Use </a:t>
            </a:r>
            <a:r>
              <a:rPr lang="en-US" sz="1250" dirty="0">
                <a:solidFill>
                  <a:srgbClr val="000000"/>
                </a:solidFill>
                <a:highlight>
                  <a:srgbClr val="F2F2F2"/>
                </a:highlight>
                <a:latin typeface="Consolas" pitchFamily="34" charset="0"/>
                <a:ea typeface="Consolas" pitchFamily="34" charset="-122"/>
                <a:cs typeface="Consolas" pitchFamily="34" charset="-120"/>
              </a:rPr>
              <a:t>[row, column]</a:t>
            </a:r>
            <a:r>
              <a:rPr lang="en-US" sz="1250" dirty="0">
                <a:solidFill>
                  <a:srgbClr val="000000"/>
                </a:solidFill>
                <a:latin typeface="Montserrat Medium" pitchFamily="34" charset="0"/>
                <a:ea typeface="Montserrat Medium" pitchFamily="34" charset="-122"/>
                <a:cs typeface="Montserrat Medium" pitchFamily="34" charset="-120"/>
              </a:rPr>
              <a:t> to get one value:</a:t>
            </a:r>
            <a:endParaRPr lang="en-US" sz="1250" dirty="0"/>
          </a:p>
        </p:txBody>
      </p:sp>
      <p:sp>
        <p:nvSpPr>
          <p:cNvPr id="6" name="Shape 3"/>
          <p:cNvSpPr/>
          <p:nvPr/>
        </p:nvSpPr>
        <p:spPr>
          <a:xfrm>
            <a:off x="1746290" y="2284690"/>
            <a:ext cx="12090321" cy="492204"/>
          </a:xfrm>
          <a:prstGeom prst="roundRect">
            <a:avLst>
              <a:gd name="adj" fmla="val 13549"/>
            </a:avLst>
          </a:prstGeom>
          <a:solidFill>
            <a:srgbClr val="F2F2F2"/>
          </a:solidFill>
          <a:ln/>
        </p:spPr>
      </p:sp>
      <p:sp>
        <p:nvSpPr>
          <p:cNvPr id="7" name="Shape 4"/>
          <p:cNvSpPr/>
          <p:nvPr/>
        </p:nvSpPr>
        <p:spPr>
          <a:xfrm>
            <a:off x="1738432" y="2284690"/>
            <a:ext cx="12106037" cy="492204"/>
          </a:xfrm>
          <a:prstGeom prst="roundRect">
            <a:avLst>
              <a:gd name="adj" fmla="val 4839"/>
            </a:avLst>
          </a:prstGeom>
          <a:solidFill>
            <a:srgbClr val="F2F2F2"/>
          </a:solidFill>
          <a:ln/>
        </p:spPr>
      </p:sp>
      <p:sp>
        <p:nvSpPr>
          <p:cNvPr id="8" name="Text 5"/>
          <p:cNvSpPr/>
          <p:nvPr/>
        </p:nvSpPr>
        <p:spPr>
          <a:xfrm>
            <a:off x="1897142" y="2403753"/>
            <a:ext cx="11788616"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matrix[0, 1]  # Row 0, Column 1</a:t>
            </a:r>
            <a:endParaRPr lang="en-US" sz="1250" dirty="0"/>
          </a:p>
        </p:txBody>
      </p:sp>
      <p:pic>
        <p:nvPicPr>
          <p:cNvPr id="9" name="Image 1" descr="preencoded.png"/>
          <p:cNvPicPr>
            <a:picLocks noChangeAspect="1"/>
          </p:cNvPicPr>
          <p:nvPr/>
        </p:nvPicPr>
        <p:blipFill>
          <a:blip r:embed="rId4">
            <a:duotone>
              <a:prstClr val="black"/>
              <a:srgbClr val="720062">
                <a:tint val="45000"/>
                <a:satMod val="400000"/>
              </a:srgbClr>
            </a:duotone>
          </a:blip>
          <a:stretch>
            <a:fillRect/>
          </a:stretch>
        </p:blipFill>
        <p:spPr>
          <a:xfrm>
            <a:off x="793790" y="2935605"/>
            <a:ext cx="793790" cy="1600795"/>
          </a:xfrm>
          <a:prstGeom prst="rect">
            <a:avLst/>
          </a:prstGeom>
        </p:spPr>
      </p:pic>
      <p:sp>
        <p:nvSpPr>
          <p:cNvPr id="10" name="Text 6"/>
          <p:cNvSpPr/>
          <p:nvPr/>
        </p:nvSpPr>
        <p:spPr>
          <a:xfrm>
            <a:off x="1746290" y="3094315"/>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Entire Column</a:t>
            </a:r>
            <a:endParaRPr lang="en-US" sz="1550" dirty="0"/>
          </a:p>
        </p:txBody>
      </p:sp>
      <p:sp>
        <p:nvSpPr>
          <p:cNvPr id="11" name="Text 7"/>
          <p:cNvSpPr/>
          <p:nvPr/>
        </p:nvSpPr>
        <p:spPr>
          <a:xfrm>
            <a:off x="1746290" y="3437573"/>
            <a:ext cx="12090321" cy="26931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Use </a:t>
            </a:r>
            <a:r>
              <a:rPr lang="en-US" sz="1250" dirty="0">
                <a:solidFill>
                  <a:srgbClr val="000000"/>
                </a:solidFill>
                <a:highlight>
                  <a:srgbClr val="F2F2F2"/>
                </a:highlight>
                <a:latin typeface="Consolas" pitchFamily="34" charset="0"/>
                <a:ea typeface="Consolas" pitchFamily="34" charset="-122"/>
                <a:cs typeface="Consolas" pitchFamily="34" charset="-120"/>
              </a:rPr>
              <a:t>:</a:t>
            </a:r>
            <a:r>
              <a:rPr lang="en-US" sz="1250" dirty="0">
                <a:solidFill>
                  <a:srgbClr val="000000"/>
                </a:solidFill>
                <a:latin typeface="Montserrat Medium" pitchFamily="34" charset="0"/>
                <a:ea typeface="Montserrat Medium" pitchFamily="34" charset="-122"/>
                <a:cs typeface="Montserrat Medium" pitchFamily="34" charset="-120"/>
              </a:rPr>
              <a:t> to mean "all". Get all rows, specific column:</a:t>
            </a:r>
            <a:endParaRPr lang="en-US" sz="1250" dirty="0"/>
          </a:p>
        </p:txBody>
      </p:sp>
      <p:sp>
        <p:nvSpPr>
          <p:cNvPr id="12" name="Shape 8"/>
          <p:cNvSpPr/>
          <p:nvPr/>
        </p:nvSpPr>
        <p:spPr>
          <a:xfrm>
            <a:off x="1746290" y="3885486"/>
            <a:ext cx="12090321" cy="492204"/>
          </a:xfrm>
          <a:prstGeom prst="roundRect">
            <a:avLst>
              <a:gd name="adj" fmla="val 13549"/>
            </a:avLst>
          </a:prstGeom>
          <a:solidFill>
            <a:srgbClr val="F2F2F2"/>
          </a:solidFill>
          <a:ln/>
        </p:spPr>
      </p:sp>
      <p:sp>
        <p:nvSpPr>
          <p:cNvPr id="13" name="Shape 9"/>
          <p:cNvSpPr/>
          <p:nvPr/>
        </p:nvSpPr>
        <p:spPr>
          <a:xfrm>
            <a:off x="1738432" y="3885486"/>
            <a:ext cx="12106037" cy="492204"/>
          </a:xfrm>
          <a:prstGeom prst="roundRect">
            <a:avLst>
              <a:gd name="adj" fmla="val 4839"/>
            </a:avLst>
          </a:prstGeom>
          <a:solidFill>
            <a:srgbClr val="F2F2F2"/>
          </a:solidFill>
          <a:ln/>
        </p:spPr>
      </p:sp>
      <p:sp>
        <p:nvSpPr>
          <p:cNvPr id="14" name="Text 10"/>
          <p:cNvSpPr/>
          <p:nvPr/>
        </p:nvSpPr>
        <p:spPr>
          <a:xfrm>
            <a:off x="1897142" y="4004548"/>
            <a:ext cx="11788616"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matrix[:, 0]  # All rows, Column 0</a:t>
            </a:r>
            <a:endParaRPr lang="en-US" sz="1250" dirty="0"/>
          </a:p>
        </p:txBody>
      </p:sp>
      <p:pic>
        <p:nvPicPr>
          <p:cNvPr id="15" name="Image 2" descr="preencoded.png"/>
          <p:cNvPicPr>
            <a:picLocks noChangeAspect="1"/>
          </p:cNvPicPr>
          <p:nvPr/>
        </p:nvPicPr>
        <p:blipFill>
          <a:blip r:embed="rId5">
            <a:duotone>
              <a:prstClr val="black"/>
              <a:srgbClr val="720062">
                <a:tint val="45000"/>
                <a:satMod val="400000"/>
              </a:srgbClr>
            </a:duotone>
          </a:blip>
          <a:stretch>
            <a:fillRect/>
          </a:stretch>
        </p:blipFill>
        <p:spPr>
          <a:xfrm>
            <a:off x="793790" y="4536400"/>
            <a:ext cx="793790" cy="1585555"/>
          </a:xfrm>
          <a:prstGeom prst="rect">
            <a:avLst/>
          </a:prstGeom>
        </p:spPr>
      </p:pic>
      <p:sp>
        <p:nvSpPr>
          <p:cNvPr id="16" name="Text 11"/>
          <p:cNvSpPr/>
          <p:nvPr/>
        </p:nvSpPr>
        <p:spPr>
          <a:xfrm>
            <a:off x="1746290" y="4695111"/>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Entire Row</a:t>
            </a:r>
            <a:endParaRPr lang="en-US" sz="1550" dirty="0"/>
          </a:p>
        </p:txBody>
      </p:sp>
      <p:sp>
        <p:nvSpPr>
          <p:cNvPr id="17" name="Text 12"/>
          <p:cNvSpPr/>
          <p:nvPr/>
        </p:nvSpPr>
        <p:spPr>
          <a:xfrm>
            <a:off x="1746290" y="5038368"/>
            <a:ext cx="12090321"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Get specific row, all columns:</a:t>
            </a:r>
            <a:endParaRPr lang="en-US" sz="1250" dirty="0"/>
          </a:p>
        </p:txBody>
      </p:sp>
      <p:sp>
        <p:nvSpPr>
          <p:cNvPr id="18" name="Shape 13"/>
          <p:cNvSpPr/>
          <p:nvPr/>
        </p:nvSpPr>
        <p:spPr>
          <a:xfrm>
            <a:off x="1746290" y="5471041"/>
            <a:ext cx="12090321" cy="492204"/>
          </a:xfrm>
          <a:prstGeom prst="roundRect">
            <a:avLst>
              <a:gd name="adj" fmla="val 13549"/>
            </a:avLst>
          </a:prstGeom>
          <a:solidFill>
            <a:srgbClr val="F2F2F2"/>
          </a:solidFill>
          <a:ln/>
        </p:spPr>
      </p:sp>
      <p:sp>
        <p:nvSpPr>
          <p:cNvPr id="19" name="Shape 14"/>
          <p:cNvSpPr/>
          <p:nvPr/>
        </p:nvSpPr>
        <p:spPr>
          <a:xfrm>
            <a:off x="1738432" y="5471041"/>
            <a:ext cx="12106037" cy="492204"/>
          </a:xfrm>
          <a:prstGeom prst="roundRect">
            <a:avLst>
              <a:gd name="adj" fmla="val 4839"/>
            </a:avLst>
          </a:prstGeom>
          <a:solidFill>
            <a:srgbClr val="F2F2F2"/>
          </a:solidFill>
          <a:ln/>
        </p:spPr>
      </p:sp>
      <p:sp>
        <p:nvSpPr>
          <p:cNvPr id="20" name="Text 15"/>
          <p:cNvSpPr/>
          <p:nvPr/>
        </p:nvSpPr>
        <p:spPr>
          <a:xfrm>
            <a:off x="1897142" y="5590103"/>
            <a:ext cx="11788616"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matrix[0, :]  # Row 0, all columns</a:t>
            </a:r>
            <a:endParaRPr lang="en-US" sz="1250" dirty="0"/>
          </a:p>
        </p:txBody>
      </p:sp>
      <p:sp>
        <p:nvSpPr>
          <p:cNvPr id="21" name="Text 16"/>
          <p:cNvSpPr/>
          <p:nvPr/>
        </p:nvSpPr>
        <p:spPr>
          <a:xfrm>
            <a:off x="1031915" y="6479143"/>
            <a:ext cx="12804696" cy="26931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Montserrat Medium" pitchFamily="34" charset="0"/>
                <a:ea typeface="Montserrat Medium" pitchFamily="34" charset="-122"/>
                <a:cs typeface="Montserrat Medium" pitchFamily="34" charset="-120"/>
              </a:rPr>
              <a:t>Analogy:</a:t>
            </a:r>
            <a:r>
              <a:rPr lang="en-US" sz="1250" dirty="0">
                <a:solidFill>
                  <a:srgbClr val="000000"/>
                </a:solidFill>
                <a:latin typeface="Montserrat Medium" pitchFamily="34" charset="0"/>
                <a:ea typeface="Montserrat Medium" pitchFamily="34" charset="-122"/>
                <a:cs typeface="Montserrat Medium" pitchFamily="34" charset="-120"/>
              </a:rPr>
              <a:t> Think of it like Battleship coordinates (A4, B6). </a:t>
            </a:r>
            <a:r>
              <a:rPr lang="en-US" sz="1250" dirty="0">
                <a:solidFill>
                  <a:srgbClr val="000000"/>
                </a:solidFill>
                <a:highlight>
                  <a:srgbClr val="F2F2F2"/>
                </a:highlight>
                <a:latin typeface="Consolas" pitchFamily="34" charset="0"/>
                <a:ea typeface="Consolas" pitchFamily="34" charset="-122"/>
                <a:cs typeface="Consolas" pitchFamily="34" charset="-120"/>
              </a:rPr>
              <a:t>arr[row, col]</a:t>
            </a:r>
            <a:r>
              <a:rPr lang="en-US" sz="1250" dirty="0">
                <a:solidFill>
                  <a:srgbClr val="000000"/>
                </a:solidFill>
                <a:latin typeface="Montserrat Medium" pitchFamily="34" charset="0"/>
                <a:ea typeface="Montserrat Medium" pitchFamily="34" charset="-122"/>
                <a:cs typeface="Montserrat Medium" pitchFamily="34" charset="-120"/>
              </a:rPr>
              <a:t> is just coordinate lookup in your data grid.</a:t>
            </a:r>
            <a:endParaRPr lang="en-US" sz="1250" dirty="0"/>
          </a:p>
        </p:txBody>
      </p:sp>
      <p:sp>
        <p:nvSpPr>
          <p:cNvPr id="22" name="Shape 17"/>
          <p:cNvSpPr/>
          <p:nvPr/>
        </p:nvSpPr>
        <p:spPr>
          <a:xfrm>
            <a:off x="793790" y="6300549"/>
            <a:ext cx="22860" cy="626507"/>
          </a:xfrm>
          <a:prstGeom prst="rect">
            <a:avLst/>
          </a:prstGeom>
          <a:solidFill>
            <a:srgbClr val="720062"/>
          </a:solidFill>
          <a:ln/>
        </p:spPr>
      </p:sp>
      <p:sp>
        <p:nvSpPr>
          <p:cNvPr id="23" name="Text 18"/>
          <p:cNvSpPr/>
          <p:nvPr/>
        </p:nvSpPr>
        <p:spPr>
          <a:xfrm>
            <a:off x="793790" y="7105650"/>
            <a:ext cx="13042821" cy="52339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The comma syntax </a:t>
            </a:r>
            <a:r>
              <a:rPr lang="en-US" sz="1250" dirty="0">
                <a:solidFill>
                  <a:srgbClr val="000000"/>
                </a:solidFill>
                <a:highlight>
                  <a:srgbClr val="F2F2F2"/>
                </a:highlight>
                <a:latin typeface="Consolas" pitchFamily="34" charset="0"/>
                <a:ea typeface="Consolas" pitchFamily="34" charset="-122"/>
                <a:cs typeface="Consolas" pitchFamily="34" charset="-120"/>
              </a:rPr>
              <a:t>[row, column]</a:t>
            </a:r>
            <a:r>
              <a:rPr lang="en-US" sz="1250" dirty="0">
                <a:solidFill>
                  <a:srgbClr val="000000"/>
                </a:solidFill>
                <a:latin typeface="Montserrat Medium" pitchFamily="34" charset="0"/>
                <a:ea typeface="Montserrat Medium" pitchFamily="34" charset="-122"/>
                <a:cs typeface="Montserrat Medium" pitchFamily="34" charset="-120"/>
              </a:rPr>
              <a:t> is how you navigate 2D data. The colon </a:t>
            </a:r>
            <a:r>
              <a:rPr lang="en-US" sz="1250" dirty="0">
                <a:solidFill>
                  <a:srgbClr val="000000"/>
                </a:solidFill>
                <a:highlight>
                  <a:srgbClr val="F2F2F2"/>
                </a:highlight>
                <a:latin typeface="Consolas" pitchFamily="34" charset="0"/>
                <a:ea typeface="Consolas" pitchFamily="34" charset="-122"/>
                <a:cs typeface="Consolas" pitchFamily="34" charset="-120"/>
              </a:rPr>
              <a:t>:</a:t>
            </a:r>
            <a:r>
              <a:rPr lang="en-US" sz="1250" dirty="0">
                <a:solidFill>
                  <a:srgbClr val="000000"/>
                </a:solidFill>
                <a:latin typeface="Montserrat Medium" pitchFamily="34" charset="0"/>
                <a:ea typeface="Montserrat Medium" pitchFamily="34" charset="-122"/>
                <a:cs typeface="Montserrat Medium" pitchFamily="34" charset="-120"/>
              </a:rPr>
              <a:t> means "give me everything along this axis"—it's your wildcard for slicing entire rows or columns.</a:t>
            </a:r>
            <a:endParaRPr lang="en-US" sz="1250" dirty="0"/>
          </a:p>
        </p:txBody>
      </p:sp>
      <p:pic>
        <p:nvPicPr>
          <p:cNvPr id="24" name="Picture 23">
            <a:extLst>
              <a:ext uri="{FF2B5EF4-FFF2-40B4-BE49-F238E27FC236}">
                <a16:creationId xmlns:a16="http://schemas.microsoft.com/office/drawing/2014/main" id="{D231EC97-CB82-1FD4-9DCC-BDE06A902B5B}"/>
              </a:ext>
            </a:extLst>
          </p:cNvPr>
          <p:cNvPicPr>
            <a:picLocks noChangeAspect="1"/>
          </p:cNvPicPr>
          <p:nvPr/>
        </p:nvPicPr>
        <p:blipFill>
          <a:blip r:embed="rId6"/>
          <a:stretch>
            <a:fillRect/>
          </a:stretch>
        </p:blipFill>
        <p:spPr>
          <a:xfrm>
            <a:off x="13342557" y="118334"/>
            <a:ext cx="1125764" cy="41258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793790" y="1868448"/>
            <a:ext cx="7538204"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Creating and Inspecting Arrays</a:t>
            </a:r>
            <a:endParaRPr lang="en-US" sz="3900" dirty="0"/>
          </a:p>
        </p:txBody>
      </p:sp>
      <p:sp>
        <p:nvSpPr>
          <p:cNvPr id="3" name="Text 1"/>
          <p:cNvSpPr/>
          <p:nvPr/>
        </p:nvSpPr>
        <p:spPr>
          <a:xfrm>
            <a:off x="793790" y="298454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Create</a:t>
            </a:r>
            <a:endParaRPr lang="en-US" sz="1950" dirty="0"/>
          </a:p>
        </p:txBody>
      </p:sp>
      <p:sp>
        <p:nvSpPr>
          <p:cNvPr id="4" name="Shape 2"/>
          <p:cNvSpPr/>
          <p:nvPr/>
        </p:nvSpPr>
        <p:spPr>
          <a:xfrm>
            <a:off x="793790" y="3517940"/>
            <a:ext cx="3979664" cy="615196"/>
          </a:xfrm>
          <a:prstGeom prst="roundRect">
            <a:avLst>
              <a:gd name="adj" fmla="val 13550"/>
            </a:avLst>
          </a:prstGeom>
          <a:solidFill>
            <a:srgbClr val="F2F2F2"/>
          </a:solidFill>
          <a:ln/>
        </p:spPr>
      </p:sp>
      <p:sp>
        <p:nvSpPr>
          <p:cNvPr id="5" name="Shape 3"/>
          <p:cNvSpPr/>
          <p:nvPr/>
        </p:nvSpPr>
        <p:spPr>
          <a:xfrm>
            <a:off x="783908" y="3517940"/>
            <a:ext cx="3999428" cy="615196"/>
          </a:xfrm>
          <a:prstGeom prst="roundRect">
            <a:avLst>
              <a:gd name="adj" fmla="val 4839"/>
            </a:avLst>
          </a:prstGeom>
          <a:solidFill>
            <a:srgbClr val="F2F2F2"/>
          </a:solidFill>
          <a:ln/>
        </p:spPr>
      </p:sp>
      <p:sp>
        <p:nvSpPr>
          <p:cNvPr id="6" name="Text 4"/>
          <p:cNvSpPr/>
          <p:nvPr/>
        </p:nvSpPr>
        <p:spPr>
          <a:xfrm>
            <a:off x="982266" y="3666768"/>
            <a:ext cx="3602712"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arr = np.array([1, 2, 3])</a:t>
            </a:r>
            <a:endParaRPr lang="en-US" sz="1550" dirty="0"/>
          </a:p>
        </p:txBody>
      </p:sp>
      <p:sp>
        <p:nvSpPr>
          <p:cNvPr id="7" name="Text 5"/>
          <p:cNvSpPr/>
          <p:nvPr/>
        </p:nvSpPr>
        <p:spPr>
          <a:xfrm>
            <a:off x="793790" y="4356378"/>
            <a:ext cx="3979664"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Convert a Python list into a NumPy array for fast mathematical operations.</a:t>
            </a:r>
            <a:endParaRPr lang="en-US" sz="1550" dirty="0"/>
          </a:p>
        </p:txBody>
      </p:sp>
      <p:sp>
        <p:nvSpPr>
          <p:cNvPr id="8" name="Text 6"/>
          <p:cNvSpPr/>
          <p:nvPr/>
        </p:nvSpPr>
        <p:spPr>
          <a:xfrm>
            <a:off x="5265182" y="298454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Check Shape</a:t>
            </a:r>
            <a:endParaRPr lang="en-US" sz="1950" dirty="0"/>
          </a:p>
        </p:txBody>
      </p:sp>
      <p:sp>
        <p:nvSpPr>
          <p:cNvPr id="9" name="Shape 7"/>
          <p:cNvSpPr/>
          <p:nvPr/>
        </p:nvSpPr>
        <p:spPr>
          <a:xfrm>
            <a:off x="5265182" y="3517940"/>
            <a:ext cx="3979664" cy="615196"/>
          </a:xfrm>
          <a:prstGeom prst="roundRect">
            <a:avLst>
              <a:gd name="adj" fmla="val 13550"/>
            </a:avLst>
          </a:prstGeom>
          <a:solidFill>
            <a:srgbClr val="F2F2F2"/>
          </a:solidFill>
          <a:ln/>
        </p:spPr>
      </p:sp>
      <p:sp>
        <p:nvSpPr>
          <p:cNvPr id="10" name="Shape 8"/>
          <p:cNvSpPr/>
          <p:nvPr/>
        </p:nvSpPr>
        <p:spPr>
          <a:xfrm>
            <a:off x="5255300" y="3517940"/>
            <a:ext cx="3999428" cy="615196"/>
          </a:xfrm>
          <a:prstGeom prst="roundRect">
            <a:avLst>
              <a:gd name="adj" fmla="val 4839"/>
            </a:avLst>
          </a:prstGeom>
          <a:solidFill>
            <a:srgbClr val="F2F2F2"/>
          </a:solidFill>
          <a:ln/>
        </p:spPr>
      </p:sp>
      <p:sp>
        <p:nvSpPr>
          <p:cNvPr id="11" name="Text 9"/>
          <p:cNvSpPr/>
          <p:nvPr/>
        </p:nvSpPr>
        <p:spPr>
          <a:xfrm>
            <a:off x="5453658" y="3666768"/>
            <a:ext cx="3602712"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arr.shape</a:t>
            </a:r>
            <a:endParaRPr lang="en-US" sz="1550" dirty="0"/>
          </a:p>
        </p:txBody>
      </p:sp>
      <p:sp>
        <p:nvSpPr>
          <p:cNvPr id="12" name="Text 10"/>
          <p:cNvSpPr/>
          <p:nvPr/>
        </p:nvSpPr>
        <p:spPr>
          <a:xfrm>
            <a:off x="5265182" y="4356378"/>
            <a:ext cx="3979664"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The most important command in AI. Returns dimensions as a tuple: </a:t>
            </a:r>
            <a:r>
              <a:rPr lang="en-US" sz="1550" dirty="0">
                <a:solidFill>
                  <a:srgbClr val="000000"/>
                </a:solidFill>
                <a:highlight>
                  <a:srgbClr val="F2F2F2"/>
                </a:highlight>
                <a:latin typeface="Consolas" pitchFamily="34" charset="0"/>
                <a:ea typeface="Consolas" pitchFamily="34" charset="-122"/>
                <a:cs typeface="Consolas" pitchFamily="34" charset="-120"/>
              </a:rPr>
              <a:t>(3,)</a:t>
            </a:r>
            <a:r>
              <a:rPr lang="en-US" sz="1550" dirty="0">
                <a:solidFill>
                  <a:srgbClr val="000000"/>
                </a:solidFill>
                <a:latin typeface="Montserrat Medium" pitchFamily="34" charset="0"/>
                <a:ea typeface="Montserrat Medium" pitchFamily="34" charset="-122"/>
                <a:cs typeface="Montserrat Medium" pitchFamily="34" charset="-120"/>
              </a:rPr>
              <a:t> for a 1D array.</a:t>
            </a:r>
            <a:endParaRPr lang="en-US" sz="1550" dirty="0"/>
          </a:p>
        </p:txBody>
      </p:sp>
      <p:sp>
        <p:nvSpPr>
          <p:cNvPr id="13" name="Text 11"/>
          <p:cNvSpPr/>
          <p:nvPr/>
        </p:nvSpPr>
        <p:spPr>
          <a:xfrm>
            <a:off x="9736574" y="298454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Check Type</a:t>
            </a:r>
            <a:endParaRPr lang="en-US" sz="1950" dirty="0"/>
          </a:p>
        </p:txBody>
      </p:sp>
      <p:sp>
        <p:nvSpPr>
          <p:cNvPr id="14" name="Shape 12"/>
          <p:cNvSpPr/>
          <p:nvPr/>
        </p:nvSpPr>
        <p:spPr>
          <a:xfrm>
            <a:off x="9736574" y="3517940"/>
            <a:ext cx="4115038" cy="615196"/>
          </a:xfrm>
          <a:prstGeom prst="roundRect">
            <a:avLst>
              <a:gd name="adj" fmla="val 13550"/>
            </a:avLst>
          </a:prstGeom>
          <a:solidFill>
            <a:srgbClr val="F2F2F2"/>
          </a:solidFill>
          <a:ln/>
        </p:spPr>
      </p:sp>
      <p:sp>
        <p:nvSpPr>
          <p:cNvPr id="15" name="Shape 13"/>
          <p:cNvSpPr/>
          <p:nvPr/>
        </p:nvSpPr>
        <p:spPr>
          <a:xfrm>
            <a:off x="9726692" y="3517940"/>
            <a:ext cx="4134802" cy="615196"/>
          </a:xfrm>
          <a:prstGeom prst="roundRect">
            <a:avLst>
              <a:gd name="adj" fmla="val 4839"/>
            </a:avLst>
          </a:prstGeom>
          <a:solidFill>
            <a:srgbClr val="F2F2F2"/>
          </a:solidFill>
          <a:ln/>
        </p:spPr>
      </p:sp>
      <p:sp>
        <p:nvSpPr>
          <p:cNvPr id="16" name="Text 14"/>
          <p:cNvSpPr/>
          <p:nvPr/>
        </p:nvSpPr>
        <p:spPr>
          <a:xfrm>
            <a:off x="9925050" y="3666768"/>
            <a:ext cx="3738086"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arr.dtype</a:t>
            </a:r>
            <a:endParaRPr lang="en-US" sz="1550" dirty="0"/>
          </a:p>
        </p:txBody>
      </p:sp>
      <p:sp>
        <p:nvSpPr>
          <p:cNvPr id="17" name="Text 15"/>
          <p:cNvSpPr/>
          <p:nvPr/>
        </p:nvSpPr>
        <p:spPr>
          <a:xfrm>
            <a:off x="9736574" y="4356378"/>
            <a:ext cx="4115038" cy="6655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Shows the data type: integers (</a:t>
            </a:r>
            <a:r>
              <a:rPr lang="en-US" sz="1550" dirty="0">
                <a:solidFill>
                  <a:srgbClr val="000000"/>
                </a:solidFill>
                <a:highlight>
                  <a:srgbClr val="F2F2F2"/>
                </a:highlight>
                <a:latin typeface="Consolas" pitchFamily="34" charset="0"/>
                <a:ea typeface="Consolas" pitchFamily="34" charset="-122"/>
                <a:cs typeface="Consolas" pitchFamily="34" charset="-120"/>
              </a:rPr>
              <a:t>int64</a:t>
            </a:r>
            <a:r>
              <a:rPr lang="en-US" sz="1550" dirty="0">
                <a:solidFill>
                  <a:srgbClr val="000000"/>
                </a:solidFill>
                <a:latin typeface="Montserrat Medium" pitchFamily="34" charset="0"/>
                <a:ea typeface="Montserrat Medium" pitchFamily="34" charset="-122"/>
                <a:cs typeface="Montserrat Medium" pitchFamily="34" charset="-120"/>
              </a:rPr>
              <a:t>), floats (</a:t>
            </a:r>
            <a:r>
              <a:rPr lang="en-US" sz="1550" dirty="0">
                <a:solidFill>
                  <a:srgbClr val="000000"/>
                </a:solidFill>
                <a:highlight>
                  <a:srgbClr val="F2F2F2"/>
                </a:highlight>
                <a:latin typeface="Consolas" pitchFamily="34" charset="0"/>
                <a:ea typeface="Consolas" pitchFamily="34" charset="-122"/>
                <a:cs typeface="Consolas" pitchFamily="34" charset="-120"/>
              </a:rPr>
              <a:t>float64</a:t>
            </a:r>
            <a:r>
              <a:rPr lang="en-US" sz="1550" dirty="0">
                <a:solidFill>
                  <a:srgbClr val="000000"/>
                </a:solidFill>
                <a:latin typeface="Montserrat Medium" pitchFamily="34" charset="0"/>
                <a:ea typeface="Montserrat Medium" pitchFamily="34" charset="-122"/>
                <a:cs typeface="Montserrat Medium" pitchFamily="34" charset="-120"/>
              </a:rPr>
              <a:t>), etc.</a:t>
            </a:r>
            <a:endParaRPr lang="en-US" sz="1550" dirty="0"/>
          </a:p>
        </p:txBody>
      </p:sp>
      <p:sp>
        <p:nvSpPr>
          <p:cNvPr id="18" name="Text 16"/>
          <p:cNvSpPr/>
          <p:nvPr/>
        </p:nvSpPr>
        <p:spPr>
          <a:xfrm>
            <a:off x="793790" y="5726073"/>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These three commands form your array inspection toolkit. Before performing any operations, check your shape to ensure your data has the structure you expect. Type checking helps catch errors where numbers are accidentally stored as text.</a:t>
            </a:r>
            <a:endParaRPr lang="en-US" sz="1550" dirty="0"/>
          </a:p>
        </p:txBody>
      </p:sp>
      <p:pic>
        <p:nvPicPr>
          <p:cNvPr id="19" name="Picture 18">
            <a:extLst>
              <a:ext uri="{FF2B5EF4-FFF2-40B4-BE49-F238E27FC236}">
                <a16:creationId xmlns:a16="http://schemas.microsoft.com/office/drawing/2014/main" id="{29C3CD59-BB00-8124-AF5D-F2340132B065}"/>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793790" y="899874"/>
            <a:ext cx="807196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Common NumPy Methods (Math)</a:t>
            </a:r>
            <a:endParaRPr lang="en-US" sz="3900" dirty="0"/>
          </a:p>
        </p:txBody>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3790" y="1916787"/>
            <a:ext cx="496133" cy="496133"/>
          </a:xfrm>
          <a:prstGeom prst="rect">
            <a:avLst/>
          </a:prstGeom>
        </p:spPr>
      </p:pic>
      <p:sp>
        <p:nvSpPr>
          <p:cNvPr id="4" name="Text 1"/>
          <p:cNvSpPr/>
          <p:nvPr/>
        </p:nvSpPr>
        <p:spPr>
          <a:xfrm>
            <a:off x="793790" y="26609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np.mean(arr)</a:t>
            </a:r>
            <a:endParaRPr lang="en-US" sz="1950" dirty="0"/>
          </a:p>
        </p:txBody>
      </p:sp>
      <p:sp>
        <p:nvSpPr>
          <p:cNvPr id="5" name="Text 2"/>
          <p:cNvSpPr/>
          <p:nvPr/>
        </p:nvSpPr>
        <p:spPr>
          <a:xfrm>
            <a:off x="793790" y="3090148"/>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Calculate the average of all values in the array. Essential for statistical analysis.</a:t>
            </a:r>
            <a:endParaRPr lang="en-US" sz="1550" dirty="0"/>
          </a:p>
        </p:txBody>
      </p:sp>
      <p:pic>
        <p:nvPicPr>
          <p:cNvPr id="6"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39144" y="1916787"/>
            <a:ext cx="496133" cy="496133"/>
          </a:xfrm>
          <a:prstGeom prst="rect">
            <a:avLst/>
          </a:prstGeom>
        </p:spPr>
      </p:pic>
      <p:sp>
        <p:nvSpPr>
          <p:cNvPr id="7" name="Text 3"/>
          <p:cNvSpPr/>
          <p:nvPr/>
        </p:nvSpPr>
        <p:spPr>
          <a:xfrm>
            <a:off x="7439144" y="26609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np.max(arr)</a:t>
            </a:r>
            <a:endParaRPr lang="en-US" sz="1950" dirty="0"/>
          </a:p>
        </p:txBody>
      </p:sp>
      <p:sp>
        <p:nvSpPr>
          <p:cNvPr id="8" name="Text 4"/>
          <p:cNvSpPr/>
          <p:nvPr/>
        </p:nvSpPr>
        <p:spPr>
          <a:xfrm>
            <a:off x="7439144" y="3090148"/>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Find the highest number in the array. Useful for identifying peaks or outliers.</a:t>
            </a:r>
            <a:endParaRPr lang="en-US" sz="1550" dirty="0"/>
          </a:p>
        </p:txBody>
      </p:sp>
      <p:pic>
        <p:nvPicPr>
          <p:cNvPr id="9"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3790" y="4122063"/>
            <a:ext cx="496133" cy="496133"/>
          </a:xfrm>
          <a:prstGeom prst="rect">
            <a:avLst/>
          </a:prstGeom>
        </p:spPr>
      </p:pic>
      <p:sp>
        <p:nvSpPr>
          <p:cNvPr id="10" name="Text 5"/>
          <p:cNvSpPr/>
          <p:nvPr/>
        </p:nvSpPr>
        <p:spPr>
          <a:xfrm>
            <a:off x="793790" y="48662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np.argmax(arr)</a:t>
            </a:r>
            <a:endParaRPr lang="en-US" sz="1950" dirty="0"/>
          </a:p>
        </p:txBody>
      </p:sp>
      <p:sp>
        <p:nvSpPr>
          <p:cNvPr id="11" name="Text 6"/>
          <p:cNvSpPr/>
          <p:nvPr/>
        </p:nvSpPr>
        <p:spPr>
          <a:xfrm>
            <a:off x="793790" y="5295424"/>
            <a:ext cx="6397347"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Return the </a:t>
            </a:r>
            <a:r>
              <a:rPr lang="en-US" sz="1550" i="1" dirty="0">
                <a:solidFill>
                  <a:srgbClr val="000000"/>
                </a:solidFill>
                <a:latin typeface="Montserrat Medium" pitchFamily="34" charset="0"/>
                <a:ea typeface="Montserrat Medium" pitchFamily="34" charset="-122"/>
                <a:cs typeface="Montserrat Medium" pitchFamily="34" charset="-120"/>
              </a:rPr>
              <a:t>index location</a:t>
            </a:r>
            <a:r>
              <a:rPr lang="en-US" sz="1550" dirty="0">
                <a:solidFill>
                  <a:srgbClr val="000000"/>
                </a:solidFill>
                <a:latin typeface="Montserrat Medium" pitchFamily="34" charset="0"/>
                <a:ea typeface="Montserrat Medium" pitchFamily="34" charset="-122"/>
                <a:cs typeface="Montserrat Medium" pitchFamily="34" charset="-120"/>
              </a:rPr>
              <a:t> of the highest number. Critical for classification tasks—finding the "winner".</a:t>
            </a:r>
            <a:endParaRPr lang="en-US" sz="1550" dirty="0"/>
          </a:p>
        </p:txBody>
      </p:sp>
      <p:pic>
        <p:nvPicPr>
          <p:cNvPr id="1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39144" y="4122063"/>
            <a:ext cx="496133" cy="496133"/>
          </a:xfrm>
          <a:prstGeom prst="rect">
            <a:avLst/>
          </a:prstGeom>
        </p:spPr>
      </p:pic>
      <p:sp>
        <p:nvSpPr>
          <p:cNvPr id="13" name="Text 7"/>
          <p:cNvSpPr/>
          <p:nvPr/>
        </p:nvSpPr>
        <p:spPr>
          <a:xfrm>
            <a:off x="7439144" y="48662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np.sum(arr)</a:t>
            </a:r>
            <a:endParaRPr lang="en-US" sz="1950" dirty="0"/>
          </a:p>
        </p:txBody>
      </p:sp>
      <p:sp>
        <p:nvSpPr>
          <p:cNvPr id="14" name="Text 8"/>
          <p:cNvSpPr/>
          <p:nvPr/>
        </p:nvSpPr>
        <p:spPr>
          <a:xfrm>
            <a:off x="7439144" y="5295424"/>
            <a:ext cx="639746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Add up all values in the array. The foundation for many statistical calculations.</a:t>
            </a:r>
            <a:endParaRPr lang="en-US" sz="1550" dirty="0"/>
          </a:p>
        </p:txBody>
      </p:sp>
      <p:sp>
        <p:nvSpPr>
          <p:cNvPr id="15" name="Shape 9"/>
          <p:cNvSpPr/>
          <p:nvPr/>
        </p:nvSpPr>
        <p:spPr>
          <a:xfrm>
            <a:off x="793790" y="6153745"/>
            <a:ext cx="13042821" cy="1175980"/>
          </a:xfrm>
          <a:prstGeom prst="roundRect">
            <a:avLst>
              <a:gd name="adj" fmla="val 708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6" name="Image 4" descr="preencoded.png"/>
          <p:cNvPicPr>
            <a:picLocks noChangeAspect="1"/>
          </p:cNvPicPr>
          <p:nvPr/>
        </p:nvPicPr>
        <p:blipFill>
          <a:blip r:embed="rId11">
            <a:duotone>
              <a:prstClr val="black"/>
              <a:srgbClr val="7030A0">
                <a:tint val="45000"/>
                <a:satMod val="400000"/>
              </a:srgbClr>
            </a:duotone>
          </a:blip>
          <a:stretch>
            <a:fillRect/>
          </a:stretch>
        </p:blipFill>
        <p:spPr>
          <a:xfrm>
            <a:off x="992148" y="6449020"/>
            <a:ext cx="248007" cy="198358"/>
          </a:xfrm>
          <a:prstGeom prst="rect">
            <a:avLst/>
          </a:prstGeom>
        </p:spPr>
      </p:pic>
      <p:sp>
        <p:nvSpPr>
          <p:cNvPr id="17" name="Text 10"/>
          <p:cNvSpPr/>
          <p:nvPr/>
        </p:nvSpPr>
        <p:spPr>
          <a:xfrm>
            <a:off x="1438513" y="6401633"/>
            <a:ext cx="12199739" cy="65031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AI Connection:</a:t>
            </a:r>
            <a:r>
              <a:rPr lang="en-US" sz="1550" dirty="0">
                <a:solidFill>
                  <a:srgbClr val="000000"/>
                </a:solidFill>
                <a:latin typeface="Montserrat Medium" pitchFamily="34" charset="0"/>
                <a:ea typeface="Montserrat Medium" pitchFamily="34" charset="-122"/>
                <a:cs typeface="Montserrat Medium" pitchFamily="34" charset="-120"/>
              </a:rPr>
              <a:t> </a:t>
            </a:r>
            <a:r>
              <a:rPr lang="en-US" sz="1550" dirty="0">
                <a:solidFill>
                  <a:srgbClr val="000000"/>
                </a:solidFill>
                <a:highlight>
                  <a:srgbClr val="F2F2F2"/>
                </a:highlight>
                <a:latin typeface="Consolas" pitchFamily="34" charset="0"/>
                <a:ea typeface="Consolas" pitchFamily="34" charset="-122"/>
                <a:cs typeface="Consolas" pitchFamily="34" charset="-120"/>
              </a:rPr>
              <a:t>argmax</a:t>
            </a:r>
            <a:r>
              <a:rPr lang="en-US" sz="1550" dirty="0">
                <a:solidFill>
                  <a:srgbClr val="000000"/>
                </a:solidFill>
                <a:latin typeface="Montserrat Medium" pitchFamily="34" charset="0"/>
                <a:ea typeface="Montserrat Medium" pitchFamily="34" charset="-122"/>
                <a:cs typeface="Montserrat Medium" pitchFamily="34" charset="-120"/>
              </a:rPr>
              <a:t> is crucial in machine learning. When a model predicts probabilities for different classes, </a:t>
            </a:r>
            <a:r>
              <a:rPr lang="en-US" sz="1550" dirty="0">
                <a:solidFill>
                  <a:srgbClr val="000000"/>
                </a:solidFill>
                <a:highlight>
                  <a:srgbClr val="F2F2F2"/>
                </a:highlight>
                <a:latin typeface="Consolas" pitchFamily="34" charset="0"/>
                <a:ea typeface="Consolas" pitchFamily="34" charset="-122"/>
                <a:cs typeface="Consolas" pitchFamily="34" charset="-120"/>
              </a:rPr>
              <a:t>argmax</a:t>
            </a:r>
            <a:r>
              <a:rPr lang="en-US" sz="1550" dirty="0">
                <a:solidFill>
                  <a:srgbClr val="000000"/>
                </a:solidFill>
                <a:latin typeface="Montserrat Medium" pitchFamily="34" charset="0"/>
                <a:ea typeface="Montserrat Medium" pitchFamily="34" charset="-122"/>
                <a:cs typeface="Montserrat Medium" pitchFamily="34" charset="-120"/>
              </a:rPr>
              <a:t> tells you which class won.</a:t>
            </a:r>
            <a:endParaRPr lang="en-US" sz="1550" dirty="0"/>
          </a:p>
        </p:txBody>
      </p:sp>
      <p:pic>
        <p:nvPicPr>
          <p:cNvPr id="18" name="Picture 17">
            <a:extLst>
              <a:ext uri="{FF2B5EF4-FFF2-40B4-BE49-F238E27FC236}">
                <a16:creationId xmlns:a16="http://schemas.microsoft.com/office/drawing/2014/main" id="{DF380389-D5CB-4E58-6C25-2FE54C25D255}"/>
              </a:ext>
            </a:extLst>
          </p:cNvPr>
          <p:cNvPicPr>
            <a:picLocks noChangeAspect="1"/>
          </p:cNvPicPr>
          <p:nvPr/>
        </p:nvPicPr>
        <p:blipFill>
          <a:blip r:embed="rId12"/>
          <a:stretch>
            <a:fillRect/>
          </a:stretch>
        </p:blipFill>
        <p:spPr>
          <a:xfrm>
            <a:off x="13342557" y="118334"/>
            <a:ext cx="1125764" cy="412584"/>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793790" y="685443"/>
            <a:ext cx="7297936"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Generating Fake Data (Random)</a:t>
            </a:r>
            <a:endParaRPr lang="en-US" sz="3700" dirty="0"/>
          </a:p>
        </p:txBody>
      </p:sp>
      <p:sp>
        <p:nvSpPr>
          <p:cNvPr id="3" name="Text 1"/>
          <p:cNvSpPr/>
          <p:nvPr/>
        </p:nvSpPr>
        <p:spPr>
          <a:xfrm>
            <a:off x="793790" y="1745813"/>
            <a:ext cx="2834402"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Why Generate Data?</a:t>
            </a:r>
            <a:endParaRPr lang="en-US" sz="2200" dirty="0"/>
          </a:p>
        </p:txBody>
      </p:sp>
      <p:sp>
        <p:nvSpPr>
          <p:cNvPr id="4" name="Text 2"/>
          <p:cNvSpPr/>
          <p:nvPr/>
        </p:nvSpPr>
        <p:spPr>
          <a:xfrm>
            <a:off x="793790" y="2287667"/>
            <a:ext cx="6291382"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Sometimes you need data to test your code, but you don't have a real file yet. NumPy can create realistic test data instantly.</a:t>
            </a:r>
            <a:endParaRPr lang="en-US" sz="1450" dirty="0"/>
          </a:p>
        </p:txBody>
      </p:sp>
      <p:pic>
        <p:nvPicPr>
          <p:cNvPr id="5" name="Image 0" descr="preencoded.png"/>
          <p:cNvPicPr>
            <a:picLocks noChangeAspect="1"/>
          </p:cNvPicPr>
          <p:nvPr/>
        </p:nvPicPr>
        <p:blipFill>
          <a:blip r:embed="rId3"/>
          <a:stretch>
            <a:fillRect/>
          </a:stretch>
        </p:blipFill>
        <p:spPr>
          <a:xfrm>
            <a:off x="2295168" y="3103126"/>
            <a:ext cx="3288506" cy="3288506"/>
          </a:xfrm>
          <a:prstGeom prst="rect">
            <a:avLst/>
          </a:prstGeom>
        </p:spPr>
      </p:pic>
      <p:sp>
        <p:nvSpPr>
          <p:cNvPr id="6" name="Text 3"/>
          <p:cNvSpPr/>
          <p:nvPr/>
        </p:nvSpPr>
        <p:spPr>
          <a:xfrm>
            <a:off x="7552849" y="1745813"/>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Random Methods</a:t>
            </a:r>
            <a:endParaRPr lang="en-US" sz="2200" dirty="0"/>
          </a:p>
        </p:txBody>
      </p:sp>
      <p:sp>
        <p:nvSpPr>
          <p:cNvPr id="7" name="Shape 4"/>
          <p:cNvSpPr/>
          <p:nvPr/>
        </p:nvSpPr>
        <p:spPr>
          <a:xfrm>
            <a:off x="7552849" y="2411432"/>
            <a:ext cx="94178" cy="94178"/>
          </a:xfrm>
          <a:prstGeom prst="roundRect">
            <a:avLst>
              <a:gd name="adj" fmla="val 485464"/>
            </a:avLst>
          </a:prstGeom>
          <a:solidFill>
            <a:srgbClr val="720062"/>
          </a:solidFill>
          <a:ln/>
        </p:spPr>
      </p:sp>
      <p:sp>
        <p:nvSpPr>
          <p:cNvPr id="8" name="Text 5"/>
          <p:cNvSpPr/>
          <p:nvPr/>
        </p:nvSpPr>
        <p:spPr>
          <a:xfrm>
            <a:off x="7835503" y="2311241"/>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Random Integers</a:t>
            </a:r>
            <a:endParaRPr lang="en-US" sz="1850" dirty="0"/>
          </a:p>
        </p:txBody>
      </p:sp>
      <p:sp>
        <p:nvSpPr>
          <p:cNvPr id="9" name="Shape 6"/>
          <p:cNvSpPr/>
          <p:nvPr/>
        </p:nvSpPr>
        <p:spPr>
          <a:xfrm>
            <a:off x="7835503" y="2817971"/>
            <a:ext cx="6008727" cy="584359"/>
          </a:xfrm>
          <a:prstGeom prst="roundRect">
            <a:avLst>
              <a:gd name="adj" fmla="val 13552"/>
            </a:avLst>
          </a:prstGeom>
          <a:solidFill>
            <a:srgbClr val="F2F2F2"/>
          </a:solidFill>
          <a:ln/>
        </p:spPr>
      </p:sp>
      <p:sp>
        <p:nvSpPr>
          <p:cNvPr id="10" name="Shape 7"/>
          <p:cNvSpPr/>
          <p:nvPr/>
        </p:nvSpPr>
        <p:spPr>
          <a:xfrm>
            <a:off x="7826097" y="2817971"/>
            <a:ext cx="6027539" cy="584359"/>
          </a:xfrm>
          <a:prstGeom prst="roundRect">
            <a:avLst>
              <a:gd name="adj" fmla="val 4840"/>
            </a:avLst>
          </a:prstGeom>
          <a:solidFill>
            <a:srgbClr val="F2F2F2"/>
          </a:solidFill>
          <a:ln/>
        </p:spPr>
      </p:sp>
      <p:sp>
        <p:nvSpPr>
          <p:cNvPr id="11" name="Text 8"/>
          <p:cNvSpPr/>
          <p:nvPr/>
        </p:nvSpPr>
        <p:spPr>
          <a:xfrm>
            <a:off x="8014573" y="2959298"/>
            <a:ext cx="565058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np.random.randint(low, high, size)</a:t>
            </a:r>
            <a:endParaRPr lang="en-US" sz="1450" dirty="0"/>
          </a:p>
        </p:txBody>
      </p:sp>
      <p:sp>
        <p:nvSpPr>
          <p:cNvPr id="12" name="Text 9"/>
          <p:cNvSpPr/>
          <p:nvPr/>
        </p:nvSpPr>
        <p:spPr>
          <a:xfrm>
            <a:off x="7835503" y="3614380"/>
            <a:ext cx="6008727" cy="61864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Example: </a:t>
            </a:r>
            <a:r>
              <a:rPr lang="en-US" sz="1450" dirty="0">
                <a:solidFill>
                  <a:srgbClr val="000000"/>
                </a:solidFill>
                <a:highlight>
                  <a:srgbClr val="F2F2F2"/>
                </a:highlight>
                <a:latin typeface="Consolas" pitchFamily="34" charset="0"/>
                <a:ea typeface="Consolas" pitchFamily="34" charset="-122"/>
                <a:cs typeface="Consolas" pitchFamily="34" charset="-120"/>
              </a:rPr>
              <a:t>dice_rolls = np.random.randint(1, 7, 100)</a:t>
            </a:r>
            <a:r>
              <a:rPr lang="en-US" sz="1450" dirty="0">
                <a:solidFill>
                  <a:srgbClr val="000000"/>
                </a:solidFill>
                <a:latin typeface="Montserrat Medium" pitchFamily="34" charset="0"/>
                <a:ea typeface="Montserrat Medium" pitchFamily="34" charset="-122"/>
                <a:cs typeface="Montserrat Medium" pitchFamily="34" charset="-120"/>
              </a:rPr>
              <a:t> simulates 100 dice throws.</a:t>
            </a:r>
            <a:endParaRPr lang="en-US" sz="1450" dirty="0"/>
          </a:p>
        </p:txBody>
      </p:sp>
      <p:sp>
        <p:nvSpPr>
          <p:cNvPr id="13" name="Shape 10"/>
          <p:cNvSpPr/>
          <p:nvPr/>
        </p:nvSpPr>
        <p:spPr>
          <a:xfrm>
            <a:off x="7552849" y="4710291"/>
            <a:ext cx="94178" cy="94178"/>
          </a:xfrm>
          <a:prstGeom prst="roundRect">
            <a:avLst>
              <a:gd name="adj" fmla="val 485464"/>
            </a:avLst>
          </a:prstGeom>
          <a:solidFill>
            <a:srgbClr val="720062"/>
          </a:solidFill>
          <a:ln/>
        </p:spPr>
      </p:sp>
      <p:sp>
        <p:nvSpPr>
          <p:cNvPr id="14" name="Text 11"/>
          <p:cNvSpPr/>
          <p:nvPr/>
        </p:nvSpPr>
        <p:spPr>
          <a:xfrm>
            <a:off x="7835503" y="4610100"/>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Random Decimals</a:t>
            </a:r>
            <a:endParaRPr lang="en-US" sz="1850" dirty="0"/>
          </a:p>
        </p:txBody>
      </p:sp>
      <p:sp>
        <p:nvSpPr>
          <p:cNvPr id="15" name="Shape 12"/>
          <p:cNvSpPr/>
          <p:nvPr/>
        </p:nvSpPr>
        <p:spPr>
          <a:xfrm>
            <a:off x="7835503" y="5116830"/>
            <a:ext cx="6008727" cy="584359"/>
          </a:xfrm>
          <a:prstGeom prst="roundRect">
            <a:avLst>
              <a:gd name="adj" fmla="val 13552"/>
            </a:avLst>
          </a:prstGeom>
          <a:solidFill>
            <a:srgbClr val="F2F2F2"/>
          </a:solidFill>
          <a:ln/>
        </p:spPr>
      </p:sp>
      <p:sp>
        <p:nvSpPr>
          <p:cNvPr id="16" name="Shape 13"/>
          <p:cNvSpPr/>
          <p:nvPr/>
        </p:nvSpPr>
        <p:spPr>
          <a:xfrm>
            <a:off x="7826097" y="5116830"/>
            <a:ext cx="6027539" cy="584359"/>
          </a:xfrm>
          <a:prstGeom prst="roundRect">
            <a:avLst>
              <a:gd name="adj" fmla="val 4840"/>
            </a:avLst>
          </a:prstGeom>
          <a:solidFill>
            <a:srgbClr val="F2F2F2"/>
          </a:solidFill>
          <a:ln/>
        </p:spPr>
      </p:sp>
      <p:sp>
        <p:nvSpPr>
          <p:cNvPr id="17" name="Text 14"/>
          <p:cNvSpPr/>
          <p:nvPr/>
        </p:nvSpPr>
        <p:spPr>
          <a:xfrm>
            <a:off x="8014573" y="5258157"/>
            <a:ext cx="5650587"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np.random.rand(rows, cols)</a:t>
            </a:r>
            <a:endParaRPr lang="en-US" sz="1450" dirty="0"/>
          </a:p>
        </p:txBody>
      </p:sp>
      <p:sp>
        <p:nvSpPr>
          <p:cNvPr id="18" name="Text 15"/>
          <p:cNvSpPr/>
          <p:nvPr/>
        </p:nvSpPr>
        <p:spPr>
          <a:xfrm>
            <a:off x="7835503" y="5913239"/>
            <a:ext cx="6008727"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Generates random decimals between 0 and 1. Perfect for probabilities or test matrices.</a:t>
            </a:r>
            <a:endParaRPr lang="en-US" sz="1450" dirty="0"/>
          </a:p>
        </p:txBody>
      </p:sp>
      <p:sp>
        <p:nvSpPr>
          <p:cNvPr id="19" name="Text 16"/>
          <p:cNvSpPr/>
          <p:nvPr/>
        </p:nvSpPr>
        <p:spPr>
          <a:xfrm>
            <a:off x="793790" y="6940748"/>
            <a:ext cx="13042821"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This is how you simulate games, create dummy datasets for practice, or generate test data for plotting. It's an essential tool for learning and prototyping before you have real data.</a:t>
            </a:r>
            <a:endParaRPr lang="en-US" sz="1450" dirty="0"/>
          </a:p>
        </p:txBody>
      </p:sp>
      <p:pic>
        <p:nvPicPr>
          <p:cNvPr id="20" name="Picture 19">
            <a:extLst>
              <a:ext uri="{FF2B5EF4-FFF2-40B4-BE49-F238E27FC236}">
                <a16:creationId xmlns:a16="http://schemas.microsoft.com/office/drawing/2014/main" id="{47E4D020-404B-CDBA-F677-1295C0D72478}"/>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793790" y="1082635"/>
            <a:ext cx="1367195" cy="373142"/>
          </a:xfrm>
          <a:prstGeom prst="roundRect">
            <a:avLst>
              <a:gd name="adj" fmla="val 1787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1189792"/>
            <a:ext cx="158710" cy="158710"/>
          </a:xfrm>
          <a:prstGeom prst="rect">
            <a:avLst/>
          </a:prstGeom>
        </p:spPr>
      </p:pic>
      <p:sp>
        <p:nvSpPr>
          <p:cNvPr id="4" name="Text 1"/>
          <p:cNvSpPr/>
          <p:nvPr/>
        </p:nvSpPr>
        <p:spPr>
          <a:xfrm>
            <a:off x="1150858" y="1142167"/>
            <a:ext cx="891064"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MODULE 4</a:t>
            </a:r>
            <a:endParaRPr lang="en-US" sz="1250" dirty="0"/>
          </a:p>
        </p:txBody>
      </p:sp>
      <p:sp>
        <p:nvSpPr>
          <p:cNvPr id="5" name="Text 2"/>
          <p:cNvSpPr/>
          <p:nvPr/>
        </p:nvSpPr>
        <p:spPr>
          <a:xfrm>
            <a:off x="793790" y="1535073"/>
            <a:ext cx="733425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Pandas: The Data Workstation</a:t>
            </a:r>
            <a:endParaRPr lang="en-US" sz="3900" dirty="0"/>
          </a:p>
        </p:txBody>
      </p:sp>
      <p:sp>
        <p:nvSpPr>
          <p:cNvPr id="6" name="Shape 3"/>
          <p:cNvSpPr/>
          <p:nvPr/>
        </p:nvSpPr>
        <p:spPr>
          <a:xfrm>
            <a:off x="793790" y="2452807"/>
            <a:ext cx="6422231" cy="1476256"/>
          </a:xfrm>
          <a:prstGeom prst="roundRect">
            <a:avLst>
              <a:gd name="adj" fmla="val 3226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7" name="Text 4"/>
          <p:cNvSpPr/>
          <p:nvPr/>
        </p:nvSpPr>
        <p:spPr>
          <a:xfrm>
            <a:off x="999768" y="265878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Tabular Data</a:t>
            </a:r>
            <a:endParaRPr lang="en-US" sz="1950" dirty="0"/>
          </a:p>
        </p:txBody>
      </p:sp>
      <p:sp>
        <p:nvSpPr>
          <p:cNvPr id="8" name="Text 5"/>
          <p:cNvSpPr/>
          <p:nvPr/>
        </p:nvSpPr>
        <p:spPr>
          <a:xfrm>
            <a:off x="999768" y="3088005"/>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Handles rows and columns like Excel, but with the power of Python code.</a:t>
            </a:r>
            <a:endParaRPr lang="en-US" sz="1550" dirty="0"/>
          </a:p>
        </p:txBody>
      </p:sp>
      <p:sp>
        <p:nvSpPr>
          <p:cNvPr id="9" name="Shape 6"/>
          <p:cNvSpPr/>
          <p:nvPr/>
        </p:nvSpPr>
        <p:spPr>
          <a:xfrm>
            <a:off x="7414379" y="2452807"/>
            <a:ext cx="6422231" cy="1476256"/>
          </a:xfrm>
          <a:prstGeom prst="roundRect">
            <a:avLst>
              <a:gd name="adj" fmla="val 3226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0" name="Text 7"/>
          <p:cNvSpPr/>
          <p:nvPr/>
        </p:nvSpPr>
        <p:spPr>
          <a:xfrm>
            <a:off x="7620357" y="2658785"/>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Universal Reader</a:t>
            </a:r>
            <a:endParaRPr lang="en-US" sz="1950" dirty="0"/>
          </a:p>
        </p:txBody>
      </p:sp>
      <p:sp>
        <p:nvSpPr>
          <p:cNvPr id="11" name="Text 8"/>
          <p:cNvSpPr/>
          <p:nvPr/>
        </p:nvSpPr>
        <p:spPr>
          <a:xfrm>
            <a:off x="7620357" y="3088005"/>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Read almost any data format: CSV, Excel, JSON, SQL, HTML, and more.</a:t>
            </a:r>
            <a:endParaRPr lang="en-US" sz="1550" dirty="0"/>
          </a:p>
        </p:txBody>
      </p:sp>
      <p:sp>
        <p:nvSpPr>
          <p:cNvPr id="12" name="Shape 9"/>
          <p:cNvSpPr/>
          <p:nvPr/>
        </p:nvSpPr>
        <p:spPr>
          <a:xfrm>
            <a:off x="793790" y="4127421"/>
            <a:ext cx="6422231" cy="1476256"/>
          </a:xfrm>
          <a:prstGeom prst="roundRect">
            <a:avLst>
              <a:gd name="adj" fmla="val 3226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3" name="Text 10"/>
          <p:cNvSpPr/>
          <p:nvPr/>
        </p:nvSpPr>
        <p:spPr>
          <a:xfrm>
            <a:off x="999768" y="43333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Data Cleaning</a:t>
            </a:r>
            <a:endParaRPr lang="en-US" sz="1950" dirty="0"/>
          </a:p>
        </p:txBody>
      </p:sp>
      <p:sp>
        <p:nvSpPr>
          <p:cNvPr id="14" name="Text 11"/>
          <p:cNvSpPr/>
          <p:nvPr/>
        </p:nvSpPr>
        <p:spPr>
          <a:xfrm>
            <a:off x="999768" y="4762619"/>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Filter, transform, and clean messy real-world data with simple commands.</a:t>
            </a:r>
            <a:endParaRPr lang="en-US" sz="1550" dirty="0"/>
          </a:p>
        </p:txBody>
      </p:sp>
      <p:sp>
        <p:nvSpPr>
          <p:cNvPr id="15" name="Shape 12"/>
          <p:cNvSpPr/>
          <p:nvPr/>
        </p:nvSpPr>
        <p:spPr>
          <a:xfrm>
            <a:off x="7414379" y="4127421"/>
            <a:ext cx="6422231" cy="1476256"/>
          </a:xfrm>
          <a:prstGeom prst="roundRect">
            <a:avLst>
              <a:gd name="adj" fmla="val 3226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6" name="Text 13"/>
          <p:cNvSpPr/>
          <p:nvPr/>
        </p:nvSpPr>
        <p:spPr>
          <a:xfrm>
            <a:off x="7620357" y="4333399"/>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Analysis Tools</a:t>
            </a:r>
            <a:endParaRPr lang="en-US" sz="1950" dirty="0"/>
          </a:p>
        </p:txBody>
      </p:sp>
      <p:sp>
        <p:nvSpPr>
          <p:cNvPr id="17" name="Text 14"/>
          <p:cNvSpPr/>
          <p:nvPr/>
        </p:nvSpPr>
        <p:spPr>
          <a:xfrm>
            <a:off x="7620357" y="4762619"/>
            <a:ext cx="6010275"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Built-in functions for grouping, aggregating, and statistical analysis.</a:t>
            </a:r>
            <a:endParaRPr lang="en-US" sz="1550" dirty="0"/>
          </a:p>
        </p:txBody>
      </p:sp>
      <p:sp>
        <p:nvSpPr>
          <p:cNvPr id="18" name="Text 15"/>
          <p:cNvSpPr/>
          <p:nvPr/>
        </p:nvSpPr>
        <p:spPr>
          <a:xfrm>
            <a:off x="1091446" y="6050161"/>
            <a:ext cx="1274516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"If you can do it in Excel, you can do it faster in Pandas."</a:t>
            </a:r>
            <a:endParaRPr lang="en-US" sz="1550" dirty="0"/>
          </a:p>
        </p:txBody>
      </p:sp>
      <p:sp>
        <p:nvSpPr>
          <p:cNvPr id="19" name="Shape 16"/>
          <p:cNvSpPr/>
          <p:nvPr/>
        </p:nvSpPr>
        <p:spPr>
          <a:xfrm>
            <a:off x="793790" y="5826919"/>
            <a:ext cx="22860" cy="764024"/>
          </a:xfrm>
          <a:prstGeom prst="rect">
            <a:avLst/>
          </a:prstGeom>
          <a:solidFill>
            <a:srgbClr val="720062"/>
          </a:solidFill>
          <a:ln/>
        </p:spPr>
      </p:sp>
      <p:sp>
        <p:nvSpPr>
          <p:cNvPr id="20" name="Text 17"/>
          <p:cNvSpPr/>
          <p:nvPr/>
        </p:nvSpPr>
        <p:spPr>
          <a:xfrm>
            <a:off x="793790" y="6814185"/>
            <a:ext cx="13042821" cy="33278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Pandas is Python's answer to Excel—but supercharged. Install with </a:t>
            </a:r>
            <a:r>
              <a:rPr lang="en-US" sz="1550" dirty="0">
                <a:solidFill>
                  <a:srgbClr val="000000"/>
                </a:solidFill>
                <a:highlight>
                  <a:srgbClr val="F2F2F2"/>
                </a:highlight>
                <a:latin typeface="Consolas" pitchFamily="34" charset="0"/>
                <a:ea typeface="Consolas" pitchFamily="34" charset="-122"/>
                <a:cs typeface="Consolas" pitchFamily="34" charset="-120"/>
              </a:rPr>
              <a:t>pip install pandas</a:t>
            </a:r>
            <a:r>
              <a:rPr lang="en-US" sz="1550" dirty="0">
                <a:solidFill>
                  <a:srgbClr val="000000"/>
                </a:solidFill>
                <a:latin typeface="Montserrat Medium" pitchFamily="34" charset="0"/>
                <a:ea typeface="Montserrat Medium" pitchFamily="34" charset="-122"/>
                <a:cs typeface="Montserrat Medium" pitchFamily="34" charset="-120"/>
              </a:rPr>
              <a:t> and import with </a:t>
            </a:r>
            <a:r>
              <a:rPr lang="en-US" sz="1550" dirty="0">
                <a:solidFill>
                  <a:srgbClr val="000000"/>
                </a:solidFill>
                <a:highlight>
                  <a:srgbClr val="F2F2F2"/>
                </a:highlight>
                <a:latin typeface="Consolas" pitchFamily="34" charset="0"/>
                <a:ea typeface="Consolas" pitchFamily="34" charset="-122"/>
                <a:cs typeface="Consolas" pitchFamily="34" charset="-120"/>
              </a:rPr>
              <a:t>import pandas as pd</a:t>
            </a:r>
            <a:r>
              <a:rPr lang="en-US" sz="1550" dirty="0">
                <a:solidFill>
                  <a:srgbClr val="000000"/>
                </a:solidFill>
                <a:latin typeface="Montserrat Medium" pitchFamily="34" charset="0"/>
                <a:ea typeface="Montserrat Medium" pitchFamily="34" charset="-122"/>
                <a:cs typeface="Montserrat Medium" pitchFamily="34" charset="-120"/>
              </a:rPr>
              <a:t>.</a:t>
            </a:r>
            <a:endParaRPr lang="en-US" sz="1550" dirty="0"/>
          </a:p>
        </p:txBody>
      </p:sp>
      <p:pic>
        <p:nvPicPr>
          <p:cNvPr id="21" name="Picture 20">
            <a:extLst>
              <a:ext uri="{FF2B5EF4-FFF2-40B4-BE49-F238E27FC236}">
                <a16:creationId xmlns:a16="http://schemas.microsoft.com/office/drawing/2014/main" id="{2661DE7D-2315-2E97-6EB4-8A1F0B1DBEDD}"/>
              </a:ext>
            </a:extLst>
          </p:cNvPr>
          <p:cNvPicPr>
            <a:picLocks noChangeAspect="1"/>
          </p:cNvPicPr>
          <p:nvPr/>
        </p:nvPicPr>
        <p:blipFill>
          <a:blip r:embed="rId5"/>
          <a:stretch>
            <a:fillRect/>
          </a:stretch>
        </p:blipFill>
        <p:spPr>
          <a:xfrm>
            <a:off x="13342557" y="118334"/>
            <a:ext cx="1125764" cy="41258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793790" y="1242417"/>
            <a:ext cx="701040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Meet Pandas: Python's Excel</a:t>
            </a:r>
            <a:endParaRPr lang="en-US" sz="3900" dirty="0"/>
          </a:p>
        </p:txBody>
      </p:sp>
      <p:sp>
        <p:nvSpPr>
          <p:cNvPr id="3" name="Text 1"/>
          <p:cNvSpPr/>
          <p:nvPr/>
        </p:nvSpPr>
        <p:spPr>
          <a:xfrm>
            <a:off x="793790" y="2358509"/>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What is Pandas?</a:t>
            </a:r>
            <a:endParaRPr lang="en-US" sz="2300" dirty="0"/>
          </a:p>
        </p:txBody>
      </p:sp>
      <p:sp>
        <p:nvSpPr>
          <p:cNvPr id="4" name="Text 2"/>
          <p:cNvSpPr/>
          <p:nvPr/>
        </p:nvSpPr>
        <p:spPr>
          <a:xfrm>
            <a:off x="793790" y="2928938"/>
            <a:ext cx="5602962"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Pandas is the go-to library for working with tabular data in Python. It provides powerful tools for:</a:t>
            </a:r>
            <a:endParaRPr lang="en-US" sz="1550" dirty="0"/>
          </a:p>
        </p:txBody>
      </p:sp>
      <p:sp>
        <p:nvSpPr>
          <p:cNvPr id="5" name="Text 3"/>
          <p:cNvSpPr/>
          <p:nvPr/>
        </p:nvSpPr>
        <p:spPr>
          <a:xfrm>
            <a:off x="793790" y="3742611"/>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Loading data from multiple formats</a:t>
            </a:r>
            <a:endParaRPr lang="en-US" sz="1550" dirty="0"/>
          </a:p>
        </p:txBody>
      </p:sp>
      <p:sp>
        <p:nvSpPr>
          <p:cNvPr id="6" name="Text 4"/>
          <p:cNvSpPr/>
          <p:nvPr/>
        </p:nvSpPr>
        <p:spPr>
          <a:xfrm>
            <a:off x="793790" y="4129564"/>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Cleaning and transforming messy data</a:t>
            </a:r>
            <a:endParaRPr lang="en-US" sz="1550" dirty="0"/>
          </a:p>
        </p:txBody>
      </p:sp>
      <p:sp>
        <p:nvSpPr>
          <p:cNvPr id="7" name="Text 5"/>
          <p:cNvSpPr/>
          <p:nvPr/>
        </p:nvSpPr>
        <p:spPr>
          <a:xfrm>
            <a:off x="793790" y="4516517"/>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Filtering and selecting specific information</a:t>
            </a:r>
            <a:endParaRPr lang="en-US" sz="1550" dirty="0"/>
          </a:p>
        </p:txBody>
      </p:sp>
      <p:sp>
        <p:nvSpPr>
          <p:cNvPr id="8" name="Text 6"/>
          <p:cNvSpPr/>
          <p:nvPr/>
        </p:nvSpPr>
        <p:spPr>
          <a:xfrm>
            <a:off x="793790" y="4903470"/>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Performing statistical analysis</a:t>
            </a:r>
            <a:endParaRPr lang="en-US" sz="1550" dirty="0"/>
          </a:p>
        </p:txBody>
      </p:sp>
      <p:sp>
        <p:nvSpPr>
          <p:cNvPr id="9" name="Text 7"/>
          <p:cNvSpPr/>
          <p:nvPr/>
        </p:nvSpPr>
        <p:spPr>
          <a:xfrm>
            <a:off x="793790" y="5290423"/>
            <a:ext cx="5602962" cy="31754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latin typeface="Montserrat Medium" pitchFamily="34" charset="0"/>
                <a:ea typeface="Montserrat Medium" pitchFamily="34" charset="-122"/>
                <a:cs typeface="Montserrat Medium" pitchFamily="34" charset="-120"/>
              </a:rPr>
              <a:t>Saving results in various formats</a:t>
            </a:r>
            <a:endParaRPr lang="en-US" sz="1550" dirty="0"/>
          </a:p>
        </p:txBody>
      </p:sp>
      <p:sp>
        <p:nvSpPr>
          <p:cNvPr id="10" name="Shape 8"/>
          <p:cNvSpPr/>
          <p:nvPr/>
        </p:nvSpPr>
        <p:spPr>
          <a:xfrm>
            <a:off x="793790" y="5831205"/>
            <a:ext cx="5602962" cy="932736"/>
          </a:xfrm>
          <a:prstGeom prst="roundRect">
            <a:avLst>
              <a:gd name="adj" fmla="val 8937"/>
            </a:avLst>
          </a:prstGeom>
          <a:solidFill>
            <a:srgbClr val="F2F2F2"/>
          </a:solidFill>
          <a:ln/>
        </p:spPr>
      </p:sp>
      <p:sp>
        <p:nvSpPr>
          <p:cNvPr id="11" name="Shape 9"/>
          <p:cNvSpPr/>
          <p:nvPr/>
        </p:nvSpPr>
        <p:spPr>
          <a:xfrm>
            <a:off x="783908" y="5831205"/>
            <a:ext cx="5622727" cy="932736"/>
          </a:xfrm>
          <a:prstGeom prst="roundRect">
            <a:avLst>
              <a:gd name="adj" fmla="val 3192"/>
            </a:avLst>
          </a:prstGeom>
          <a:solidFill>
            <a:srgbClr val="F2F2F2"/>
          </a:solidFill>
          <a:ln/>
        </p:spPr>
      </p:sp>
      <p:sp>
        <p:nvSpPr>
          <p:cNvPr id="12" name="Text 10"/>
          <p:cNvSpPr/>
          <p:nvPr/>
        </p:nvSpPr>
        <p:spPr>
          <a:xfrm>
            <a:off x="982266" y="5980033"/>
            <a:ext cx="5226010"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pip install pandas</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import pandas as pd</a:t>
            </a:r>
            <a:endParaRPr lang="en-US" sz="1550" dirty="0"/>
          </a:p>
        </p:txBody>
      </p:sp>
      <p:sp>
        <p:nvSpPr>
          <p:cNvPr id="13" name="Shape 11"/>
          <p:cNvSpPr/>
          <p:nvPr/>
        </p:nvSpPr>
        <p:spPr>
          <a:xfrm>
            <a:off x="6888480" y="2383393"/>
            <a:ext cx="6955631" cy="1478280"/>
          </a:xfrm>
          <a:prstGeom prst="roundRect">
            <a:avLst>
              <a:gd name="adj" fmla="val 5639"/>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4" name="Image 0" descr="preencoded.png"/>
          <p:cNvPicPr>
            <a:picLocks noChangeAspect="1"/>
          </p:cNvPicPr>
          <p:nvPr/>
        </p:nvPicPr>
        <p:blipFill>
          <a:blip r:embed="rId3">
            <a:duotone>
              <a:prstClr val="black"/>
              <a:srgbClr val="7030A0">
                <a:tint val="45000"/>
                <a:satMod val="400000"/>
              </a:srgbClr>
            </a:duotone>
          </a:blip>
          <a:stretch>
            <a:fillRect/>
          </a:stretch>
        </p:blipFill>
        <p:spPr>
          <a:xfrm>
            <a:off x="7086838" y="2678668"/>
            <a:ext cx="248007" cy="198358"/>
          </a:xfrm>
          <a:prstGeom prst="rect">
            <a:avLst/>
          </a:prstGeom>
        </p:spPr>
      </p:pic>
      <p:sp>
        <p:nvSpPr>
          <p:cNvPr id="15" name="Text 12"/>
          <p:cNvSpPr/>
          <p:nvPr/>
        </p:nvSpPr>
        <p:spPr>
          <a:xfrm>
            <a:off x="7533203" y="2631281"/>
            <a:ext cx="6112550" cy="95261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Key Concept:</a:t>
            </a:r>
            <a:r>
              <a:rPr lang="en-US" sz="1550" dirty="0">
                <a:solidFill>
                  <a:srgbClr val="000000"/>
                </a:solidFill>
                <a:latin typeface="Montserrat Medium" pitchFamily="34" charset="0"/>
                <a:ea typeface="Montserrat Medium" pitchFamily="34" charset="-122"/>
                <a:cs typeface="Montserrat Medium" pitchFamily="34" charset="-120"/>
              </a:rPr>
              <a:t> A Pandas DataFrame is like an Excel spreadsheet in Python—rows, columns, and cells of data that you can manipulate with code.</a:t>
            </a:r>
            <a:endParaRPr lang="en-US" sz="1550" dirty="0"/>
          </a:p>
        </p:txBody>
      </p:sp>
      <p:pic>
        <p:nvPicPr>
          <p:cNvPr id="16" name="Picture 15">
            <a:extLst>
              <a:ext uri="{FF2B5EF4-FFF2-40B4-BE49-F238E27FC236}">
                <a16:creationId xmlns:a16="http://schemas.microsoft.com/office/drawing/2014/main" id="{1C89F849-7297-31EE-B075-9F6F3982BB1D}"/>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793790" y="630436"/>
            <a:ext cx="7088862" cy="527090"/>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Loading Data (More than just CSV)</a:t>
            </a:r>
            <a:endParaRPr lang="en-US" sz="3300" dirty="0"/>
          </a:p>
        </p:txBody>
      </p:sp>
      <p:pic>
        <p:nvPicPr>
          <p:cNvPr id="3" name="Image 0" descr="preencoded.png"/>
          <p:cNvPicPr>
            <a:picLocks noChangeAspect="1"/>
          </p:cNvPicPr>
          <p:nvPr/>
        </p:nvPicPr>
        <p:blipFill>
          <a:blip r:embed="rId3"/>
          <a:stretch>
            <a:fillRect/>
          </a:stretch>
        </p:blipFill>
        <p:spPr>
          <a:xfrm>
            <a:off x="793790" y="1494830"/>
            <a:ext cx="506016" cy="506016"/>
          </a:xfrm>
          <a:prstGeom prst="rect">
            <a:avLst/>
          </a:prstGeom>
        </p:spPr>
      </p:pic>
      <p:sp>
        <p:nvSpPr>
          <p:cNvPr id="4" name="Text 1"/>
          <p:cNvSpPr/>
          <p:nvPr/>
        </p:nvSpPr>
        <p:spPr>
          <a:xfrm>
            <a:off x="793790" y="2211705"/>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CSV Files</a:t>
            </a:r>
            <a:endParaRPr lang="en-US" sz="1650" dirty="0"/>
          </a:p>
        </p:txBody>
      </p:sp>
      <p:sp>
        <p:nvSpPr>
          <p:cNvPr id="5" name="Shape 2"/>
          <p:cNvSpPr/>
          <p:nvPr/>
        </p:nvSpPr>
        <p:spPr>
          <a:xfrm>
            <a:off x="793790" y="2664976"/>
            <a:ext cx="6415921" cy="522803"/>
          </a:xfrm>
          <a:prstGeom prst="roundRect">
            <a:avLst>
              <a:gd name="adj" fmla="val 13553"/>
            </a:avLst>
          </a:prstGeom>
          <a:solidFill>
            <a:srgbClr val="F2F2F2"/>
          </a:solidFill>
          <a:ln/>
        </p:spPr>
      </p:sp>
      <p:sp>
        <p:nvSpPr>
          <p:cNvPr id="6" name="Shape 3"/>
          <p:cNvSpPr/>
          <p:nvPr/>
        </p:nvSpPr>
        <p:spPr>
          <a:xfrm>
            <a:off x="785455" y="2664976"/>
            <a:ext cx="6432590" cy="522803"/>
          </a:xfrm>
          <a:prstGeom prst="roundRect">
            <a:avLst>
              <a:gd name="adj" fmla="val 4840"/>
            </a:avLst>
          </a:prstGeom>
          <a:solidFill>
            <a:srgbClr val="F2F2F2"/>
          </a:solidFill>
          <a:ln/>
        </p:spPr>
      </p:sp>
      <p:sp>
        <p:nvSpPr>
          <p:cNvPr id="7" name="Text 4"/>
          <p:cNvSpPr/>
          <p:nvPr/>
        </p:nvSpPr>
        <p:spPr>
          <a:xfrm>
            <a:off x="954048" y="2791420"/>
            <a:ext cx="6095405" cy="26991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df = pd.read_csv("data.csv")</a:t>
            </a:r>
            <a:endParaRPr lang="en-US" sz="1300" dirty="0"/>
          </a:p>
        </p:txBody>
      </p:sp>
      <p:sp>
        <p:nvSpPr>
          <p:cNvPr id="8" name="Text 5"/>
          <p:cNvSpPr/>
          <p:nvPr/>
        </p:nvSpPr>
        <p:spPr>
          <a:xfrm>
            <a:off x="793790" y="3377565"/>
            <a:ext cx="6415921" cy="539829"/>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The most common format. Comma-separated values that work everywhere.</a:t>
            </a:r>
            <a:endParaRPr lang="en-US" sz="1300" dirty="0"/>
          </a:p>
        </p:txBody>
      </p:sp>
      <p:pic>
        <p:nvPicPr>
          <p:cNvPr id="9" name="Image 1" descr="preencoded.png"/>
          <p:cNvPicPr>
            <a:picLocks noChangeAspect="1"/>
          </p:cNvPicPr>
          <p:nvPr/>
        </p:nvPicPr>
        <p:blipFill>
          <a:blip r:embed="rId4"/>
          <a:stretch>
            <a:fillRect/>
          </a:stretch>
        </p:blipFill>
        <p:spPr>
          <a:xfrm>
            <a:off x="7420570" y="1494830"/>
            <a:ext cx="506016" cy="506016"/>
          </a:xfrm>
          <a:prstGeom prst="rect">
            <a:avLst/>
          </a:prstGeom>
        </p:spPr>
      </p:pic>
      <p:sp>
        <p:nvSpPr>
          <p:cNvPr id="10" name="Text 6"/>
          <p:cNvSpPr/>
          <p:nvPr/>
        </p:nvSpPr>
        <p:spPr>
          <a:xfrm>
            <a:off x="7420570" y="2211705"/>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Excel Files</a:t>
            </a:r>
            <a:endParaRPr lang="en-US" sz="1650" dirty="0"/>
          </a:p>
        </p:txBody>
      </p:sp>
      <p:sp>
        <p:nvSpPr>
          <p:cNvPr id="11" name="Shape 7"/>
          <p:cNvSpPr/>
          <p:nvPr/>
        </p:nvSpPr>
        <p:spPr>
          <a:xfrm>
            <a:off x="7420570" y="2664976"/>
            <a:ext cx="6416040" cy="522803"/>
          </a:xfrm>
          <a:prstGeom prst="roundRect">
            <a:avLst>
              <a:gd name="adj" fmla="val 13553"/>
            </a:avLst>
          </a:prstGeom>
          <a:solidFill>
            <a:srgbClr val="F2F2F2"/>
          </a:solidFill>
          <a:ln/>
        </p:spPr>
      </p:sp>
      <p:sp>
        <p:nvSpPr>
          <p:cNvPr id="12" name="Shape 8"/>
          <p:cNvSpPr/>
          <p:nvPr/>
        </p:nvSpPr>
        <p:spPr>
          <a:xfrm>
            <a:off x="7412236" y="2664976"/>
            <a:ext cx="6432709" cy="522803"/>
          </a:xfrm>
          <a:prstGeom prst="roundRect">
            <a:avLst>
              <a:gd name="adj" fmla="val 4840"/>
            </a:avLst>
          </a:prstGeom>
          <a:solidFill>
            <a:srgbClr val="F2F2F2"/>
          </a:solidFill>
          <a:ln/>
        </p:spPr>
      </p:sp>
      <p:sp>
        <p:nvSpPr>
          <p:cNvPr id="13" name="Text 9"/>
          <p:cNvSpPr/>
          <p:nvPr/>
        </p:nvSpPr>
        <p:spPr>
          <a:xfrm>
            <a:off x="7580828" y="2791420"/>
            <a:ext cx="6095524" cy="26991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df = pd.read_excel("data.xlsx")</a:t>
            </a:r>
            <a:endParaRPr lang="en-US" sz="1300" dirty="0"/>
          </a:p>
        </p:txBody>
      </p:sp>
      <p:sp>
        <p:nvSpPr>
          <p:cNvPr id="14" name="Text 10"/>
          <p:cNvSpPr/>
          <p:nvPr/>
        </p:nvSpPr>
        <p:spPr>
          <a:xfrm>
            <a:off x="7420570" y="3377565"/>
            <a:ext cx="6416040" cy="28515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Read .xlsx files directly. Requires </a:t>
            </a:r>
            <a:r>
              <a:rPr lang="en-US" sz="1300" dirty="0">
                <a:solidFill>
                  <a:srgbClr val="000000"/>
                </a:solidFill>
                <a:highlight>
                  <a:srgbClr val="F2F2F2"/>
                </a:highlight>
                <a:latin typeface="Consolas" pitchFamily="34" charset="0"/>
                <a:ea typeface="Consolas" pitchFamily="34" charset="-122"/>
                <a:cs typeface="Consolas" pitchFamily="34" charset="-120"/>
              </a:rPr>
              <a:t>openpyxl</a:t>
            </a:r>
            <a:r>
              <a:rPr lang="en-US" sz="1300" dirty="0">
                <a:solidFill>
                  <a:srgbClr val="000000"/>
                </a:solidFill>
                <a:latin typeface="Montserrat Medium" pitchFamily="34" charset="0"/>
                <a:ea typeface="Montserrat Medium" pitchFamily="34" charset="-122"/>
                <a:cs typeface="Montserrat Medium" pitchFamily="34" charset="-120"/>
              </a:rPr>
              <a:t> library.</a:t>
            </a:r>
            <a:endParaRPr lang="en-US" sz="1300" dirty="0"/>
          </a:p>
        </p:txBody>
      </p:sp>
      <p:pic>
        <p:nvPicPr>
          <p:cNvPr id="15" name="Image 2" descr="preencoded.png"/>
          <p:cNvPicPr>
            <a:picLocks noChangeAspect="1"/>
          </p:cNvPicPr>
          <p:nvPr/>
        </p:nvPicPr>
        <p:blipFill>
          <a:blip r:embed="rId5"/>
          <a:stretch>
            <a:fillRect/>
          </a:stretch>
        </p:blipFill>
        <p:spPr>
          <a:xfrm>
            <a:off x="793790" y="4254698"/>
            <a:ext cx="506016" cy="506016"/>
          </a:xfrm>
          <a:prstGeom prst="rect">
            <a:avLst/>
          </a:prstGeom>
        </p:spPr>
      </p:pic>
      <p:sp>
        <p:nvSpPr>
          <p:cNvPr id="16" name="Text 11"/>
          <p:cNvSpPr/>
          <p:nvPr/>
        </p:nvSpPr>
        <p:spPr>
          <a:xfrm>
            <a:off x="793790" y="4971574"/>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Clipboard Magic</a:t>
            </a:r>
            <a:endParaRPr lang="en-US" sz="1650" dirty="0"/>
          </a:p>
        </p:txBody>
      </p:sp>
      <p:sp>
        <p:nvSpPr>
          <p:cNvPr id="17" name="Shape 12"/>
          <p:cNvSpPr/>
          <p:nvPr/>
        </p:nvSpPr>
        <p:spPr>
          <a:xfrm>
            <a:off x="793790" y="5424845"/>
            <a:ext cx="6415921" cy="522803"/>
          </a:xfrm>
          <a:prstGeom prst="roundRect">
            <a:avLst>
              <a:gd name="adj" fmla="val 13553"/>
            </a:avLst>
          </a:prstGeom>
          <a:solidFill>
            <a:srgbClr val="F2F2F2"/>
          </a:solidFill>
          <a:ln/>
        </p:spPr>
      </p:sp>
      <p:sp>
        <p:nvSpPr>
          <p:cNvPr id="18" name="Shape 13"/>
          <p:cNvSpPr/>
          <p:nvPr/>
        </p:nvSpPr>
        <p:spPr>
          <a:xfrm>
            <a:off x="785455" y="5424845"/>
            <a:ext cx="6432590" cy="522803"/>
          </a:xfrm>
          <a:prstGeom prst="roundRect">
            <a:avLst>
              <a:gd name="adj" fmla="val 4840"/>
            </a:avLst>
          </a:prstGeom>
          <a:solidFill>
            <a:srgbClr val="F2F2F2"/>
          </a:solidFill>
          <a:ln/>
        </p:spPr>
      </p:sp>
      <p:sp>
        <p:nvSpPr>
          <p:cNvPr id="19" name="Text 14"/>
          <p:cNvSpPr/>
          <p:nvPr/>
        </p:nvSpPr>
        <p:spPr>
          <a:xfrm>
            <a:off x="954048" y="5551289"/>
            <a:ext cx="6095405" cy="26991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df = pd.read_clipboard()</a:t>
            </a:r>
            <a:endParaRPr lang="en-US" sz="1300" dirty="0"/>
          </a:p>
        </p:txBody>
      </p:sp>
      <p:sp>
        <p:nvSpPr>
          <p:cNvPr id="20" name="Text 15"/>
          <p:cNvSpPr/>
          <p:nvPr/>
        </p:nvSpPr>
        <p:spPr>
          <a:xfrm>
            <a:off x="793790" y="6137434"/>
            <a:ext cx="6415921" cy="539829"/>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Converts whatever you've copied into a DataFrame. Perfect for quick data from websites!</a:t>
            </a:r>
            <a:endParaRPr lang="en-US" sz="1300" dirty="0"/>
          </a:p>
        </p:txBody>
      </p:sp>
      <p:pic>
        <p:nvPicPr>
          <p:cNvPr id="21" name="Image 3" descr="preencoded.png"/>
          <p:cNvPicPr>
            <a:picLocks noChangeAspect="1"/>
          </p:cNvPicPr>
          <p:nvPr/>
        </p:nvPicPr>
        <p:blipFill>
          <a:blip r:embed="rId6"/>
          <a:stretch>
            <a:fillRect/>
          </a:stretch>
        </p:blipFill>
        <p:spPr>
          <a:xfrm>
            <a:off x="7420570" y="4254698"/>
            <a:ext cx="506016" cy="506016"/>
          </a:xfrm>
          <a:prstGeom prst="rect">
            <a:avLst/>
          </a:prstGeom>
        </p:spPr>
      </p:pic>
      <p:sp>
        <p:nvSpPr>
          <p:cNvPr id="22" name="Text 16"/>
          <p:cNvSpPr/>
          <p:nvPr/>
        </p:nvSpPr>
        <p:spPr>
          <a:xfrm>
            <a:off x="7420570" y="4971574"/>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Other Formats</a:t>
            </a:r>
            <a:endParaRPr lang="en-US" sz="1650" dirty="0"/>
          </a:p>
        </p:txBody>
      </p:sp>
      <p:sp>
        <p:nvSpPr>
          <p:cNvPr id="23" name="Text 17"/>
          <p:cNvSpPr/>
          <p:nvPr/>
        </p:nvSpPr>
        <p:spPr>
          <a:xfrm>
            <a:off x="7420570" y="5336262"/>
            <a:ext cx="6416040" cy="28515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highlight>
                  <a:srgbClr val="F2F2F2"/>
                </a:highlight>
                <a:latin typeface="Consolas" pitchFamily="34" charset="0"/>
                <a:ea typeface="Consolas" pitchFamily="34" charset="-122"/>
                <a:cs typeface="Consolas" pitchFamily="34" charset="-120"/>
              </a:rPr>
              <a:t>read_json</a:t>
            </a:r>
            <a:r>
              <a:rPr lang="en-US" sz="1300" dirty="0">
                <a:solidFill>
                  <a:srgbClr val="000000"/>
                </a:solidFill>
                <a:latin typeface="Montserrat Medium" pitchFamily="34" charset="0"/>
                <a:ea typeface="Montserrat Medium" pitchFamily="34" charset="-122"/>
                <a:cs typeface="Montserrat Medium" pitchFamily="34" charset="-120"/>
              </a:rPr>
              <a:t>, </a:t>
            </a:r>
            <a:r>
              <a:rPr lang="en-US" sz="1300" dirty="0">
                <a:solidFill>
                  <a:srgbClr val="000000"/>
                </a:solidFill>
                <a:highlight>
                  <a:srgbClr val="F2F2F2"/>
                </a:highlight>
                <a:latin typeface="Consolas" pitchFamily="34" charset="0"/>
                <a:ea typeface="Consolas" pitchFamily="34" charset="-122"/>
                <a:cs typeface="Consolas" pitchFamily="34" charset="-120"/>
              </a:rPr>
              <a:t>read_sql</a:t>
            </a:r>
            <a:r>
              <a:rPr lang="en-US" sz="1300" dirty="0">
                <a:solidFill>
                  <a:srgbClr val="000000"/>
                </a:solidFill>
                <a:latin typeface="Montserrat Medium" pitchFamily="34" charset="0"/>
                <a:ea typeface="Montserrat Medium" pitchFamily="34" charset="-122"/>
                <a:cs typeface="Montserrat Medium" pitchFamily="34" charset="-120"/>
              </a:rPr>
              <a:t>, </a:t>
            </a:r>
            <a:r>
              <a:rPr lang="en-US" sz="1300" dirty="0">
                <a:solidFill>
                  <a:srgbClr val="000000"/>
                </a:solidFill>
                <a:highlight>
                  <a:srgbClr val="F2F2F2"/>
                </a:highlight>
                <a:latin typeface="Consolas" pitchFamily="34" charset="0"/>
                <a:ea typeface="Consolas" pitchFamily="34" charset="-122"/>
                <a:cs typeface="Consolas" pitchFamily="34" charset="-120"/>
              </a:rPr>
              <a:t>read_html</a:t>
            </a:r>
            <a:r>
              <a:rPr lang="en-US" sz="1300" dirty="0">
                <a:solidFill>
                  <a:srgbClr val="000000"/>
                </a:solidFill>
                <a:latin typeface="Montserrat Medium" pitchFamily="34" charset="0"/>
                <a:ea typeface="Montserrat Medium" pitchFamily="34" charset="-122"/>
                <a:cs typeface="Montserrat Medium" pitchFamily="34" charset="-120"/>
              </a:rPr>
              <a:t> (scrapes tables from websites!)</a:t>
            </a:r>
            <a:endParaRPr lang="en-US" sz="1300" dirty="0"/>
          </a:p>
        </p:txBody>
      </p:sp>
      <p:sp>
        <p:nvSpPr>
          <p:cNvPr id="24" name="Shape 18"/>
          <p:cNvSpPr/>
          <p:nvPr/>
        </p:nvSpPr>
        <p:spPr>
          <a:xfrm>
            <a:off x="793790" y="6867049"/>
            <a:ext cx="13042821" cy="731996"/>
          </a:xfrm>
          <a:prstGeom prst="roundRect">
            <a:avLst>
              <a:gd name="adj" fmla="val 9680"/>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25" name="Image 4" descr="preencoded.png"/>
          <p:cNvPicPr>
            <a:picLocks noChangeAspect="1"/>
          </p:cNvPicPr>
          <p:nvPr/>
        </p:nvPicPr>
        <p:blipFill>
          <a:blip r:embed="rId7">
            <a:duotone>
              <a:prstClr val="black"/>
              <a:srgbClr val="7030A0">
                <a:tint val="45000"/>
                <a:satMod val="400000"/>
              </a:srgbClr>
            </a:duotone>
          </a:blip>
          <a:stretch>
            <a:fillRect/>
          </a:stretch>
        </p:blipFill>
        <p:spPr>
          <a:xfrm>
            <a:off x="962382" y="7120771"/>
            <a:ext cx="210860" cy="168593"/>
          </a:xfrm>
          <a:prstGeom prst="rect">
            <a:avLst/>
          </a:prstGeom>
        </p:spPr>
      </p:pic>
      <p:sp>
        <p:nvSpPr>
          <p:cNvPr id="26" name="Text 19"/>
          <p:cNvSpPr/>
          <p:nvPr/>
        </p:nvSpPr>
        <p:spPr>
          <a:xfrm>
            <a:off x="1341834" y="7077789"/>
            <a:ext cx="12326183" cy="285155"/>
          </a:xfrm>
          <a:prstGeom prst="rect">
            <a:avLst/>
          </a:prstGeom>
          <a:noFill/>
          <a:ln/>
        </p:spPr>
        <p:txBody>
          <a:bodyPr wrap="none" lIns="0" tIns="0" rIns="0" bIns="0" rtlCol="0" anchor="t"/>
          <a:lstStyle/>
          <a:p>
            <a:pPr marL="0" indent="0" algn="l">
              <a:lnSpc>
                <a:spcPts val="2100"/>
              </a:lnSpc>
              <a:buNone/>
            </a:pPr>
            <a:r>
              <a:rPr lang="en-US" sz="1300" b="1" dirty="0">
                <a:solidFill>
                  <a:srgbClr val="000000"/>
                </a:solidFill>
                <a:latin typeface="Montserrat Medium" pitchFamily="34" charset="0"/>
                <a:ea typeface="Montserrat Medium" pitchFamily="34" charset="-122"/>
                <a:cs typeface="Montserrat Medium" pitchFamily="34" charset="-120"/>
              </a:rPr>
              <a:t>Party Trick:</a:t>
            </a:r>
            <a:r>
              <a:rPr lang="en-US" sz="1300" dirty="0">
                <a:solidFill>
                  <a:srgbClr val="000000"/>
                </a:solidFill>
                <a:latin typeface="Montserrat Medium" pitchFamily="34" charset="0"/>
                <a:ea typeface="Montserrat Medium" pitchFamily="34" charset="-122"/>
                <a:cs typeface="Montserrat Medium" pitchFamily="34" charset="-120"/>
              </a:rPr>
              <a:t> </a:t>
            </a:r>
            <a:r>
              <a:rPr lang="en-US" sz="1300" dirty="0">
                <a:solidFill>
                  <a:srgbClr val="000000"/>
                </a:solidFill>
                <a:highlight>
                  <a:srgbClr val="F2F2F2"/>
                </a:highlight>
                <a:latin typeface="Consolas" pitchFamily="34" charset="0"/>
                <a:ea typeface="Consolas" pitchFamily="34" charset="-122"/>
                <a:cs typeface="Consolas" pitchFamily="34" charset="-120"/>
              </a:rPr>
              <a:t>read_html</a:t>
            </a:r>
            <a:r>
              <a:rPr lang="en-US" sz="1300" dirty="0">
                <a:solidFill>
                  <a:srgbClr val="000000"/>
                </a:solidFill>
                <a:latin typeface="Montserrat Medium" pitchFamily="34" charset="0"/>
                <a:ea typeface="Montserrat Medium" pitchFamily="34" charset="-122"/>
                <a:cs typeface="Montserrat Medium" pitchFamily="34" charset="-120"/>
              </a:rPr>
              <a:t> can grab tables directly from Wikipedia or any website. Try it on a Wikipedia page with tables!</a:t>
            </a:r>
            <a:endParaRPr lang="en-US" sz="1300" dirty="0"/>
          </a:p>
        </p:txBody>
      </p:sp>
      <p:pic>
        <p:nvPicPr>
          <p:cNvPr id="27" name="Picture 26">
            <a:extLst>
              <a:ext uri="{FF2B5EF4-FFF2-40B4-BE49-F238E27FC236}">
                <a16:creationId xmlns:a16="http://schemas.microsoft.com/office/drawing/2014/main" id="{33F9A041-1BDD-41C3-C00F-F10DEA19F9A2}"/>
              </a:ext>
            </a:extLst>
          </p:cNvPr>
          <p:cNvPicPr>
            <a:picLocks noChangeAspect="1"/>
          </p:cNvPicPr>
          <p:nvPr/>
        </p:nvPicPr>
        <p:blipFill>
          <a:blip r:embed="rId8"/>
          <a:stretch>
            <a:fillRect/>
          </a:stretch>
        </p:blipFill>
        <p:spPr>
          <a:xfrm>
            <a:off x="13342557" y="118334"/>
            <a:ext cx="1125764" cy="412584"/>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793790" y="699254"/>
            <a:ext cx="7635002" cy="527090"/>
          </a:xfrm>
          <a:prstGeom prst="rect">
            <a:avLst/>
          </a:prstGeom>
          <a:noFill/>
          <a:ln/>
        </p:spPr>
        <p:txBody>
          <a:bodyPr wrap="none" lIns="0" tIns="0" rIns="0" bIns="0" rtlCol="0" anchor="t"/>
          <a:lstStyle/>
          <a:p>
            <a:pPr marL="0" indent="0" algn="l">
              <a:lnSpc>
                <a:spcPts val="4150"/>
              </a:lnSpc>
              <a:buNone/>
            </a:pPr>
            <a:r>
              <a:rPr lang="en-US" sz="3300" b="1" dirty="0">
                <a:solidFill>
                  <a:srgbClr val="000000"/>
                </a:solidFill>
                <a:latin typeface="Inter Bold" pitchFamily="34" charset="0"/>
                <a:ea typeface="Inter Bold" pitchFamily="34" charset="-122"/>
                <a:cs typeface="Inter Bold" pitchFamily="34" charset="-120"/>
              </a:rPr>
              <a:t>Advanced Loading: Secure File Paths</a:t>
            </a:r>
            <a:endParaRPr lang="en-US" sz="3300" dirty="0"/>
          </a:p>
        </p:txBody>
      </p:sp>
      <p:sp>
        <p:nvSpPr>
          <p:cNvPr id="3" name="Text 1"/>
          <p:cNvSpPr/>
          <p:nvPr/>
        </p:nvSpPr>
        <p:spPr>
          <a:xfrm>
            <a:off x="793790" y="1563648"/>
            <a:ext cx="13042821" cy="26991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Working with real-world data means dealing with file paths. Learn how to build them robustly and load your data without errors.</a:t>
            </a:r>
            <a:endParaRPr lang="en-US" sz="1300" dirty="0"/>
          </a:p>
        </p:txBody>
      </p:sp>
      <p:sp>
        <p:nvSpPr>
          <p:cNvPr id="4" name="Shape 2"/>
          <p:cNvSpPr/>
          <p:nvPr/>
        </p:nvSpPr>
        <p:spPr>
          <a:xfrm>
            <a:off x="1046798" y="2698075"/>
            <a:ext cx="3982045" cy="168593"/>
          </a:xfrm>
          <a:prstGeom prst="roundRect">
            <a:avLst>
              <a:gd name="adj" fmla="val 4202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5" name="Shape 3"/>
          <p:cNvSpPr/>
          <p:nvPr/>
        </p:nvSpPr>
        <p:spPr>
          <a:xfrm>
            <a:off x="793790" y="2529364"/>
            <a:ext cx="506016" cy="506016"/>
          </a:xfrm>
          <a:prstGeom prst="roundRect">
            <a:avLst>
              <a:gd name="adj" fmla="val 9035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20234" y="2655808"/>
            <a:ext cx="253008" cy="253008"/>
          </a:xfrm>
          <a:prstGeom prst="rect">
            <a:avLst/>
          </a:prstGeom>
        </p:spPr>
      </p:pic>
      <p:sp>
        <p:nvSpPr>
          <p:cNvPr id="7" name="Text 4"/>
          <p:cNvSpPr/>
          <p:nvPr/>
        </p:nvSpPr>
        <p:spPr>
          <a:xfrm>
            <a:off x="962382" y="3203972"/>
            <a:ext cx="2133838"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1. Construct the Path</a:t>
            </a:r>
            <a:endParaRPr lang="en-US" sz="1650" dirty="0"/>
          </a:p>
        </p:txBody>
      </p:sp>
      <p:sp>
        <p:nvSpPr>
          <p:cNvPr id="8" name="Text 5"/>
          <p:cNvSpPr/>
          <p:nvPr/>
        </p:nvSpPr>
        <p:spPr>
          <a:xfrm>
            <a:off x="962382" y="3568660"/>
            <a:ext cx="3897987" cy="82498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Use </a:t>
            </a:r>
            <a:r>
              <a:rPr lang="en-US" sz="1300" dirty="0">
                <a:solidFill>
                  <a:srgbClr val="000000"/>
                </a:solidFill>
                <a:highlight>
                  <a:srgbClr val="F2F2F2"/>
                </a:highlight>
                <a:latin typeface="Consolas" pitchFamily="34" charset="0"/>
                <a:ea typeface="Consolas" pitchFamily="34" charset="-122"/>
                <a:cs typeface="Consolas" pitchFamily="34" charset="-120"/>
              </a:rPr>
              <a:t>os.path.join()</a:t>
            </a:r>
            <a:r>
              <a:rPr lang="en-US" sz="1300" dirty="0">
                <a:solidFill>
                  <a:srgbClr val="000000"/>
                </a:solidFill>
                <a:latin typeface="Montserrat Medium" pitchFamily="34" charset="0"/>
                <a:ea typeface="Montserrat Medium" pitchFamily="34" charset="-122"/>
                <a:cs typeface="Montserrat Medium" pitchFamily="34" charset="-120"/>
              </a:rPr>
              <a:t> to safely combine path components, ensuring cross-OS compatibility.</a:t>
            </a:r>
            <a:endParaRPr lang="en-US" sz="1300" dirty="0"/>
          </a:p>
        </p:txBody>
      </p:sp>
      <p:sp>
        <p:nvSpPr>
          <p:cNvPr id="9" name="Shape 6"/>
          <p:cNvSpPr/>
          <p:nvPr/>
        </p:nvSpPr>
        <p:spPr>
          <a:xfrm>
            <a:off x="962382" y="4583430"/>
            <a:ext cx="3897987" cy="1062633"/>
          </a:xfrm>
          <a:prstGeom prst="roundRect">
            <a:avLst>
              <a:gd name="adj" fmla="val 6668"/>
            </a:avLst>
          </a:prstGeom>
          <a:solidFill>
            <a:srgbClr val="F2F2F2"/>
          </a:solidFill>
          <a:ln/>
        </p:spPr>
      </p:sp>
      <p:sp>
        <p:nvSpPr>
          <p:cNvPr id="10" name="Shape 7"/>
          <p:cNvSpPr/>
          <p:nvPr/>
        </p:nvSpPr>
        <p:spPr>
          <a:xfrm>
            <a:off x="954048" y="4583430"/>
            <a:ext cx="3914656" cy="1062633"/>
          </a:xfrm>
          <a:prstGeom prst="roundRect">
            <a:avLst>
              <a:gd name="adj" fmla="val 2381"/>
            </a:avLst>
          </a:prstGeom>
          <a:solidFill>
            <a:srgbClr val="F2F2F2"/>
          </a:solidFill>
          <a:ln/>
        </p:spPr>
      </p:sp>
      <p:sp>
        <p:nvSpPr>
          <p:cNvPr id="11" name="Text 8"/>
          <p:cNvSpPr/>
          <p:nvPr/>
        </p:nvSpPr>
        <p:spPr>
          <a:xfrm>
            <a:off x="1122640" y="4709874"/>
            <a:ext cx="3577471" cy="809744"/>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import os</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base_path = r"C:\...\documentary"</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file_path = os.path.join(base_path, "data.csv")</a:t>
            </a:r>
            <a:endParaRPr lang="en-US" sz="1300" dirty="0"/>
          </a:p>
        </p:txBody>
      </p:sp>
      <p:sp>
        <p:nvSpPr>
          <p:cNvPr id="12" name="Shape 9"/>
          <p:cNvSpPr/>
          <p:nvPr/>
        </p:nvSpPr>
        <p:spPr>
          <a:xfrm>
            <a:off x="5450562" y="2445068"/>
            <a:ext cx="3982045" cy="168593"/>
          </a:xfrm>
          <a:prstGeom prst="roundRect">
            <a:avLst>
              <a:gd name="adj" fmla="val 4202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3" name="Shape 10"/>
          <p:cNvSpPr/>
          <p:nvPr/>
        </p:nvSpPr>
        <p:spPr>
          <a:xfrm>
            <a:off x="5197554" y="2276356"/>
            <a:ext cx="506016" cy="506016"/>
          </a:xfrm>
          <a:prstGeom prst="roundRect">
            <a:avLst>
              <a:gd name="adj" fmla="val 9035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14"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323999" y="2402800"/>
            <a:ext cx="253008" cy="253008"/>
          </a:xfrm>
          <a:prstGeom prst="rect">
            <a:avLst/>
          </a:prstGeom>
        </p:spPr>
      </p:pic>
      <p:sp>
        <p:nvSpPr>
          <p:cNvPr id="15" name="Text 11"/>
          <p:cNvSpPr/>
          <p:nvPr/>
        </p:nvSpPr>
        <p:spPr>
          <a:xfrm>
            <a:off x="5366147" y="2950964"/>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2. Verify Existence</a:t>
            </a:r>
            <a:endParaRPr lang="en-US" sz="1650" dirty="0"/>
          </a:p>
        </p:txBody>
      </p:sp>
      <p:sp>
        <p:nvSpPr>
          <p:cNvPr id="16" name="Text 12"/>
          <p:cNvSpPr/>
          <p:nvPr/>
        </p:nvSpPr>
        <p:spPr>
          <a:xfrm>
            <a:off x="5366147" y="3315653"/>
            <a:ext cx="3897987" cy="555069"/>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Use </a:t>
            </a:r>
            <a:r>
              <a:rPr lang="en-US" sz="1300" dirty="0">
                <a:solidFill>
                  <a:srgbClr val="000000"/>
                </a:solidFill>
                <a:highlight>
                  <a:srgbClr val="F2F2F2"/>
                </a:highlight>
                <a:latin typeface="Consolas" pitchFamily="34" charset="0"/>
                <a:ea typeface="Consolas" pitchFamily="34" charset="-122"/>
                <a:cs typeface="Consolas" pitchFamily="34" charset="-120"/>
              </a:rPr>
              <a:t>os.path.exists(file_path)</a:t>
            </a:r>
            <a:r>
              <a:rPr lang="en-US" sz="1300" dirty="0">
                <a:solidFill>
                  <a:srgbClr val="000000"/>
                </a:solidFill>
                <a:latin typeface="Montserrat Medium" pitchFamily="34" charset="0"/>
                <a:ea typeface="Montserrat Medium" pitchFamily="34" charset="-122"/>
                <a:cs typeface="Montserrat Medium" pitchFamily="34" charset="-120"/>
              </a:rPr>
              <a:t> to check if the file is present before attempting to load.</a:t>
            </a:r>
            <a:endParaRPr lang="en-US" sz="1300" dirty="0"/>
          </a:p>
        </p:txBody>
      </p:sp>
      <p:sp>
        <p:nvSpPr>
          <p:cNvPr id="17" name="Shape 13"/>
          <p:cNvSpPr/>
          <p:nvPr/>
        </p:nvSpPr>
        <p:spPr>
          <a:xfrm>
            <a:off x="5366147" y="4060508"/>
            <a:ext cx="3897987" cy="1332548"/>
          </a:xfrm>
          <a:prstGeom prst="roundRect">
            <a:avLst>
              <a:gd name="adj" fmla="val 5317"/>
            </a:avLst>
          </a:prstGeom>
          <a:solidFill>
            <a:srgbClr val="F2F2F2"/>
          </a:solidFill>
          <a:ln/>
        </p:spPr>
      </p:sp>
      <p:sp>
        <p:nvSpPr>
          <p:cNvPr id="18" name="Shape 14"/>
          <p:cNvSpPr/>
          <p:nvPr/>
        </p:nvSpPr>
        <p:spPr>
          <a:xfrm>
            <a:off x="5357813" y="4060508"/>
            <a:ext cx="3914656" cy="1332548"/>
          </a:xfrm>
          <a:prstGeom prst="roundRect">
            <a:avLst>
              <a:gd name="adj" fmla="val 1899"/>
            </a:avLst>
          </a:prstGeom>
          <a:solidFill>
            <a:srgbClr val="F2F2F2"/>
          </a:solidFill>
          <a:ln/>
        </p:spPr>
      </p:sp>
      <p:sp>
        <p:nvSpPr>
          <p:cNvPr id="19" name="Text 15"/>
          <p:cNvSpPr/>
          <p:nvPr/>
        </p:nvSpPr>
        <p:spPr>
          <a:xfrm>
            <a:off x="5526405" y="4186952"/>
            <a:ext cx="3577471" cy="1079659"/>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if os.path.exists(file_path):</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    df = pd.read_csv(file_path)</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else:</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    print("File not found!")</a:t>
            </a:r>
            <a:endParaRPr lang="en-US" sz="1300" dirty="0"/>
          </a:p>
        </p:txBody>
      </p:sp>
      <p:sp>
        <p:nvSpPr>
          <p:cNvPr id="20" name="Shape 16"/>
          <p:cNvSpPr/>
          <p:nvPr/>
        </p:nvSpPr>
        <p:spPr>
          <a:xfrm>
            <a:off x="9854327" y="2192060"/>
            <a:ext cx="3982164" cy="168593"/>
          </a:xfrm>
          <a:prstGeom prst="roundRect">
            <a:avLst>
              <a:gd name="adj" fmla="val 42027"/>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21" name="Shape 17"/>
          <p:cNvSpPr/>
          <p:nvPr/>
        </p:nvSpPr>
        <p:spPr>
          <a:xfrm>
            <a:off x="9601319" y="2023348"/>
            <a:ext cx="506016" cy="506016"/>
          </a:xfrm>
          <a:prstGeom prst="roundRect">
            <a:avLst>
              <a:gd name="adj" fmla="val 9035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22"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27763" y="2149793"/>
            <a:ext cx="253008" cy="253008"/>
          </a:xfrm>
          <a:prstGeom prst="rect">
            <a:avLst/>
          </a:prstGeom>
        </p:spPr>
      </p:pic>
      <p:sp>
        <p:nvSpPr>
          <p:cNvPr id="23" name="Text 18"/>
          <p:cNvSpPr/>
          <p:nvPr/>
        </p:nvSpPr>
        <p:spPr>
          <a:xfrm>
            <a:off x="9769912" y="2697956"/>
            <a:ext cx="2108716" cy="263485"/>
          </a:xfrm>
          <a:prstGeom prst="rect">
            <a:avLst/>
          </a:prstGeom>
          <a:noFill/>
          <a:ln/>
        </p:spPr>
        <p:txBody>
          <a:bodyPr wrap="none" lIns="0" tIns="0" rIns="0" bIns="0" rtlCol="0" anchor="t"/>
          <a:lstStyle/>
          <a:p>
            <a:pPr marL="0" indent="0" algn="l">
              <a:lnSpc>
                <a:spcPts val="2050"/>
              </a:lnSpc>
              <a:buNone/>
            </a:pPr>
            <a:r>
              <a:rPr lang="en-US" sz="1650" b="1" dirty="0">
                <a:solidFill>
                  <a:srgbClr val="000000"/>
                </a:solidFill>
                <a:latin typeface="Inter Bold" pitchFamily="34" charset="0"/>
                <a:ea typeface="Inter Bold" pitchFamily="34" charset="-122"/>
                <a:cs typeface="Inter Bold" pitchFamily="34" charset="-120"/>
              </a:rPr>
              <a:t>3. Load into Pandas</a:t>
            </a:r>
            <a:endParaRPr lang="en-US" sz="1650" dirty="0"/>
          </a:p>
        </p:txBody>
      </p:sp>
      <p:sp>
        <p:nvSpPr>
          <p:cNvPr id="24" name="Text 19"/>
          <p:cNvSpPr/>
          <p:nvPr/>
        </p:nvSpPr>
        <p:spPr>
          <a:xfrm>
            <a:off x="9769912" y="3062645"/>
            <a:ext cx="3898106" cy="570309"/>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Pass the generated </a:t>
            </a:r>
            <a:r>
              <a:rPr lang="en-US" sz="1300" dirty="0">
                <a:solidFill>
                  <a:srgbClr val="000000"/>
                </a:solidFill>
                <a:highlight>
                  <a:srgbClr val="F2F2F2"/>
                </a:highlight>
                <a:latin typeface="Consolas" pitchFamily="34" charset="0"/>
                <a:ea typeface="Consolas" pitchFamily="34" charset="-122"/>
                <a:cs typeface="Consolas" pitchFamily="34" charset="-120"/>
              </a:rPr>
              <a:t>file_path</a:t>
            </a:r>
            <a:r>
              <a:rPr lang="en-US" sz="1300" dirty="0">
                <a:solidFill>
                  <a:srgbClr val="000000"/>
                </a:solidFill>
                <a:latin typeface="Montserrat Medium" pitchFamily="34" charset="0"/>
                <a:ea typeface="Montserrat Medium" pitchFamily="34" charset="-122"/>
                <a:cs typeface="Montserrat Medium" pitchFamily="34" charset="-120"/>
              </a:rPr>
              <a:t> to Pandas' </a:t>
            </a:r>
            <a:r>
              <a:rPr lang="en-US" sz="1300" dirty="0">
                <a:solidFill>
                  <a:srgbClr val="000000"/>
                </a:solidFill>
                <a:highlight>
                  <a:srgbClr val="F2F2F2"/>
                </a:highlight>
                <a:latin typeface="Consolas" pitchFamily="34" charset="0"/>
                <a:ea typeface="Consolas" pitchFamily="34" charset="-122"/>
                <a:cs typeface="Consolas" pitchFamily="34" charset="-120"/>
              </a:rPr>
              <a:t>read_csv()</a:t>
            </a:r>
            <a:r>
              <a:rPr lang="en-US" sz="1300" dirty="0">
                <a:solidFill>
                  <a:srgbClr val="000000"/>
                </a:solidFill>
                <a:latin typeface="Montserrat Medium" pitchFamily="34" charset="0"/>
                <a:ea typeface="Montserrat Medium" pitchFamily="34" charset="-122"/>
                <a:cs typeface="Montserrat Medium" pitchFamily="34" charset="-120"/>
              </a:rPr>
              <a:t> function to load your data.</a:t>
            </a:r>
            <a:endParaRPr lang="en-US" sz="1300" dirty="0"/>
          </a:p>
        </p:txBody>
      </p:sp>
      <p:sp>
        <p:nvSpPr>
          <p:cNvPr id="25" name="Shape 20"/>
          <p:cNvSpPr/>
          <p:nvPr/>
        </p:nvSpPr>
        <p:spPr>
          <a:xfrm>
            <a:off x="9769912" y="3822740"/>
            <a:ext cx="3898106" cy="1872377"/>
          </a:xfrm>
          <a:prstGeom prst="roundRect">
            <a:avLst>
              <a:gd name="adj" fmla="val 3784"/>
            </a:avLst>
          </a:prstGeom>
          <a:solidFill>
            <a:srgbClr val="F2F2F2"/>
          </a:solidFill>
          <a:ln/>
        </p:spPr>
      </p:sp>
      <p:sp>
        <p:nvSpPr>
          <p:cNvPr id="26" name="Shape 21"/>
          <p:cNvSpPr/>
          <p:nvPr/>
        </p:nvSpPr>
        <p:spPr>
          <a:xfrm>
            <a:off x="9761577" y="3822740"/>
            <a:ext cx="3914775" cy="1872377"/>
          </a:xfrm>
          <a:prstGeom prst="roundRect">
            <a:avLst>
              <a:gd name="adj" fmla="val 1352"/>
            </a:avLst>
          </a:prstGeom>
          <a:solidFill>
            <a:srgbClr val="F2F2F2"/>
          </a:solidFill>
          <a:ln/>
        </p:spPr>
      </p:sp>
      <p:sp>
        <p:nvSpPr>
          <p:cNvPr id="27" name="Text 22"/>
          <p:cNvSpPr/>
          <p:nvPr/>
        </p:nvSpPr>
        <p:spPr>
          <a:xfrm>
            <a:off x="9930170" y="3949184"/>
            <a:ext cx="3577590" cy="1619488"/>
          </a:xfrm>
          <a:prstGeom prst="rect">
            <a:avLst/>
          </a:prstGeom>
          <a:noFill/>
          <a:ln/>
        </p:spPr>
        <p:txBody>
          <a:bodyPr wrap="square" lIns="0" tIns="0" rIns="0" bIns="0" rtlCol="0" anchor="t"/>
          <a:lstStyle/>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try:</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    df = pd.read_csv(file_path)</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    print("Success! File Read")</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except FileNotFoundError:</a:t>
            </a:r>
            <a:endParaRPr lang="en-US" sz="1300" dirty="0"/>
          </a:p>
          <a:p>
            <a:pPr marL="0" indent="0" algn="l">
              <a:lnSpc>
                <a:spcPts val="2100"/>
              </a:lnSpc>
              <a:buNone/>
            </a:pPr>
            <a:r>
              <a:rPr lang="en-US" sz="1300" dirty="0">
                <a:solidFill>
                  <a:srgbClr val="000000"/>
                </a:solidFill>
                <a:highlight>
                  <a:srgbClr val="F2F2F2"/>
                </a:highlight>
                <a:latin typeface="Consolas Medium" pitchFamily="34" charset="0"/>
                <a:ea typeface="Consolas Medium" pitchFamily="34" charset="-122"/>
                <a:cs typeface="Consolas Medium" pitchFamily="34" charset="-120"/>
              </a:rPr>
              <a:t>    print(f"Error: I couldn't find a file at {file_path}")</a:t>
            </a:r>
            <a:endParaRPr lang="en-US" sz="1300" dirty="0"/>
          </a:p>
        </p:txBody>
      </p:sp>
      <p:sp>
        <p:nvSpPr>
          <p:cNvPr id="28" name="Shape 23"/>
          <p:cNvSpPr/>
          <p:nvPr/>
        </p:nvSpPr>
        <p:spPr>
          <a:xfrm>
            <a:off x="793790" y="6053495"/>
            <a:ext cx="13042821" cy="1017151"/>
          </a:xfrm>
          <a:prstGeom prst="roundRect">
            <a:avLst>
              <a:gd name="adj" fmla="val 6966"/>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29" name="Image 3" descr="preencoded.png"/>
          <p:cNvPicPr>
            <a:picLocks noChangeAspect="1"/>
          </p:cNvPicPr>
          <p:nvPr/>
        </p:nvPicPr>
        <p:blipFill>
          <a:blip r:embed="rId9">
            <a:duotone>
              <a:prstClr val="black"/>
              <a:srgbClr val="7030A0">
                <a:tint val="45000"/>
                <a:satMod val="400000"/>
              </a:srgbClr>
            </a:duotone>
          </a:blip>
          <a:stretch>
            <a:fillRect/>
          </a:stretch>
        </p:blipFill>
        <p:spPr>
          <a:xfrm>
            <a:off x="962382" y="6307217"/>
            <a:ext cx="210860" cy="168593"/>
          </a:xfrm>
          <a:prstGeom prst="rect">
            <a:avLst/>
          </a:prstGeom>
        </p:spPr>
      </p:pic>
      <p:sp>
        <p:nvSpPr>
          <p:cNvPr id="30" name="Text 24"/>
          <p:cNvSpPr/>
          <p:nvPr/>
        </p:nvSpPr>
        <p:spPr>
          <a:xfrm>
            <a:off x="1341834" y="6264235"/>
            <a:ext cx="12326183" cy="570309"/>
          </a:xfrm>
          <a:prstGeom prst="rect">
            <a:avLst/>
          </a:prstGeom>
          <a:noFill/>
          <a:ln/>
        </p:spPr>
        <p:txBody>
          <a:bodyPr wrap="square" lIns="0" tIns="0" rIns="0" bIns="0" rtlCol="0" anchor="t"/>
          <a:lstStyle/>
          <a:p>
            <a:pPr marL="0" indent="0" algn="l">
              <a:lnSpc>
                <a:spcPts val="2100"/>
              </a:lnSpc>
              <a:buNone/>
            </a:pPr>
            <a:r>
              <a:rPr lang="en-US" sz="1300" b="1" dirty="0">
                <a:solidFill>
                  <a:srgbClr val="000000"/>
                </a:solidFill>
                <a:latin typeface="Montserrat Medium" pitchFamily="34" charset="0"/>
                <a:ea typeface="Montserrat Medium" pitchFamily="34" charset="-122"/>
                <a:cs typeface="Montserrat Medium" pitchFamily="34" charset="-120"/>
              </a:rPr>
              <a:t>Why this approach is better:</a:t>
            </a:r>
            <a:r>
              <a:rPr lang="en-US" sz="1300" dirty="0">
                <a:solidFill>
                  <a:srgbClr val="000000"/>
                </a:solidFill>
                <a:latin typeface="Montserrat Medium" pitchFamily="34" charset="0"/>
                <a:ea typeface="Montserrat Medium" pitchFamily="34" charset="-122"/>
                <a:cs typeface="Montserrat Medium" pitchFamily="34" charset="-120"/>
              </a:rPr>
              <a:t> Directly typing paths can lead to "escape character" errors (e.g., </a:t>
            </a:r>
            <a:r>
              <a:rPr lang="en-US" sz="1300" dirty="0">
                <a:solidFill>
                  <a:srgbClr val="000000"/>
                </a:solidFill>
                <a:highlight>
                  <a:srgbClr val="F2F2F2"/>
                </a:highlight>
                <a:latin typeface="Consolas" pitchFamily="34" charset="0"/>
                <a:ea typeface="Consolas" pitchFamily="34" charset="-122"/>
                <a:cs typeface="Consolas" pitchFamily="34" charset="-120"/>
              </a:rPr>
              <a:t>\Users</a:t>
            </a:r>
            <a:r>
              <a:rPr lang="en-US" sz="1300" dirty="0">
                <a:solidFill>
                  <a:srgbClr val="000000"/>
                </a:solidFill>
                <a:latin typeface="Montserrat Medium" pitchFamily="34" charset="0"/>
                <a:ea typeface="Montserrat Medium" pitchFamily="34" charset="-122"/>
                <a:cs typeface="Montserrat Medium" pitchFamily="34" charset="-120"/>
              </a:rPr>
              <a:t>) and makes your code inflexible if file locations change. Using </a:t>
            </a:r>
            <a:r>
              <a:rPr lang="en-US" sz="1300" dirty="0">
                <a:solidFill>
                  <a:srgbClr val="000000"/>
                </a:solidFill>
                <a:highlight>
                  <a:srgbClr val="F2F2F2"/>
                </a:highlight>
                <a:latin typeface="Consolas" pitchFamily="34" charset="0"/>
                <a:ea typeface="Consolas" pitchFamily="34" charset="-122"/>
                <a:cs typeface="Consolas" pitchFamily="34" charset="-120"/>
              </a:rPr>
              <a:t>os.path.join</a:t>
            </a:r>
            <a:r>
              <a:rPr lang="en-US" sz="1300" dirty="0">
                <a:solidFill>
                  <a:srgbClr val="000000"/>
                </a:solidFill>
                <a:latin typeface="Montserrat Medium" pitchFamily="34" charset="0"/>
                <a:ea typeface="Montserrat Medium" pitchFamily="34" charset="-122"/>
                <a:cs typeface="Montserrat Medium" pitchFamily="34" charset="-120"/>
              </a:rPr>
              <a:t> and a base path avoids these issues.</a:t>
            </a:r>
            <a:endParaRPr lang="en-US" sz="1300" dirty="0"/>
          </a:p>
        </p:txBody>
      </p:sp>
      <p:sp>
        <p:nvSpPr>
          <p:cNvPr id="31" name="Text 25"/>
          <p:cNvSpPr/>
          <p:nvPr/>
        </p:nvSpPr>
        <p:spPr>
          <a:xfrm>
            <a:off x="793790" y="7260431"/>
            <a:ext cx="13042821" cy="269915"/>
          </a:xfrm>
          <a:prstGeom prst="rect">
            <a:avLst/>
          </a:prstGeom>
          <a:noFill/>
          <a:ln/>
        </p:spPr>
        <p:txBody>
          <a:bodyPr wrap="none" lIns="0" tIns="0" rIns="0" bIns="0" rtlCol="0" anchor="t"/>
          <a:lstStyle/>
          <a:p>
            <a:pPr marL="0" indent="0" algn="l">
              <a:lnSpc>
                <a:spcPts val="2100"/>
              </a:lnSpc>
              <a:buNone/>
            </a:pPr>
            <a:r>
              <a:rPr lang="en-US" sz="1300" dirty="0">
                <a:solidFill>
                  <a:srgbClr val="000000"/>
                </a:solidFill>
                <a:latin typeface="Montserrat Medium" pitchFamily="34" charset="0"/>
                <a:ea typeface="Montserrat Medium" pitchFamily="34" charset="-122"/>
                <a:cs typeface="Montserrat Medium" pitchFamily="34" charset="-120"/>
              </a:rPr>
              <a:t>These methods prevent common errors and make your code more adaptable.</a:t>
            </a:r>
            <a:endParaRPr lang="en-US" sz="1300" dirty="0"/>
          </a:p>
        </p:txBody>
      </p:sp>
      <p:pic>
        <p:nvPicPr>
          <p:cNvPr id="32" name="Picture 31">
            <a:extLst>
              <a:ext uri="{FF2B5EF4-FFF2-40B4-BE49-F238E27FC236}">
                <a16:creationId xmlns:a16="http://schemas.microsoft.com/office/drawing/2014/main" id="{570C9C8A-0ABD-EEDA-9E16-549549ED465E}"/>
              </a:ext>
            </a:extLst>
          </p:cNvPr>
          <p:cNvPicPr>
            <a:picLocks noChangeAspect="1"/>
          </p:cNvPicPr>
          <p:nvPr/>
        </p:nvPicPr>
        <p:blipFill>
          <a:blip r:embed="rId10"/>
          <a:stretch>
            <a:fillRect/>
          </a:stretch>
        </p:blipFill>
        <p:spPr>
          <a:xfrm>
            <a:off x="13342557" y="118334"/>
            <a:ext cx="1125764" cy="412584"/>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793790" y="1344097"/>
            <a:ext cx="996684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Advanced Loading: Handling Messy Files</a:t>
            </a:r>
            <a:endParaRPr lang="en-US" sz="3900" dirty="0"/>
          </a:p>
        </p:txBody>
      </p:sp>
      <p:sp>
        <p:nvSpPr>
          <p:cNvPr id="3" name="Text 1"/>
          <p:cNvSpPr/>
          <p:nvPr/>
        </p:nvSpPr>
        <p:spPr>
          <a:xfrm>
            <a:off x="793790" y="2261830"/>
            <a:ext cx="13042821" cy="33278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Real-world data is rarely clean. Pandas' </a:t>
            </a:r>
            <a:r>
              <a:rPr lang="en-US" sz="1550" dirty="0">
                <a:solidFill>
                  <a:srgbClr val="000000"/>
                </a:solidFill>
                <a:highlight>
                  <a:srgbClr val="F2F2F2"/>
                </a:highlight>
                <a:latin typeface="Consolas" pitchFamily="34" charset="0"/>
                <a:ea typeface="Consolas" pitchFamily="34" charset="-122"/>
                <a:cs typeface="Consolas" pitchFamily="34" charset="-120"/>
              </a:rPr>
              <a:t>read_csv</a:t>
            </a:r>
            <a:r>
              <a:rPr lang="en-US" sz="1550" dirty="0">
                <a:solidFill>
                  <a:srgbClr val="000000"/>
                </a:solidFill>
                <a:latin typeface="Montserrat Medium" pitchFamily="34" charset="0"/>
                <a:ea typeface="Montserrat Medium" pitchFamily="34" charset="-122"/>
                <a:cs typeface="Montserrat Medium" pitchFamily="34" charset="-120"/>
              </a:rPr>
              <a:t> has over 50 options to fix weird files instantly. Here are the most important ones:</a:t>
            </a:r>
            <a:endParaRPr lang="en-US" sz="1550" dirty="0"/>
          </a:p>
        </p:txBody>
      </p:sp>
      <p:sp>
        <p:nvSpPr>
          <p:cNvPr id="4" name="Shape 2"/>
          <p:cNvSpPr/>
          <p:nvPr/>
        </p:nvSpPr>
        <p:spPr>
          <a:xfrm>
            <a:off x="793790" y="2817852"/>
            <a:ext cx="4215289" cy="4067532"/>
          </a:xfrm>
          <a:prstGeom prst="roundRect">
            <a:avLst>
              <a:gd name="adj" fmla="val 2698"/>
            </a:avLst>
          </a:prstGeom>
          <a:solidFill>
            <a:srgbClr val="FFFFFF"/>
          </a:solidFill>
          <a:ln w="22860">
            <a:solidFill>
              <a:srgbClr val="720062"/>
            </a:solidFill>
            <a:prstDash val="solid"/>
          </a:ln>
        </p:spPr>
      </p:sp>
      <p:sp>
        <p:nvSpPr>
          <p:cNvPr id="5" name="Shape 3"/>
          <p:cNvSpPr/>
          <p:nvPr/>
        </p:nvSpPr>
        <p:spPr>
          <a:xfrm>
            <a:off x="770930" y="2817852"/>
            <a:ext cx="91440" cy="4067532"/>
          </a:xfrm>
          <a:prstGeom prst="roundRect">
            <a:avLst>
              <a:gd name="adj" fmla="val 91163"/>
            </a:avLst>
          </a:prstGeom>
          <a:solidFill>
            <a:srgbClr val="720062"/>
          </a:solidFill>
          <a:ln/>
        </p:spPr>
      </p:sp>
      <p:sp>
        <p:nvSpPr>
          <p:cNvPr id="6" name="Text 4"/>
          <p:cNvSpPr/>
          <p:nvPr/>
        </p:nvSpPr>
        <p:spPr>
          <a:xfrm>
            <a:off x="1083588" y="303907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No Headers?</a:t>
            </a:r>
            <a:endParaRPr lang="en-US" sz="1950" dirty="0"/>
          </a:p>
        </p:txBody>
      </p:sp>
      <p:sp>
        <p:nvSpPr>
          <p:cNvPr id="7" name="Shape 5"/>
          <p:cNvSpPr/>
          <p:nvPr/>
        </p:nvSpPr>
        <p:spPr>
          <a:xfrm>
            <a:off x="1083588" y="3572470"/>
            <a:ext cx="3704273" cy="1567815"/>
          </a:xfrm>
          <a:prstGeom prst="roundRect">
            <a:avLst>
              <a:gd name="adj" fmla="val 5317"/>
            </a:avLst>
          </a:prstGeom>
          <a:solidFill>
            <a:srgbClr val="F2F2F2"/>
          </a:solidFill>
          <a:ln/>
        </p:spPr>
      </p:sp>
      <p:sp>
        <p:nvSpPr>
          <p:cNvPr id="8" name="Shape 6"/>
          <p:cNvSpPr/>
          <p:nvPr/>
        </p:nvSpPr>
        <p:spPr>
          <a:xfrm>
            <a:off x="1073706" y="3572470"/>
            <a:ext cx="3724037" cy="1567815"/>
          </a:xfrm>
          <a:prstGeom prst="roundRect">
            <a:avLst>
              <a:gd name="adj" fmla="val 1899"/>
            </a:avLst>
          </a:prstGeom>
          <a:solidFill>
            <a:srgbClr val="F2F2F2"/>
          </a:solidFill>
          <a:ln/>
        </p:spPr>
      </p:sp>
      <p:sp>
        <p:nvSpPr>
          <p:cNvPr id="9" name="Text 7"/>
          <p:cNvSpPr/>
          <p:nvPr/>
        </p:nvSpPr>
        <p:spPr>
          <a:xfrm>
            <a:off x="1272064" y="3721298"/>
            <a:ext cx="3327321" cy="12701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pd.read_csv("data.csv", header=None, </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names=["Name", "Age", "City"])</a:t>
            </a:r>
            <a:endParaRPr lang="en-US" sz="1550" dirty="0"/>
          </a:p>
        </p:txBody>
      </p:sp>
      <p:sp>
        <p:nvSpPr>
          <p:cNvPr id="10" name="Text 8"/>
          <p:cNvSpPr/>
          <p:nvPr/>
        </p:nvSpPr>
        <p:spPr>
          <a:xfrm>
            <a:off x="1083588" y="5363528"/>
            <a:ext cx="3704273" cy="130063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Use </a:t>
            </a:r>
            <a:r>
              <a:rPr lang="en-US" sz="1550" dirty="0">
                <a:solidFill>
                  <a:srgbClr val="000000"/>
                </a:solidFill>
                <a:highlight>
                  <a:srgbClr val="F2F2F2"/>
                </a:highlight>
                <a:latin typeface="Consolas" pitchFamily="34" charset="0"/>
                <a:ea typeface="Consolas" pitchFamily="34" charset="-122"/>
                <a:cs typeface="Consolas" pitchFamily="34" charset="-120"/>
              </a:rPr>
              <a:t>header=None</a:t>
            </a:r>
            <a:r>
              <a:rPr lang="en-US" sz="1550" dirty="0">
                <a:solidFill>
                  <a:srgbClr val="000000"/>
                </a:solidFill>
                <a:latin typeface="Montserrat Medium" pitchFamily="34" charset="0"/>
                <a:ea typeface="Montserrat Medium" pitchFamily="34" charset="-122"/>
                <a:cs typeface="Montserrat Medium" pitchFamily="34" charset="-120"/>
              </a:rPr>
              <a:t> to prevent row 1 from becoming column names. Assign your own names with the </a:t>
            </a:r>
            <a:r>
              <a:rPr lang="en-US" sz="1550" dirty="0">
                <a:solidFill>
                  <a:srgbClr val="000000"/>
                </a:solidFill>
                <a:highlight>
                  <a:srgbClr val="F2F2F2"/>
                </a:highlight>
                <a:latin typeface="Consolas" pitchFamily="34" charset="0"/>
                <a:ea typeface="Consolas" pitchFamily="34" charset="-122"/>
                <a:cs typeface="Consolas" pitchFamily="34" charset="-120"/>
              </a:rPr>
              <a:t>names</a:t>
            </a:r>
            <a:r>
              <a:rPr lang="en-US" sz="1550" dirty="0">
                <a:solidFill>
                  <a:srgbClr val="000000"/>
                </a:solidFill>
                <a:latin typeface="Montserrat Medium" pitchFamily="34" charset="0"/>
                <a:ea typeface="Montserrat Medium" pitchFamily="34" charset="-122"/>
                <a:cs typeface="Montserrat Medium" pitchFamily="34" charset="-120"/>
              </a:rPr>
              <a:t> parameter.</a:t>
            </a:r>
            <a:endParaRPr lang="en-US" sz="1550" dirty="0"/>
          </a:p>
        </p:txBody>
      </p:sp>
      <p:sp>
        <p:nvSpPr>
          <p:cNvPr id="11" name="Shape 9"/>
          <p:cNvSpPr/>
          <p:nvPr/>
        </p:nvSpPr>
        <p:spPr>
          <a:xfrm>
            <a:off x="5207437" y="2817852"/>
            <a:ext cx="4215408" cy="4067532"/>
          </a:xfrm>
          <a:prstGeom prst="roundRect">
            <a:avLst>
              <a:gd name="adj" fmla="val 2698"/>
            </a:avLst>
          </a:prstGeom>
          <a:solidFill>
            <a:srgbClr val="FFFFFF"/>
          </a:solidFill>
          <a:ln w="22860">
            <a:solidFill>
              <a:srgbClr val="720062"/>
            </a:solidFill>
            <a:prstDash val="solid"/>
          </a:ln>
        </p:spPr>
      </p:sp>
      <p:sp>
        <p:nvSpPr>
          <p:cNvPr id="12" name="Shape 10"/>
          <p:cNvSpPr/>
          <p:nvPr/>
        </p:nvSpPr>
        <p:spPr>
          <a:xfrm>
            <a:off x="5184577" y="2817852"/>
            <a:ext cx="91440" cy="4067532"/>
          </a:xfrm>
          <a:prstGeom prst="roundRect">
            <a:avLst>
              <a:gd name="adj" fmla="val 91163"/>
            </a:avLst>
          </a:prstGeom>
          <a:solidFill>
            <a:srgbClr val="720062"/>
          </a:solidFill>
          <a:ln/>
        </p:spPr>
      </p:sp>
      <p:sp>
        <p:nvSpPr>
          <p:cNvPr id="13" name="Text 11"/>
          <p:cNvSpPr/>
          <p:nvPr/>
        </p:nvSpPr>
        <p:spPr>
          <a:xfrm>
            <a:off x="5497235" y="303907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Weird Separator?</a:t>
            </a:r>
            <a:endParaRPr lang="en-US" sz="1950" dirty="0"/>
          </a:p>
        </p:txBody>
      </p:sp>
      <p:sp>
        <p:nvSpPr>
          <p:cNvPr id="14" name="Shape 12"/>
          <p:cNvSpPr/>
          <p:nvPr/>
        </p:nvSpPr>
        <p:spPr>
          <a:xfrm>
            <a:off x="5497235" y="3572470"/>
            <a:ext cx="3704392" cy="932736"/>
          </a:xfrm>
          <a:prstGeom prst="roundRect">
            <a:avLst>
              <a:gd name="adj" fmla="val 8937"/>
            </a:avLst>
          </a:prstGeom>
          <a:solidFill>
            <a:srgbClr val="F2F2F2"/>
          </a:solidFill>
          <a:ln/>
        </p:spPr>
      </p:sp>
      <p:sp>
        <p:nvSpPr>
          <p:cNvPr id="15" name="Shape 13"/>
          <p:cNvSpPr/>
          <p:nvPr/>
        </p:nvSpPr>
        <p:spPr>
          <a:xfrm>
            <a:off x="5487353" y="3572470"/>
            <a:ext cx="3724156" cy="932736"/>
          </a:xfrm>
          <a:prstGeom prst="roundRect">
            <a:avLst>
              <a:gd name="adj" fmla="val 3192"/>
            </a:avLst>
          </a:prstGeom>
          <a:solidFill>
            <a:srgbClr val="F2F2F2"/>
          </a:solidFill>
          <a:ln/>
        </p:spPr>
      </p:sp>
      <p:sp>
        <p:nvSpPr>
          <p:cNvPr id="16" name="Text 14"/>
          <p:cNvSpPr/>
          <p:nvPr/>
        </p:nvSpPr>
        <p:spPr>
          <a:xfrm>
            <a:off x="5685711" y="3721298"/>
            <a:ext cx="3327440"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pd.read_csv("data.txt", sep="|")</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pd.read_csv("data.tsv", sep="\t")</a:t>
            </a:r>
            <a:endParaRPr lang="en-US" sz="1550" dirty="0"/>
          </a:p>
        </p:txBody>
      </p:sp>
      <p:sp>
        <p:nvSpPr>
          <p:cNvPr id="17" name="Text 15"/>
          <p:cNvSpPr/>
          <p:nvPr/>
        </p:nvSpPr>
        <p:spPr>
          <a:xfrm>
            <a:off x="5497235" y="4728448"/>
            <a:ext cx="3704392" cy="96785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If your file uses pipes (|) or tabs instead of commas, specify the separator. </a:t>
            </a:r>
            <a:r>
              <a:rPr lang="en-US" sz="1550" dirty="0">
                <a:solidFill>
                  <a:srgbClr val="000000"/>
                </a:solidFill>
                <a:highlight>
                  <a:srgbClr val="F2F2F2"/>
                </a:highlight>
                <a:latin typeface="Consolas" pitchFamily="34" charset="0"/>
                <a:ea typeface="Consolas" pitchFamily="34" charset="-122"/>
                <a:cs typeface="Consolas" pitchFamily="34" charset="-120"/>
              </a:rPr>
              <a:t>\t</a:t>
            </a:r>
            <a:r>
              <a:rPr lang="en-US" sz="1550" dirty="0">
                <a:solidFill>
                  <a:srgbClr val="000000"/>
                </a:solidFill>
                <a:latin typeface="Montserrat Medium" pitchFamily="34" charset="0"/>
                <a:ea typeface="Montserrat Medium" pitchFamily="34" charset="-122"/>
                <a:cs typeface="Montserrat Medium" pitchFamily="34" charset="-120"/>
              </a:rPr>
              <a:t> means tab character.</a:t>
            </a:r>
            <a:endParaRPr lang="en-US" sz="1550" dirty="0"/>
          </a:p>
        </p:txBody>
      </p:sp>
      <p:sp>
        <p:nvSpPr>
          <p:cNvPr id="18" name="Shape 16"/>
          <p:cNvSpPr/>
          <p:nvPr/>
        </p:nvSpPr>
        <p:spPr>
          <a:xfrm>
            <a:off x="9621203" y="2817852"/>
            <a:ext cx="4215289" cy="4067532"/>
          </a:xfrm>
          <a:prstGeom prst="roundRect">
            <a:avLst>
              <a:gd name="adj" fmla="val 2698"/>
            </a:avLst>
          </a:prstGeom>
          <a:solidFill>
            <a:srgbClr val="FFFFFF"/>
          </a:solidFill>
          <a:ln w="22860">
            <a:solidFill>
              <a:srgbClr val="720062"/>
            </a:solidFill>
            <a:prstDash val="solid"/>
          </a:ln>
        </p:spPr>
      </p:sp>
      <p:sp>
        <p:nvSpPr>
          <p:cNvPr id="19" name="Shape 17"/>
          <p:cNvSpPr/>
          <p:nvPr/>
        </p:nvSpPr>
        <p:spPr>
          <a:xfrm>
            <a:off x="9598343" y="2817852"/>
            <a:ext cx="91440" cy="4067532"/>
          </a:xfrm>
          <a:prstGeom prst="roundRect">
            <a:avLst>
              <a:gd name="adj" fmla="val 91163"/>
            </a:avLst>
          </a:prstGeom>
          <a:solidFill>
            <a:srgbClr val="720062"/>
          </a:solidFill>
          <a:ln/>
        </p:spPr>
      </p:sp>
      <p:sp>
        <p:nvSpPr>
          <p:cNvPr id="20" name="Text 18"/>
          <p:cNvSpPr/>
          <p:nvPr/>
        </p:nvSpPr>
        <p:spPr>
          <a:xfrm>
            <a:off x="9911001" y="3039070"/>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Wrong Data Type?</a:t>
            </a:r>
            <a:endParaRPr lang="en-US" sz="1950" dirty="0"/>
          </a:p>
        </p:txBody>
      </p:sp>
      <p:sp>
        <p:nvSpPr>
          <p:cNvPr id="21" name="Shape 19"/>
          <p:cNvSpPr/>
          <p:nvPr/>
        </p:nvSpPr>
        <p:spPr>
          <a:xfrm>
            <a:off x="9911001" y="3572470"/>
            <a:ext cx="3704273" cy="932736"/>
          </a:xfrm>
          <a:prstGeom prst="roundRect">
            <a:avLst>
              <a:gd name="adj" fmla="val 8937"/>
            </a:avLst>
          </a:prstGeom>
          <a:solidFill>
            <a:srgbClr val="F2F2F2"/>
          </a:solidFill>
          <a:ln/>
        </p:spPr>
      </p:sp>
      <p:sp>
        <p:nvSpPr>
          <p:cNvPr id="22" name="Shape 20"/>
          <p:cNvSpPr/>
          <p:nvPr/>
        </p:nvSpPr>
        <p:spPr>
          <a:xfrm>
            <a:off x="9901118" y="3572470"/>
            <a:ext cx="3724037" cy="932736"/>
          </a:xfrm>
          <a:prstGeom prst="roundRect">
            <a:avLst>
              <a:gd name="adj" fmla="val 3192"/>
            </a:avLst>
          </a:prstGeom>
          <a:solidFill>
            <a:srgbClr val="F2F2F2"/>
          </a:solidFill>
          <a:ln/>
        </p:spPr>
      </p:sp>
      <p:sp>
        <p:nvSpPr>
          <p:cNvPr id="23" name="Text 21"/>
          <p:cNvSpPr/>
          <p:nvPr/>
        </p:nvSpPr>
        <p:spPr>
          <a:xfrm>
            <a:off x="10099477" y="3721298"/>
            <a:ext cx="33273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pd.read_csv("data.csv", </a:t>
            </a:r>
            <a:endParaRPr lang="en-US" sz="1550" dirty="0"/>
          </a:p>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           dtype={"ZipCode": str})</a:t>
            </a:r>
            <a:endParaRPr lang="en-US" sz="1550" dirty="0"/>
          </a:p>
        </p:txBody>
      </p:sp>
      <p:sp>
        <p:nvSpPr>
          <p:cNvPr id="24" name="Text 22"/>
          <p:cNvSpPr/>
          <p:nvPr/>
        </p:nvSpPr>
        <p:spPr>
          <a:xfrm>
            <a:off x="9911001" y="4728448"/>
            <a:ext cx="3704273"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Force specific columns to be read as text to preserve leading zeros like "09010".</a:t>
            </a:r>
            <a:endParaRPr lang="en-US" sz="1550" dirty="0"/>
          </a:p>
        </p:txBody>
      </p:sp>
      <p:pic>
        <p:nvPicPr>
          <p:cNvPr id="25" name="Picture 24">
            <a:extLst>
              <a:ext uri="{FF2B5EF4-FFF2-40B4-BE49-F238E27FC236}">
                <a16:creationId xmlns:a16="http://schemas.microsoft.com/office/drawing/2014/main" id="{5A067F5E-A148-D36C-109A-55C0A630E99A}"/>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793790" y="710565"/>
            <a:ext cx="3529370" cy="434102"/>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Inspecting Your Data</a:t>
            </a:r>
            <a:endParaRPr lang="en-US" sz="2700" dirty="0"/>
          </a:p>
        </p:txBody>
      </p:sp>
      <p:sp>
        <p:nvSpPr>
          <p:cNvPr id="3" name="Text 1"/>
          <p:cNvSpPr/>
          <p:nvPr/>
        </p:nvSpPr>
        <p:spPr>
          <a:xfrm>
            <a:off x="793790" y="1491853"/>
            <a:ext cx="1736646"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df.head()</a:t>
            </a:r>
            <a:endParaRPr lang="en-US" sz="1350" dirty="0"/>
          </a:p>
        </p:txBody>
      </p:sp>
      <p:pic>
        <p:nvPicPr>
          <p:cNvPr id="4" name="Image 0" descr="preencoded.png"/>
          <p:cNvPicPr>
            <a:picLocks noChangeAspect="1"/>
          </p:cNvPicPr>
          <p:nvPr/>
        </p:nvPicPr>
        <p:blipFill>
          <a:blip r:embed="rId3"/>
          <a:stretch>
            <a:fillRect/>
          </a:stretch>
        </p:blipFill>
        <p:spPr>
          <a:xfrm>
            <a:off x="793790" y="1865114"/>
            <a:ext cx="2853928" cy="2853928"/>
          </a:xfrm>
          <a:prstGeom prst="rect">
            <a:avLst/>
          </a:prstGeom>
        </p:spPr>
      </p:pic>
      <p:sp>
        <p:nvSpPr>
          <p:cNvPr id="5" name="Text 2"/>
          <p:cNvSpPr/>
          <p:nvPr/>
        </p:nvSpPr>
        <p:spPr>
          <a:xfrm>
            <a:off x="793790" y="4875252"/>
            <a:ext cx="4077057" cy="23753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Sneak peek at the first 5 rows. Use </a:t>
            </a:r>
            <a:r>
              <a:rPr lang="en-US" sz="1050" dirty="0">
                <a:solidFill>
                  <a:srgbClr val="000000"/>
                </a:solidFill>
                <a:highlight>
                  <a:srgbClr val="F2F2F2"/>
                </a:highlight>
                <a:latin typeface="Consolas" pitchFamily="34" charset="0"/>
                <a:ea typeface="Consolas" pitchFamily="34" charset="-122"/>
                <a:cs typeface="Consolas" pitchFamily="34" charset="-120"/>
              </a:rPr>
              <a:t>head(10)</a:t>
            </a:r>
            <a:r>
              <a:rPr lang="en-US" sz="1050" dirty="0">
                <a:solidFill>
                  <a:srgbClr val="000000"/>
                </a:solidFill>
                <a:latin typeface="Montserrat Medium" pitchFamily="34" charset="0"/>
                <a:ea typeface="Montserrat Medium" pitchFamily="34" charset="-122"/>
                <a:cs typeface="Montserrat Medium" pitchFamily="34" charset="-120"/>
              </a:rPr>
              <a:t> to see more.</a:t>
            </a:r>
            <a:endParaRPr lang="en-US" sz="1050" dirty="0"/>
          </a:p>
        </p:txBody>
      </p:sp>
      <p:sp>
        <p:nvSpPr>
          <p:cNvPr id="6" name="Shape 3"/>
          <p:cNvSpPr/>
          <p:nvPr/>
        </p:nvSpPr>
        <p:spPr>
          <a:xfrm>
            <a:off x="793790" y="5268992"/>
            <a:ext cx="4077057" cy="430649"/>
          </a:xfrm>
          <a:prstGeom prst="roundRect">
            <a:avLst>
              <a:gd name="adj" fmla="val 13550"/>
            </a:avLst>
          </a:prstGeom>
          <a:solidFill>
            <a:srgbClr val="F2F2F2"/>
          </a:solidFill>
          <a:ln/>
        </p:spPr>
      </p:sp>
      <p:sp>
        <p:nvSpPr>
          <p:cNvPr id="7" name="Shape 4"/>
          <p:cNvSpPr/>
          <p:nvPr/>
        </p:nvSpPr>
        <p:spPr>
          <a:xfrm>
            <a:off x="786884" y="5268992"/>
            <a:ext cx="4090868" cy="430649"/>
          </a:xfrm>
          <a:prstGeom prst="roundRect">
            <a:avLst>
              <a:gd name="adj" fmla="val 4839"/>
            </a:avLst>
          </a:prstGeom>
          <a:solidFill>
            <a:srgbClr val="F2F2F2"/>
          </a:solidFill>
          <a:ln/>
        </p:spPr>
      </p:sp>
      <p:sp>
        <p:nvSpPr>
          <p:cNvPr id="8" name="Text 5"/>
          <p:cNvSpPr/>
          <p:nvPr/>
        </p:nvSpPr>
        <p:spPr>
          <a:xfrm>
            <a:off x="925711" y="5373172"/>
            <a:ext cx="3813215" cy="22229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highlight>
                  <a:srgbClr val="F2F2F2"/>
                </a:highlight>
                <a:latin typeface="Consolas Medium" pitchFamily="34" charset="0"/>
                <a:ea typeface="Consolas Medium" pitchFamily="34" charset="-122"/>
                <a:cs typeface="Consolas Medium" pitchFamily="34" charset="-120"/>
              </a:rPr>
              <a:t>df.head()</a:t>
            </a:r>
            <a:endParaRPr lang="en-US" sz="1050" dirty="0"/>
          </a:p>
        </p:txBody>
      </p:sp>
      <p:sp>
        <p:nvSpPr>
          <p:cNvPr id="9" name="Text 6"/>
          <p:cNvSpPr/>
          <p:nvPr/>
        </p:nvSpPr>
        <p:spPr>
          <a:xfrm>
            <a:off x="5217319" y="1491853"/>
            <a:ext cx="1736646"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df.info()</a:t>
            </a:r>
            <a:endParaRPr lang="en-US" sz="1350" dirty="0"/>
          </a:p>
        </p:txBody>
      </p:sp>
      <p:pic>
        <p:nvPicPr>
          <p:cNvPr id="10" name="Image 1" descr="preencoded.png"/>
          <p:cNvPicPr>
            <a:picLocks noChangeAspect="1"/>
          </p:cNvPicPr>
          <p:nvPr/>
        </p:nvPicPr>
        <p:blipFill>
          <a:blip r:embed="rId4"/>
          <a:stretch>
            <a:fillRect/>
          </a:stretch>
        </p:blipFill>
        <p:spPr>
          <a:xfrm>
            <a:off x="5217319" y="1865114"/>
            <a:ext cx="2853928" cy="2853928"/>
          </a:xfrm>
          <a:prstGeom prst="rect">
            <a:avLst/>
          </a:prstGeom>
        </p:spPr>
      </p:pic>
      <p:sp>
        <p:nvSpPr>
          <p:cNvPr id="11" name="Text 7"/>
          <p:cNvSpPr/>
          <p:nvPr/>
        </p:nvSpPr>
        <p:spPr>
          <a:xfrm>
            <a:off x="5217319" y="4875252"/>
            <a:ext cx="4077057" cy="44457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Check data types and find empty cells (nulls). Spots if numbers are stored as text.</a:t>
            </a:r>
            <a:endParaRPr lang="en-US" sz="1050" dirty="0"/>
          </a:p>
        </p:txBody>
      </p:sp>
      <p:sp>
        <p:nvSpPr>
          <p:cNvPr id="12" name="Shape 8"/>
          <p:cNvSpPr/>
          <p:nvPr/>
        </p:nvSpPr>
        <p:spPr>
          <a:xfrm>
            <a:off x="5217319" y="5476042"/>
            <a:ext cx="4077057" cy="430649"/>
          </a:xfrm>
          <a:prstGeom prst="roundRect">
            <a:avLst>
              <a:gd name="adj" fmla="val 13550"/>
            </a:avLst>
          </a:prstGeom>
          <a:solidFill>
            <a:srgbClr val="F2F2F2"/>
          </a:solidFill>
          <a:ln/>
        </p:spPr>
      </p:sp>
      <p:sp>
        <p:nvSpPr>
          <p:cNvPr id="13" name="Shape 9"/>
          <p:cNvSpPr/>
          <p:nvPr/>
        </p:nvSpPr>
        <p:spPr>
          <a:xfrm>
            <a:off x="5210413" y="5476042"/>
            <a:ext cx="4090868" cy="430649"/>
          </a:xfrm>
          <a:prstGeom prst="roundRect">
            <a:avLst>
              <a:gd name="adj" fmla="val 4839"/>
            </a:avLst>
          </a:prstGeom>
          <a:solidFill>
            <a:srgbClr val="F2F2F2"/>
          </a:solidFill>
          <a:ln/>
        </p:spPr>
      </p:sp>
      <p:sp>
        <p:nvSpPr>
          <p:cNvPr id="14" name="Text 10"/>
          <p:cNvSpPr/>
          <p:nvPr/>
        </p:nvSpPr>
        <p:spPr>
          <a:xfrm>
            <a:off x="5349240" y="5580221"/>
            <a:ext cx="3813215" cy="22229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highlight>
                  <a:srgbClr val="F2F2F2"/>
                </a:highlight>
                <a:latin typeface="Consolas Medium" pitchFamily="34" charset="0"/>
                <a:ea typeface="Consolas Medium" pitchFamily="34" charset="-122"/>
                <a:cs typeface="Consolas Medium" pitchFamily="34" charset="-120"/>
              </a:rPr>
              <a:t>df.info()</a:t>
            </a:r>
            <a:endParaRPr lang="en-US" sz="1050" dirty="0"/>
          </a:p>
        </p:txBody>
      </p:sp>
      <p:sp>
        <p:nvSpPr>
          <p:cNvPr id="15" name="Text 11"/>
          <p:cNvSpPr/>
          <p:nvPr/>
        </p:nvSpPr>
        <p:spPr>
          <a:xfrm>
            <a:off x="9640848" y="1491853"/>
            <a:ext cx="1736646" cy="217051"/>
          </a:xfrm>
          <a:prstGeom prst="rect">
            <a:avLst/>
          </a:prstGeom>
          <a:noFill/>
          <a:ln/>
        </p:spPr>
        <p:txBody>
          <a:bodyPr wrap="none" lIns="0" tIns="0" rIns="0" bIns="0" rtlCol="0" anchor="t"/>
          <a:lstStyle/>
          <a:p>
            <a:pPr marL="0" indent="0" algn="l">
              <a:lnSpc>
                <a:spcPts val="1700"/>
              </a:lnSpc>
              <a:buNone/>
            </a:pPr>
            <a:r>
              <a:rPr lang="en-US" sz="1350" b="1" dirty="0">
                <a:solidFill>
                  <a:srgbClr val="000000"/>
                </a:solidFill>
                <a:latin typeface="Inter Bold" pitchFamily="34" charset="0"/>
                <a:ea typeface="Inter Bold" pitchFamily="34" charset="-122"/>
                <a:cs typeface="Inter Bold" pitchFamily="34" charset="-120"/>
              </a:rPr>
              <a:t>df.describe()</a:t>
            </a:r>
            <a:endParaRPr lang="en-US" sz="1350" dirty="0"/>
          </a:p>
        </p:txBody>
      </p:sp>
      <p:pic>
        <p:nvPicPr>
          <p:cNvPr id="16" name="Image 2" descr="preencoded.png"/>
          <p:cNvPicPr>
            <a:picLocks noChangeAspect="1"/>
          </p:cNvPicPr>
          <p:nvPr/>
        </p:nvPicPr>
        <p:blipFill>
          <a:blip r:embed="rId5"/>
          <a:stretch>
            <a:fillRect/>
          </a:stretch>
        </p:blipFill>
        <p:spPr>
          <a:xfrm>
            <a:off x="9640848" y="1865114"/>
            <a:ext cx="2947511" cy="2947511"/>
          </a:xfrm>
          <a:prstGeom prst="rect">
            <a:avLst/>
          </a:prstGeom>
        </p:spPr>
      </p:pic>
      <p:sp>
        <p:nvSpPr>
          <p:cNvPr id="17" name="Text 12"/>
          <p:cNvSpPr/>
          <p:nvPr/>
        </p:nvSpPr>
        <p:spPr>
          <a:xfrm>
            <a:off x="9640848" y="4968835"/>
            <a:ext cx="4210883" cy="44457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Instant math stats: mean, max, min, standard deviation for all numeric columns.</a:t>
            </a:r>
            <a:endParaRPr lang="en-US" sz="1050" dirty="0"/>
          </a:p>
        </p:txBody>
      </p:sp>
      <p:sp>
        <p:nvSpPr>
          <p:cNvPr id="18" name="Shape 13"/>
          <p:cNvSpPr/>
          <p:nvPr/>
        </p:nvSpPr>
        <p:spPr>
          <a:xfrm>
            <a:off x="9640848" y="5569625"/>
            <a:ext cx="4210883" cy="430649"/>
          </a:xfrm>
          <a:prstGeom prst="roundRect">
            <a:avLst>
              <a:gd name="adj" fmla="val 13550"/>
            </a:avLst>
          </a:prstGeom>
          <a:solidFill>
            <a:srgbClr val="F2F2F2"/>
          </a:solidFill>
          <a:ln/>
        </p:spPr>
      </p:sp>
      <p:sp>
        <p:nvSpPr>
          <p:cNvPr id="19" name="Shape 14"/>
          <p:cNvSpPr/>
          <p:nvPr/>
        </p:nvSpPr>
        <p:spPr>
          <a:xfrm>
            <a:off x="9633942" y="5569625"/>
            <a:ext cx="4224695" cy="430649"/>
          </a:xfrm>
          <a:prstGeom prst="roundRect">
            <a:avLst>
              <a:gd name="adj" fmla="val 4839"/>
            </a:avLst>
          </a:prstGeom>
          <a:solidFill>
            <a:srgbClr val="F2F2F2"/>
          </a:solidFill>
          <a:ln/>
        </p:spPr>
      </p:sp>
      <p:sp>
        <p:nvSpPr>
          <p:cNvPr id="20" name="Text 15"/>
          <p:cNvSpPr/>
          <p:nvPr/>
        </p:nvSpPr>
        <p:spPr>
          <a:xfrm>
            <a:off x="9772769" y="5673804"/>
            <a:ext cx="3947041" cy="222290"/>
          </a:xfrm>
          <a:prstGeom prst="rect">
            <a:avLst/>
          </a:prstGeom>
          <a:noFill/>
          <a:ln/>
        </p:spPr>
        <p:txBody>
          <a:bodyPr wrap="none" lIns="0" tIns="0" rIns="0" bIns="0" rtlCol="0" anchor="t"/>
          <a:lstStyle/>
          <a:p>
            <a:pPr marL="0" indent="0" algn="l">
              <a:lnSpc>
                <a:spcPts val="1750"/>
              </a:lnSpc>
              <a:buNone/>
            </a:pPr>
            <a:r>
              <a:rPr lang="en-US" sz="1050" dirty="0">
                <a:solidFill>
                  <a:srgbClr val="000000"/>
                </a:solidFill>
                <a:highlight>
                  <a:srgbClr val="F2F2F2"/>
                </a:highlight>
                <a:latin typeface="Consolas Medium" pitchFamily="34" charset="0"/>
                <a:ea typeface="Consolas Medium" pitchFamily="34" charset="-122"/>
                <a:cs typeface="Consolas Medium" pitchFamily="34" charset="-120"/>
              </a:rPr>
              <a:t>df.describe()</a:t>
            </a:r>
            <a:endParaRPr lang="en-US" sz="1050" dirty="0"/>
          </a:p>
        </p:txBody>
      </p:sp>
      <p:sp>
        <p:nvSpPr>
          <p:cNvPr id="21" name="Text 16"/>
          <p:cNvSpPr/>
          <p:nvPr/>
        </p:nvSpPr>
        <p:spPr>
          <a:xfrm>
            <a:off x="793790" y="6312694"/>
            <a:ext cx="13042821" cy="444579"/>
          </a:xfrm>
          <a:prstGeom prst="rect">
            <a:avLst/>
          </a:prstGeom>
          <a:noFill/>
          <a:ln/>
        </p:spPr>
        <p:txBody>
          <a:bodyPr wrap="square" lIns="0" tIns="0" rIns="0" bIns="0" rtlCol="0" anchor="t"/>
          <a:lstStyle/>
          <a:p>
            <a:pPr marL="0" indent="0" algn="l">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These three commands should be your first step with any new dataset. They give you a complete picture of what you're working with: the structure, the data types, and the statistical distribution.</a:t>
            </a:r>
            <a:endParaRPr lang="en-US" sz="1050" dirty="0"/>
          </a:p>
        </p:txBody>
      </p:sp>
      <p:sp>
        <p:nvSpPr>
          <p:cNvPr id="22" name="Shape 17"/>
          <p:cNvSpPr/>
          <p:nvPr/>
        </p:nvSpPr>
        <p:spPr>
          <a:xfrm>
            <a:off x="793790" y="6913483"/>
            <a:ext cx="13042821" cy="605433"/>
          </a:xfrm>
          <a:prstGeom prst="roundRect">
            <a:avLst>
              <a:gd name="adj" fmla="val 963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23" name="Image 3" descr="preencoded.png"/>
          <p:cNvPicPr>
            <a:picLocks noChangeAspect="1"/>
          </p:cNvPicPr>
          <p:nvPr/>
        </p:nvPicPr>
        <p:blipFill>
          <a:blip r:embed="rId6">
            <a:duotone>
              <a:prstClr val="black"/>
              <a:srgbClr val="7030A0">
                <a:tint val="45000"/>
                <a:satMod val="400000"/>
              </a:srgbClr>
            </a:duotone>
          </a:blip>
          <a:stretch>
            <a:fillRect/>
          </a:stretch>
        </p:blipFill>
        <p:spPr>
          <a:xfrm>
            <a:off x="932617" y="7125414"/>
            <a:ext cx="173593" cy="138827"/>
          </a:xfrm>
          <a:prstGeom prst="rect">
            <a:avLst/>
          </a:prstGeom>
        </p:spPr>
      </p:pic>
      <p:sp>
        <p:nvSpPr>
          <p:cNvPr id="24" name="Text 18"/>
          <p:cNvSpPr/>
          <p:nvPr/>
        </p:nvSpPr>
        <p:spPr>
          <a:xfrm>
            <a:off x="1245037" y="7086957"/>
            <a:ext cx="12452747" cy="237530"/>
          </a:xfrm>
          <a:prstGeom prst="rect">
            <a:avLst/>
          </a:prstGeom>
          <a:noFill/>
          <a:ln/>
        </p:spPr>
        <p:txBody>
          <a:bodyPr wrap="none" lIns="0" tIns="0" rIns="0" bIns="0" rtlCol="0" anchor="t"/>
          <a:lstStyle/>
          <a:p>
            <a:pPr marL="0" indent="0" algn="l">
              <a:lnSpc>
                <a:spcPts val="1750"/>
              </a:lnSpc>
              <a:buNone/>
            </a:pPr>
            <a:r>
              <a:rPr lang="en-US" sz="1050" b="1" dirty="0">
                <a:solidFill>
                  <a:srgbClr val="000000"/>
                </a:solidFill>
                <a:latin typeface="Montserrat Medium" pitchFamily="34" charset="0"/>
                <a:ea typeface="Montserrat Medium" pitchFamily="34" charset="-122"/>
                <a:cs typeface="Montserrat Medium" pitchFamily="34" charset="-120"/>
              </a:rPr>
              <a:t>Pro Tip:</a:t>
            </a:r>
            <a:r>
              <a:rPr lang="en-US" sz="1050" dirty="0">
                <a:solidFill>
                  <a:srgbClr val="000000"/>
                </a:solidFill>
                <a:latin typeface="Montserrat Medium" pitchFamily="34" charset="0"/>
                <a:ea typeface="Montserrat Medium" pitchFamily="34" charset="-122"/>
                <a:cs typeface="Montserrat Medium" pitchFamily="34" charset="-120"/>
              </a:rPr>
              <a:t> Use </a:t>
            </a:r>
            <a:r>
              <a:rPr lang="en-US" sz="1050" dirty="0">
                <a:solidFill>
                  <a:srgbClr val="000000"/>
                </a:solidFill>
                <a:highlight>
                  <a:srgbClr val="F2F2F2"/>
                </a:highlight>
                <a:latin typeface="Consolas" pitchFamily="34" charset="0"/>
                <a:ea typeface="Consolas" pitchFamily="34" charset="-122"/>
                <a:cs typeface="Consolas" pitchFamily="34" charset="-120"/>
              </a:rPr>
              <a:t>info()</a:t>
            </a:r>
            <a:r>
              <a:rPr lang="en-US" sz="1050" dirty="0">
                <a:solidFill>
                  <a:srgbClr val="000000"/>
                </a:solidFill>
                <a:latin typeface="Montserrat Medium" pitchFamily="34" charset="0"/>
                <a:ea typeface="Montserrat Medium" pitchFamily="34" charset="-122"/>
                <a:cs typeface="Montserrat Medium" pitchFamily="34" charset="-120"/>
              </a:rPr>
              <a:t> to spot if numbers are accidentally stored as "Object" type (text). This causes math operations to fail.</a:t>
            </a:r>
            <a:endParaRPr lang="en-US" sz="1050" dirty="0"/>
          </a:p>
        </p:txBody>
      </p:sp>
      <p:pic>
        <p:nvPicPr>
          <p:cNvPr id="25" name="Picture 24">
            <a:extLst>
              <a:ext uri="{FF2B5EF4-FFF2-40B4-BE49-F238E27FC236}">
                <a16:creationId xmlns:a16="http://schemas.microsoft.com/office/drawing/2014/main" id="{67032EF7-0A90-4C02-C7C7-C43C67BA7908}"/>
              </a:ext>
            </a:extLst>
          </p:cNvPr>
          <p:cNvPicPr>
            <a:picLocks noChangeAspect="1"/>
          </p:cNvPicPr>
          <p:nvPr/>
        </p:nvPicPr>
        <p:blipFill>
          <a:blip r:embed="rId7"/>
          <a:stretch>
            <a:fillRect/>
          </a:stretch>
        </p:blipFill>
        <p:spPr>
          <a:xfrm>
            <a:off x="13342557" y="118334"/>
            <a:ext cx="1125764" cy="412584"/>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793790" y="631984"/>
            <a:ext cx="7886700" cy="589121"/>
          </a:xfrm>
          <a:prstGeom prst="rect">
            <a:avLst/>
          </a:prstGeom>
          <a:noFill/>
          <a:ln/>
        </p:spPr>
        <p:txBody>
          <a:bodyPr wrap="none" lIns="0" tIns="0" rIns="0" bIns="0" rtlCol="0" anchor="t"/>
          <a:lstStyle/>
          <a:p>
            <a:pPr marL="0" indent="0" algn="l">
              <a:lnSpc>
                <a:spcPts val="4600"/>
              </a:lnSpc>
              <a:buNone/>
            </a:pPr>
            <a:r>
              <a:rPr lang="en-US" sz="3700" b="1" dirty="0">
                <a:solidFill>
                  <a:srgbClr val="000000"/>
                </a:solidFill>
                <a:latin typeface="Inter Bold" pitchFamily="34" charset="0"/>
                <a:ea typeface="Inter Bold" pitchFamily="34" charset="-122"/>
                <a:cs typeface="Inter Bold" pitchFamily="34" charset="-120"/>
              </a:rPr>
              <a:t>Handling Missing Data (The NaNs)</a:t>
            </a:r>
            <a:endParaRPr lang="en-US" sz="3700" dirty="0"/>
          </a:p>
        </p:txBody>
      </p:sp>
      <p:sp>
        <p:nvSpPr>
          <p:cNvPr id="3" name="Text 1"/>
          <p:cNvSpPr/>
          <p:nvPr/>
        </p:nvSpPr>
        <p:spPr>
          <a:xfrm>
            <a:off x="793790" y="1692354"/>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The Problem</a:t>
            </a:r>
            <a:endParaRPr lang="en-US" sz="2200" dirty="0"/>
          </a:p>
        </p:txBody>
      </p:sp>
      <p:sp>
        <p:nvSpPr>
          <p:cNvPr id="4" name="Text 2"/>
          <p:cNvSpPr/>
          <p:nvPr/>
        </p:nvSpPr>
        <p:spPr>
          <a:xfrm>
            <a:off x="793790" y="2234208"/>
            <a:ext cx="6291382"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Real data has holes. In Python, an empty value is called </a:t>
            </a:r>
            <a:r>
              <a:rPr lang="en-US" sz="1450" b="1" dirty="0">
                <a:solidFill>
                  <a:srgbClr val="000000"/>
                </a:solidFill>
                <a:latin typeface="Montserrat Medium" pitchFamily="34" charset="0"/>
                <a:ea typeface="Montserrat Medium" pitchFamily="34" charset="-122"/>
                <a:cs typeface="Montserrat Medium" pitchFamily="34" charset="-120"/>
              </a:rPr>
              <a:t>NaN</a:t>
            </a:r>
            <a:r>
              <a:rPr lang="en-US" sz="1450" dirty="0">
                <a:solidFill>
                  <a:srgbClr val="000000"/>
                </a:solidFill>
                <a:latin typeface="Montserrat Medium" pitchFamily="34" charset="0"/>
                <a:ea typeface="Montserrat Medium" pitchFamily="34" charset="-122"/>
                <a:cs typeface="Montserrat Medium" pitchFamily="34" charset="-120"/>
              </a:rPr>
              <a:t> (Not a Number). Math with NaN fails:</a:t>
            </a:r>
            <a:endParaRPr lang="en-US" sz="1450" dirty="0"/>
          </a:p>
        </p:txBody>
      </p:sp>
      <p:sp>
        <p:nvSpPr>
          <p:cNvPr id="5" name="Shape 3"/>
          <p:cNvSpPr/>
          <p:nvPr/>
        </p:nvSpPr>
        <p:spPr>
          <a:xfrm>
            <a:off x="793790" y="3049667"/>
            <a:ext cx="6291382" cy="584359"/>
          </a:xfrm>
          <a:prstGeom prst="roundRect">
            <a:avLst>
              <a:gd name="adj" fmla="val 13552"/>
            </a:avLst>
          </a:prstGeom>
          <a:solidFill>
            <a:srgbClr val="F2F2F2"/>
          </a:solidFill>
          <a:ln/>
        </p:spPr>
      </p:sp>
      <p:sp>
        <p:nvSpPr>
          <p:cNvPr id="6" name="Shape 4"/>
          <p:cNvSpPr/>
          <p:nvPr/>
        </p:nvSpPr>
        <p:spPr>
          <a:xfrm>
            <a:off x="784384" y="3049667"/>
            <a:ext cx="6310193" cy="584359"/>
          </a:xfrm>
          <a:prstGeom prst="roundRect">
            <a:avLst>
              <a:gd name="adj" fmla="val 4840"/>
            </a:avLst>
          </a:prstGeom>
          <a:solidFill>
            <a:srgbClr val="F2F2F2"/>
          </a:solidFill>
          <a:ln/>
        </p:spPr>
      </p:sp>
      <p:sp>
        <p:nvSpPr>
          <p:cNvPr id="7" name="Text 5"/>
          <p:cNvSpPr/>
          <p:nvPr/>
        </p:nvSpPr>
        <p:spPr>
          <a:xfrm>
            <a:off x="972860" y="3190994"/>
            <a:ext cx="5933242"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10 + NaN = NaN</a:t>
            </a:r>
            <a:endParaRPr lang="en-US" sz="1450" dirty="0"/>
          </a:p>
        </p:txBody>
      </p:sp>
      <p:sp>
        <p:nvSpPr>
          <p:cNvPr id="8" name="Text 6"/>
          <p:cNvSpPr/>
          <p:nvPr/>
        </p:nvSpPr>
        <p:spPr>
          <a:xfrm>
            <a:off x="793790" y="3846076"/>
            <a:ext cx="6291382"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We must fix them before analysis.</a:t>
            </a:r>
            <a:endParaRPr lang="en-US" sz="1450" dirty="0"/>
          </a:p>
        </p:txBody>
      </p:sp>
      <p:sp>
        <p:nvSpPr>
          <p:cNvPr id="9" name="Text 7"/>
          <p:cNvSpPr/>
          <p:nvPr/>
        </p:nvSpPr>
        <p:spPr>
          <a:xfrm>
            <a:off x="793790" y="4336256"/>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Analogy</a:t>
            </a:r>
            <a:endParaRPr lang="en-US" sz="2200" dirty="0"/>
          </a:p>
        </p:txBody>
      </p:sp>
      <p:sp>
        <p:nvSpPr>
          <p:cNvPr id="10" name="Text 8"/>
          <p:cNvSpPr/>
          <p:nvPr/>
        </p:nvSpPr>
        <p:spPr>
          <a:xfrm>
            <a:off x="793790" y="4878110"/>
            <a:ext cx="6291382"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Think of NaN values as potholes in a road. You can either:</a:t>
            </a:r>
            <a:endParaRPr lang="en-US" sz="1450" dirty="0"/>
          </a:p>
        </p:txBody>
      </p:sp>
      <p:sp>
        <p:nvSpPr>
          <p:cNvPr id="11" name="Text 9"/>
          <p:cNvSpPr/>
          <p:nvPr/>
        </p:nvSpPr>
        <p:spPr>
          <a:xfrm>
            <a:off x="793790" y="5349478"/>
            <a:ext cx="6291382" cy="301704"/>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000000"/>
                </a:solidFill>
                <a:latin typeface="Montserrat Medium" pitchFamily="34" charset="0"/>
                <a:ea typeface="Montserrat Medium" pitchFamily="34" charset="-122"/>
                <a:cs typeface="Montserrat Medium" pitchFamily="34" charset="-120"/>
              </a:rPr>
              <a:t>Close the road</a:t>
            </a:r>
            <a:r>
              <a:rPr lang="en-US" sz="1450" dirty="0">
                <a:solidFill>
                  <a:srgbClr val="000000"/>
                </a:solidFill>
                <a:latin typeface="Montserrat Medium" pitchFamily="34" charset="0"/>
                <a:ea typeface="Montserrat Medium" pitchFamily="34" charset="-122"/>
                <a:cs typeface="Montserrat Medium" pitchFamily="34" charset="-120"/>
              </a:rPr>
              <a:t> (delete the row)</a:t>
            </a:r>
            <a:endParaRPr lang="en-US" sz="1450" dirty="0"/>
          </a:p>
        </p:txBody>
      </p:sp>
      <p:sp>
        <p:nvSpPr>
          <p:cNvPr id="12" name="Text 10"/>
          <p:cNvSpPr/>
          <p:nvPr/>
        </p:nvSpPr>
        <p:spPr>
          <a:xfrm>
            <a:off x="793790" y="5717143"/>
            <a:ext cx="6291382" cy="301704"/>
          </a:xfrm>
          <a:prstGeom prst="rect">
            <a:avLst/>
          </a:prstGeom>
          <a:noFill/>
          <a:ln/>
        </p:spPr>
        <p:txBody>
          <a:bodyPr wrap="none" lIns="0" tIns="0" rIns="0" bIns="0" rtlCol="0" anchor="t"/>
          <a:lstStyle/>
          <a:p>
            <a:pPr marL="342900" indent="-342900" algn="l">
              <a:lnSpc>
                <a:spcPts val="2350"/>
              </a:lnSpc>
              <a:buSzPct val="100000"/>
              <a:buChar char="•"/>
            </a:pPr>
            <a:r>
              <a:rPr lang="en-US" sz="1450" b="1" dirty="0">
                <a:solidFill>
                  <a:srgbClr val="000000"/>
                </a:solidFill>
                <a:latin typeface="Montserrat Medium" pitchFamily="34" charset="0"/>
                <a:ea typeface="Montserrat Medium" pitchFamily="34" charset="-122"/>
                <a:cs typeface="Montserrat Medium" pitchFamily="34" charset="-120"/>
              </a:rPr>
              <a:t>Fill the hole</a:t>
            </a:r>
            <a:r>
              <a:rPr lang="en-US" sz="1450" dirty="0">
                <a:solidFill>
                  <a:srgbClr val="000000"/>
                </a:solidFill>
                <a:latin typeface="Montserrat Medium" pitchFamily="34" charset="0"/>
                <a:ea typeface="Montserrat Medium" pitchFamily="34" charset="-122"/>
                <a:cs typeface="Montserrat Medium" pitchFamily="34" charset="-120"/>
              </a:rPr>
              <a:t> (replace with a value)</a:t>
            </a:r>
            <a:endParaRPr lang="en-US" sz="1450" dirty="0"/>
          </a:p>
        </p:txBody>
      </p:sp>
      <p:sp>
        <p:nvSpPr>
          <p:cNvPr id="13" name="Text 11"/>
          <p:cNvSpPr/>
          <p:nvPr/>
        </p:nvSpPr>
        <p:spPr>
          <a:xfrm>
            <a:off x="7552849" y="1692354"/>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Option 1: Delete</a:t>
            </a:r>
            <a:endParaRPr lang="en-US" sz="2200" dirty="0"/>
          </a:p>
        </p:txBody>
      </p:sp>
      <p:sp>
        <p:nvSpPr>
          <p:cNvPr id="14" name="Shape 12"/>
          <p:cNvSpPr/>
          <p:nvPr/>
        </p:nvSpPr>
        <p:spPr>
          <a:xfrm>
            <a:off x="7552849" y="2257782"/>
            <a:ext cx="6291382" cy="584359"/>
          </a:xfrm>
          <a:prstGeom prst="roundRect">
            <a:avLst>
              <a:gd name="adj" fmla="val 13552"/>
            </a:avLst>
          </a:prstGeom>
          <a:solidFill>
            <a:srgbClr val="F2F2F2"/>
          </a:solidFill>
          <a:ln/>
        </p:spPr>
      </p:sp>
      <p:sp>
        <p:nvSpPr>
          <p:cNvPr id="15" name="Shape 13"/>
          <p:cNvSpPr/>
          <p:nvPr/>
        </p:nvSpPr>
        <p:spPr>
          <a:xfrm>
            <a:off x="7543443" y="2257782"/>
            <a:ext cx="6310193" cy="584359"/>
          </a:xfrm>
          <a:prstGeom prst="roundRect">
            <a:avLst>
              <a:gd name="adj" fmla="val 4840"/>
            </a:avLst>
          </a:prstGeom>
          <a:solidFill>
            <a:srgbClr val="F2F2F2"/>
          </a:solidFill>
          <a:ln/>
        </p:spPr>
      </p:sp>
      <p:sp>
        <p:nvSpPr>
          <p:cNvPr id="16" name="Text 14"/>
          <p:cNvSpPr/>
          <p:nvPr/>
        </p:nvSpPr>
        <p:spPr>
          <a:xfrm>
            <a:off x="7731919" y="2399109"/>
            <a:ext cx="5933242" cy="301704"/>
          </a:xfrm>
          <a:prstGeom prst="rect">
            <a:avLst/>
          </a:prstGeom>
          <a:noFill/>
          <a:ln/>
        </p:spPr>
        <p:txBody>
          <a:bodyPr wrap="non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df.dropna()</a:t>
            </a:r>
            <a:endParaRPr lang="en-US" sz="1450" dirty="0"/>
          </a:p>
        </p:txBody>
      </p:sp>
      <p:sp>
        <p:nvSpPr>
          <p:cNvPr id="17" name="Text 15"/>
          <p:cNvSpPr/>
          <p:nvPr/>
        </p:nvSpPr>
        <p:spPr>
          <a:xfrm>
            <a:off x="7552849" y="3054191"/>
            <a:ext cx="6291382"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Removes any row with missing data. Simple but you lose information.</a:t>
            </a:r>
            <a:endParaRPr lang="en-US" sz="1450" dirty="0"/>
          </a:p>
        </p:txBody>
      </p:sp>
      <p:sp>
        <p:nvSpPr>
          <p:cNvPr id="18" name="Text 16"/>
          <p:cNvSpPr/>
          <p:nvPr/>
        </p:nvSpPr>
        <p:spPr>
          <a:xfrm>
            <a:off x="7552849" y="3846076"/>
            <a:ext cx="2828211" cy="353378"/>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Option 2: Fill</a:t>
            </a:r>
            <a:endParaRPr lang="en-US" sz="2200" dirty="0"/>
          </a:p>
        </p:txBody>
      </p:sp>
      <p:sp>
        <p:nvSpPr>
          <p:cNvPr id="19" name="Shape 17"/>
          <p:cNvSpPr/>
          <p:nvPr/>
        </p:nvSpPr>
        <p:spPr>
          <a:xfrm>
            <a:off x="7552849" y="4411504"/>
            <a:ext cx="6291382" cy="1187768"/>
          </a:xfrm>
          <a:prstGeom prst="roundRect">
            <a:avLst>
              <a:gd name="adj" fmla="val 6667"/>
            </a:avLst>
          </a:prstGeom>
          <a:solidFill>
            <a:srgbClr val="F2F2F2"/>
          </a:solidFill>
          <a:ln/>
        </p:spPr>
      </p:sp>
      <p:sp>
        <p:nvSpPr>
          <p:cNvPr id="20" name="Shape 18"/>
          <p:cNvSpPr/>
          <p:nvPr/>
        </p:nvSpPr>
        <p:spPr>
          <a:xfrm>
            <a:off x="7543443" y="4411504"/>
            <a:ext cx="6310193" cy="1187768"/>
          </a:xfrm>
          <a:prstGeom prst="roundRect">
            <a:avLst>
              <a:gd name="adj" fmla="val 2381"/>
            </a:avLst>
          </a:prstGeom>
          <a:solidFill>
            <a:srgbClr val="F2F2F2"/>
          </a:solidFill>
          <a:ln/>
        </p:spPr>
      </p:sp>
      <p:sp>
        <p:nvSpPr>
          <p:cNvPr id="21" name="Text 19"/>
          <p:cNvSpPr/>
          <p:nvPr/>
        </p:nvSpPr>
        <p:spPr>
          <a:xfrm>
            <a:off x="7731919" y="4552831"/>
            <a:ext cx="5933242" cy="90511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df.fillna(0)</a:t>
            </a:r>
            <a:endParaRPr lang="en-US" sz="1450" dirty="0"/>
          </a:p>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df.fillna("Unknown")</a:t>
            </a:r>
            <a:endParaRPr lang="en-US" sz="1450" dirty="0"/>
          </a:p>
          <a:p>
            <a:pPr marL="0" indent="0" algn="l">
              <a:lnSpc>
                <a:spcPts val="2350"/>
              </a:lnSpc>
              <a:buNone/>
            </a:pPr>
            <a:r>
              <a:rPr lang="en-US" sz="1450" dirty="0">
                <a:solidFill>
                  <a:srgbClr val="000000"/>
                </a:solidFill>
                <a:highlight>
                  <a:srgbClr val="F2F2F2"/>
                </a:highlight>
                <a:latin typeface="Consolas Medium" pitchFamily="34" charset="0"/>
                <a:ea typeface="Consolas Medium" pitchFamily="34" charset="-122"/>
                <a:cs typeface="Consolas Medium" pitchFamily="34" charset="-120"/>
              </a:rPr>
              <a:t>df.fillna(df.mean())</a:t>
            </a:r>
            <a:endParaRPr lang="en-US" sz="1450" dirty="0"/>
          </a:p>
        </p:txBody>
      </p:sp>
      <p:sp>
        <p:nvSpPr>
          <p:cNvPr id="22" name="Text 20"/>
          <p:cNvSpPr/>
          <p:nvPr/>
        </p:nvSpPr>
        <p:spPr>
          <a:xfrm>
            <a:off x="7552849" y="5811322"/>
            <a:ext cx="6291382"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Replace emptiness with 0, text like "Unknown", or the column average. Preserves your data.</a:t>
            </a:r>
            <a:endParaRPr lang="en-US" sz="1450" dirty="0"/>
          </a:p>
        </p:txBody>
      </p:sp>
      <p:sp>
        <p:nvSpPr>
          <p:cNvPr id="23" name="Shape 21"/>
          <p:cNvSpPr/>
          <p:nvPr/>
        </p:nvSpPr>
        <p:spPr>
          <a:xfrm>
            <a:off x="793790" y="6796445"/>
            <a:ext cx="13042821" cy="801053"/>
          </a:xfrm>
          <a:prstGeom prst="roundRect">
            <a:avLst>
              <a:gd name="adj" fmla="val 9886"/>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24" name="Image 0" descr="preencoded.png"/>
          <p:cNvPicPr>
            <a:picLocks noChangeAspect="1"/>
          </p:cNvPicPr>
          <p:nvPr/>
        </p:nvPicPr>
        <p:blipFill>
          <a:blip r:embed="rId3">
            <a:duotone>
              <a:prstClr val="black"/>
              <a:srgbClr val="7030A0">
                <a:tint val="45000"/>
                <a:satMod val="400000"/>
              </a:srgbClr>
            </a:duotone>
          </a:blip>
          <a:stretch>
            <a:fillRect/>
          </a:stretch>
        </p:blipFill>
        <p:spPr>
          <a:xfrm>
            <a:off x="982266" y="7080290"/>
            <a:ext cx="235625" cy="188476"/>
          </a:xfrm>
          <a:prstGeom prst="rect">
            <a:avLst/>
          </a:prstGeom>
        </p:spPr>
      </p:pic>
      <p:sp>
        <p:nvSpPr>
          <p:cNvPr id="25" name="Text 22"/>
          <p:cNvSpPr/>
          <p:nvPr/>
        </p:nvSpPr>
        <p:spPr>
          <a:xfrm>
            <a:off x="1406366" y="7031950"/>
            <a:ext cx="12241768" cy="301704"/>
          </a:xfrm>
          <a:prstGeom prst="rect">
            <a:avLst/>
          </a:prstGeom>
          <a:noFill/>
          <a:ln/>
        </p:spPr>
        <p:txBody>
          <a:bodyPr wrap="none" lIns="0" tIns="0" rIns="0" bIns="0" rtlCol="0" anchor="t"/>
          <a:lstStyle/>
          <a:p>
            <a:pPr marL="0" indent="0" algn="l">
              <a:lnSpc>
                <a:spcPts val="2350"/>
              </a:lnSpc>
              <a:buNone/>
            </a:pPr>
            <a:r>
              <a:rPr lang="en-US" sz="1450" b="1" dirty="0">
                <a:solidFill>
                  <a:srgbClr val="000000"/>
                </a:solidFill>
                <a:latin typeface="Montserrat Medium" pitchFamily="34" charset="0"/>
                <a:ea typeface="Montserrat Medium" pitchFamily="34" charset="-122"/>
                <a:cs typeface="Montserrat Medium" pitchFamily="34" charset="-120"/>
              </a:rPr>
              <a:t>Decision Guide:</a:t>
            </a:r>
            <a:r>
              <a:rPr lang="en-US" sz="1450" dirty="0">
                <a:solidFill>
                  <a:srgbClr val="000000"/>
                </a:solidFill>
                <a:latin typeface="Montserrat Medium" pitchFamily="34" charset="0"/>
                <a:ea typeface="Montserrat Medium" pitchFamily="34" charset="-122"/>
                <a:cs typeface="Montserrat Medium" pitchFamily="34" charset="-120"/>
              </a:rPr>
              <a:t> Drop rows if missing data is rare. Fill values if you need to keep all records or if the missing data is systematic.</a:t>
            </a:r>
            <a:endParaRPr lang="en-US" sz="1450" dirty="0"/>
          </a:p>
        </p:txBody>
      </p:sp>
      <p:pic>
        <p:nvPicPr>
          <p:cNvPr id="26" name="Picture 25">
            <a:extLst>
              <a:ext uri="{FF2B5EF4-FFF2-40B4-BE49-F238E27FC236}">
                <a16:creationId xmlns:a16="http://schemas.microsoft.com/office/drawing/2014/main" id="{58E9CBD3-97AD-B2C2-9747-8619B9AF247D}"/>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793790" y="897374"/>
            <a:ext cx="4069437" cy="465177"/>
          </a:xfrm>
          <a:prstGeom prst="rect">
            <a:avLst/>
          </a:prstGeom>
          <a:noFill/>
          <a:ln/>
        </p:spPr>
        <p:txBody>
          <a:bodyPr wrap="none" lIns="0" tIns="0" rIns="0" bIns="0" rtlCol="0" anchor="t"/>
          <a:lstStyle/>
          <a:p>
            <a:pPr marL="0" indent="0" algn="l">
              <a:lnSpc>
                <a:spcPts val="3650"/>
              </a:lnSpc>
              <a:buNone/>
            </a:pPr>
            <a:r>
              <a:rPr lang="en-US" sz="2900" b="1" dirty="0">
                <a:solidFill>
                  <a:srgbClr val="000000"/>
                </a:solidFill>
                <a:latin typeface="Inter Bold" pitchFamily="34" charset="0"/>
                <a:ea typeface="Inter Bold" pitchFamily="34" charset="-122"/>
                <a:cs typeface="Inter Bold" pitchFamily="34" charset="-120"/>
              </a:rPr>
              <a:t>Selecting and Filtering</a:t>
            </a:r>
            <a:endParaRPr lang="en-US" sz="2900" dirty="0"/>
          </a:p>
        </p:txBody>
      </p:sp>
      <p:sp>
        <p:nvSpPr>
          <p:cNvPr id="3" name="Shape 1"/>
          <p:cNvSpPr/>
          <p:nvPr/>
        </p:nvSpPr>
        <p:spPr>
          <a:xfrm>
            <a:off x="942618" y="1809036"/>
            <a:ext cx="148828" cy="1341001"/>
          </a:xfrm>
          <a:prstGeom prst="roundRect">
            <a:avLst>
              <a:gd name="adj" fmla="val 4200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4" name="Shape 2"/>
          <p:cNvSpPr/>
          <p:nvPr/>
        </p:nvSpPr>
        <p:spPr>
          <a:xfrm>
            <a:off x="793790" y="1711285"/>
            <a:ext cx="446484" cy="446484"/>
          </a:xfrm>
          <a:prstGeom prst="roundRect">
            <a:avLst>
              <a:gd name="adj" fmla="val 102400"/>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05351" y="1822847"/>
            <a:ext cx="223242" cy="223242"/>
          </a:xfrm>
          <a:prstGeom prst="rect">
            <a:avLst/>
          </a:prstGeom>
        </p:spPr>
      </p:pic>
      <p:sp>
        <p:nvSpPr>
          <p:cNvPr id="6" name="Text 3"/>
          <p:cNvSpPr/>
          <p:nvPr/>
        </p:nvSpPr>
        <p:spPr>
          <a:xfrm>
            <a:off x="1389102" y="1734622"/>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Select a Column</a:t>
            </a:r>
            <a:endParaRPr lang="en-US" sz="1450" dirty="0"/>
          </a:p>
        </p:txBody>
      </p:sp>
      <p:sp>
        <p:nvSpPr>
          <p:cNvPr id="7" name="Shape 4"/>
          <p:cNvSpPr/>
          <p:nvPr/>
        </p:nvSpPr>
        <p:spPr>
          <a:xfrm>
            <a:off x="1389102" y="2134553"/>
            <a:ext cx="12447508" cy="461248"/>
          </a:xfrm>
          <a:prstGeom prst="roundRect">
            <a:avLst>
              <a:gd name="adj" fmla="val 13554"/>
            </a:avLst>
          </a:prstGeom>
          <a:solidFill>
            <a:srgbClr val="F2F2F2"/>
          </a:solidFill>
          <a:ln/>
        </p:spPr>
      </p:sp>
      <p:sp>
        <p:nvSpPr>
          <p:cNvPr id="8" name="Shape 5"/>
          <p:cNvSpPr/>
          <p:nvPr/>
        </p:nvSpPr>
        <p:spPr>
          <a:xfrm>
            <a:off x="1381720" y="2134553"/>
            <a:ext cx="12462272" cy="461248"/>
          </a:xfrm>
          <a:prstGeom prst="roundRect">
            <a:avLst>
              <a:gd name="adj" fmla="val 4841"/>
            </a:avLst>
          </a:prstGeom>
          <a:solidFill>
            <a:srgbClr val="F2F2F2"/>
          </a:solidFill>
          <a:ln/>
        </p:spPr>
      </p:sp>
      <p:sp>
        <p:nvSpPr>
          <p:cNvPr id="9" name="Text 6"/>
          <p:cNvSpPr/>
          <p:nvPr/>
        </p:nvSpPr>
        <p:spPr>
          <a:xfrm>
            <a:off x="1530548" y="2246114"/>
            <a:ext cx="12164616" cy="23812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highlight>
                  <a:srgbClr val="F2F2F2"/>
                </a:highlight>
                <a:latin typeface="Consolas Medium" pitchFamily="34" charset="0"/>
                <a:ea typeface="Consolas Medium" pitchFamily="34" charset="-122"/>
                <a:cs typeface="Consolas Medium" pitchFamily="34" charset="-120"/>
              </a:rPr>
              <a:t>df["Age"]</a:t>
            </a:r>
            <a:endParaRPr lang="en-US" sz="1150" dirty="0"/>
          </a:p>
        </p:txBody>
      </p:sp>
      <p:sp>
        <p:nvSpPr>
          <p:cNvPr id="10" name="Text 7"/>
          <p:cNvSpPr/>
          <p:nvPr/>
        </p:nvSpPr>
        <p:spPr>
          <a:xfrm>
            <a:off x="1389102" y="2763203"/>
            <a:ext cx="12447508" cy="23812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Montserrat Medium" pitchFamily="34" charset="0"/>
                <a:ea typeface="Montserrat Medium" pitchFamily="34" charset="-122"/>
                <a:cs typeface="Montserrat Medium" pitchFamily="34" charset="-120"/>
              </a:rPr>
              <a:t>Returns a single column as a Series (like a 1D array).</a:t>
            </a:r>
            <a:endParaRPr lang="en-US" sz="1150" dirty="0"/>
          </a:p>
        </p:txBody>
      </p:sp>
      <p:sp>
        <p:nvSpPr>
          <p:cNvPr id="11" name="Shape 8"/>
          <p:cNvSpPr/>
          <p:nvPr/>
        </p:nvSpPr>
        <p:spPr>
          <a:xfrm>
            <a:off x="1165860" y="3522226"/>
            <a:ext cx="148828" cy="1341001"/>
          </a:xfrm>
          <a:prstGeom prst="roundRect">
            <a:avLst>
              <a:gd name="adj" fmla="val 4200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2" name="Shape 9"/>
          <p:cNvSpPr/>
          <p:nvPr/>
        </p:nvSpPr>
        <p:spPr>
          <a:xfrm>
            <a:off x="1017032" y="3424476"/>
            <a:ext cx="446484" cy="446484"/>
          </a:xfrm>
          <a:prstGeom prst="roundRect">
            <a:avLst>
              <a:gd name="adj" fmla="val 102400"/>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13"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128593" y="3536037"/>
            <a:ext cx="223242" cy="223242"/>
          </a:xfrm>
          <a:prstGeom prst="rect">
            <a:avLst/>
          </a:prstGeom>
        </p:spPr>
      </p:pic>
      <p:sp>
        <p:nvSpPr>
          <p:cNvPr id="14" name="Text 10"/>
          <p:cNvSpPr/>
          <p:nvPr/>
        </p:nvSpPr>
        <p:spPr>
          <a:xfrm>
            <a:off x="1612344" y="3447812"/>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Filter Rows</a:t>
            </a:r>
            <a:endParaRPr lang="en-US" sz="1450" dirty="0"/>
          </a:p>
        </p:txBody>
      </p:sp>
      <p:sp>
        <p:nvSpPr>
          <p:cNvPr id="15" name="Shape 11"/>
          <p:cNvSpPr/>
          <p:nvPr/>
        </p:nvSpPr>
        <p:spPr>
          <a:xfrm>
            <a:off x="1612344" y="3847743"/>
            <a:ext cx="12224266" cy="461248"/>
          </a:xfrm>
          <a:prstGeom prst="roundRect">
            <a:avLst>
              <a:gd name="adj" fmla="val 13554"/>
            </a:avLst>
          </a:prstGeom>
          <a:solidFill>
            <a:srgbClr val="F2F2F2"/>
          </a:solidFill>
          <a:ln/>
        </p:spPr>
      </p:sp>
      <p:sp>
        <p:nvSpPr>
          <p:cNvPr id="16" name="Shape 12"/>
          <p:cNvSpPr/>
          <p:nvPr/>
        </p:nvSpPr>
        <p:spPr>
          <a:xfrm>
            <a:off x="1604963" y="3847743"/>
            <a:ext cx="12239030" cy="461248"/>
          </a:xfrm>
          <a:prstGeom prst="roundRect">
            <a:avLst>
              <a:gd name="adj" fmla="val 4841"/>
            </a:avLst>
          </a:prstGeom>
          <a:solidFill>
            <a:srgbClr val="F2F2F2"/>
          </a:solidFill>
          <a:ln/>
        </p:spPr>
      </p:sp>
      <p:sp>
        <p:nvSpPr>
          <p:cNvPr id="17" name="Text 13"/>
          <p:cNvSpPr/>
          <p:nvPr/>
        </p:nvSpPr>
        <p:spPr>
          <a:xfrm>
            <a:off x="1753791" y="3959304"/>
            <a:ext cx="11941373" cy="23812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highlight>
                  <a:srgbClr val="F2F2F2"/>
                </a:highlight>
                <a:latin typeface="Consolas Medium" pitchFamily="34" charset="0"/>
                <a:ea typeface="Consolas Medium" pitchFamily="34" charset="-122"/>
                <a:cs typeface="Consolas Medium" pitchFamily="34" charset="-120"/>
              </a:rPr>
              <a:t>df[df["Age"] &gt; 25]</a:t>
            </a:r>
            <a:endParaRPr lang="en-US" sz="1150" dirty="0"/>
          </a:p>
        </p:txBody>
      </p:sp>
      <p:sp>
        <p:nvSpPr>
          <p:cNvPr id="18" name="Text 14"/>
          <p:cNvSpPr/>
          <p:nvPr/>
        </p:nvSpPr>
        <p:spPr>
          <a:xfrm>
            <a:off x="1612344" y="4476393"/>
            <a:ext cx="12224266" cy="23812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Montserrat Medium" pitchFamily="34" charset="0"/>
                <a:ea typeface="Montserrat Medium" pitchFamily="34" charset="-122"/>
                <a:cs typeface="Montserrat Medium" pitchFamily="34" charset="-120"/>
              </a:rPr>
              <a:t>Returns only rows where the condition is True. Logic: "Show me the DataFrame WHERE Age is greater than 25."</a:t>
            </a:r>
            <a:endParaRPr lang="en-US" sz="1150" dirty="0"/>
          </a:p>
        </p:txBody>
      </p:sp>
      <p:sp>
        <p:nvSpPr>
          <p:cNvPr id="19" name="Shape 15"/>
          <p:cNvSpPr/>
          <p:nvPr/>
        </p:nvSpPr>
        <p:spPr>
          <a:xfrm>
            <a:off x="1389102" y="5235416"/>
            <a:ext cx="148828" cy="1348621"/>
          </a:xfrm>
          <a:prstGeom prst="roundRect">
            <a:avLst>
              <a:gd name="adj" fmla="val 42008"/>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20" name="Shape 16"/>
          <p:cNvSpPr/>
          <p:nvPr/>
        </p:nvSpPr>
        <p:spPr>
          <a:xfrm>
            <a:off x="1240274" y="5137666"/>
            <a:ext cx="446484" cy="446484"/>
          </a:xfrm>
          <a:prstGeom prst="roundRect">
            <a:avLst>
              <a:gd name="adj" fmla="val 102400"/>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pic>
        <p:nvPicPr>
          <p:cNvPr id="21"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351836" y="5249228"/>
            <a:ext cx="223242" cy="223242"/>
          </a:xfrm>
          <a:prstGeom prst="rect">
            <a:avLst/>
          </a:prstGeom>
        </p:spPr>
      </p:pic>
      <p:sp>
        <p:nvSpPr>
          <p:cNvPr id="22" name="Text 17"/>
          <p:cNvSpPr/>
          <p:nvPr/>
        </p:nvSpPr>
        <p:spPr>
          <a:xfrm>
            <a:off x="1835587" y="5161002"/>
            <a:ext cx="1860590" cy="232529"/>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Multiple Conditions</a:t>
            </a:r>
            <a:endParaRPr lang="en-US" sz="1450" dirty="0"/>
          </a:p>
        </p:txBody>
      </p:sp>
      <p:sp>
        <p:nvSpPr>
          <p:cNvPr id="23" name="Shape 18"/>
          <p:cNvSpPr/>
          <p:nvPr/>
        </p:nvSpPr>
        <p:spPr>
          <a:xfrm>
            <a:off x="1835587" y="5560933"/>
            <a:ext cx="12001024" cy="461248"/>
          </a:xfrm>
          <a:prstGeom prst="roundRect">
            <a:avLst>
              <a:gd name="adj" fmla="val 13554"/>
            </a:avLst>
          </a:prstGeom>
          <a:solidFill>
            <a:srgbClr val="F2F2F2"/>
          </a:solidFill>
          <a:ln/>
        </p:spPr>
      </p:sp>
      <p:sp>
        <p:nvSpPr>
          <p:cNvPr id="24" name="Shape 19"/>
          <p:cNvSpPr/>
          <p:nvPr/>
        </p:nvSpPr>
        <p:spPr>
          <a:xfrm>
            <a:off x="1828205" y="5560933"/>
            <a:ext cx="12015788" cy="461248"/>
          </a:xfrm>
          <a:prstGeom prst="roundRect">
            <a:avLst>
              <a:gd name="adj" fmla="val 4841"/>
            </a:avLst>
          </a:prstGeom>
          <a:solidFill>
            <a:srgbClr val="F2F2F2"/>
          </a:solidFill>
          <a:ln/>
        </p:spPr>
      </p:sp>
      <p:sp>
        <p:nvSpPr>
          <p:cNvPr id="25" name="Text 20"/>
          <p:cNvSpPr/>
          <p:nvPr/>
        </p:nvSpPr>
        <p:spPr>
          <a:xfrm>
            <a:off x="1977033" y="5672495"/>
            <a:ext cx="11718131" cy="23812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highlight>
                  <a:srgbClr val="F2F2F2"/>
                </a:highlight>
                <a:latin typeface="Consolas Medium" pitchFamily="34" charset="0"/>
                <a:ea typeface="Consolas Medium" pitchFamily="34" charset="-122"/>
                <a:cs typeface="Consolas Medium" pitchFamily="34" charset="-120"/>
              </a:rPr>
              <a:t>df[(df["Age"] &gt; 25) &amp; (df["City"] == "NYC")]</a:t>
            </a:r>
            <a:endParaRPr lang="en-US" sz="1150" dirty="0"/>
          </a:p>
        </p:txBody>
      </p:sp>
      <p:sp>
        <p:nvSpPr>
          <p:cNvPr id="26" name="Text 21"/>
          <p:cNvSpPr/>
          <p:nvPr/>
        </p:nvSpPr>
        <p:spPr>
          <a:xfrm>
            <a:off x="1835587" y="6189583"/>
            <a:ext cx="12001024" cy="245745"/>
          </a:xfrm>
          <a:prstGeom prst="rect">
            <a:avLst/>
          </a:prstGeom>
          <a:noFill/>
          <a:ln/>
        </p:spPr>
        <p:txBody>
          <a:bodyPr wrap="none" lIns="0" tIns="0" rIns="0" bIns="0" rtlCol="0" anchor="t"/>
          <a:lstStyle/>
          <a:p>
            <a:pPr marL="0" indent="0" algn="l">
              <a:lnSpc>
                <a:spcPts val="1850"/>
              </a:lnSpc>
              <a:buNone/>
            </a:pPr>
            <a:r>
              <a:rPr lang="en-US" sz="1150" dirty="0">
                <a:solidFill>
                  <a:srgbClr val="000000"/>
                </a:solidFill>
                <a:latin typeface="Montserrat Medium" pitchFamily="34" charset="0"/>
                <a:ea typeface="Montserrat Medium" pitchFamily="34" charset="-122"/>
                <a:cs typeface="Montserrat Medium" pitchFamily="34" charset="-120"/>
              </a:rPr>
              <a:t>Use </a:t>
            </a:r>
            <a:r>
              <a:rPr lang="en-US" sz="1150" dirty="0">
                <a:solidFill>
                  <a:srgbClr val="000000"/>
                </a:solidFill>
                <a:highlight>
                  <a:srgbClr val="F2F2F2"/>
                </a:highlight>
                <a:latin typeface="Consolas" pitchFamily="34" charset="0"/>
                <a:ea typeface="Consolas" pitchFamily="34" charset="-122"/>
                <a:cs typeface="Consolas" pitchFamily="34" charset="-120"/>
              </a:rPr>
              <a:t>&amp;</a:t>
            </a:r>
            <a:r>
              <a:rPr lang="en-US" sz="1150" dirty="0">
                <a:solidFill>
                  <a:srgbClr val="000000"/>
                </a:solidFill>
                <a:latin typeface="Montserrat Medium" pitchFamily="34" charset="0"/>
                <a:ea typeface="Montserrat Medium" pitchFamily="34" charset="-122"/>
                <a:cs typeface="Montserrat Medium" pitchFamily="34" charset="-120"/>
              </a:rPr>
              <a:t> for AND, </a:t>
            </a:r>
            <a:r>
              <a:rPr lang="en-US" sz="1150" dirty="0">
                <a:solidFill>
                  <a:srgbClr val="000000"/>
                </a:solidFill>
                <a:highlight>
                  <a:srgbClr val="F2F2F2"/>
                </a:highlight>
                <a:latin typeface="Consolas" pitchFamily="34" charset="0"/>
                <a:ea typeface="Consolas" pitchFamily="34" charset="-122"/>
                <a:cs typeface="Consolas" pitchFamily="34" charset="-120"/>
              </a:rPr>
              <a:t>|</a:t>
            </a:r>
            <a:r>
              <a:rPr lang="en-US" sz="1150" dirty="0">
                <a:solidFill>
                  <a:srgbClr val="000000"/>
                </a:solidFill>
                <a:latin typeface="Montserrat Medium" pitchFamily="34" charset="0"/>
                <a:ea typeface="Montserrat Medium" pitchFamily="34" charset="-122"/>
                <a:cs typeface="Montserrat Medium" pitchFamily="34" charset="-120"/>
              </a:rPr>
              <a:t> for OR. Wrap each condition in parentheses.</a:t>
            </a:r>
            <a:endParaRPr lang="en-US" sz="1150" dirty="0"/>
          </a:p>
        </p:txBody>
      </p:sp>
      <p:sp>
        <p:nvSpPr>
          <p:cNvPr id="27" name="Text 22"/>
          <p:cNvSpPr/>
          <p:nvPr/>
        </p:nvSpPr>
        <p:spPr>
          <a:xfrm>
            <a:off x="1017032" y="6918960"/>
            <a:ext cx="12819578" cy="245745"/>
          </a:xfrm>
          <a:prstGeom prst="rect">
            <a:avLst/>
          </a:prstGeom>
          <a:noFill/>
          <a:ln/>
        </p:spPr>
        <p:txBody>
          <a:bodyPr wrap="none" lIns="0" tIns="0" rIns="0" bIns="0" rtlCol="0" anchor="t"/>
          <a:lstStyle/>
          <a:p>
            <a:pPr marL="0" indent="0" algn="l">
              <a:lnSpc>
                <a:spcPts val="1850"/>
              </a:lnSpc>
              <a:buNone/>
            </a:pPr>
            <a:r>
              <a:rPr lang="en-US" sz="1150" b="1" dirty="0">
                <a:solidFill>
                  <a:srgbClr val="000000"/>
                </a:solidFill>
                <a:latin typeface="Montserrat Medium" pitchFamily="34" charset="0"/>
                <a:ea typeface="Montserrat Medium" pitchFamily="34" charset="-122"/>
                <a:cs typeface="Montserrat Medium" pitchFamily="34" charset="-120"/>
              </a:rPr>
              <a:t>Remember:</a:t>
            </a:r>
            <a:r>
              <a:rPr lang="en-US" sz="1150" dirty="0">
                <a:solidFill>
                  <a:srgbClr val="000000"/>
                </a:solidFill>
                <a:latin typeface="Montserrat Medium" pitchFamily="34" charset="0"/>
                <a:ea typeface="Montserrat Medium" pitchFamily="34" charset="-122"/>
                <a:cs typeface="Montserrat Medium" pitchFamily="34" charset="-120"/>
              </a:rPr>
              <a:t> Conditions go inside square brackets </a:t>
            </a:r>
            <a:r>
              <a:rPr lang="en-US" sz="1150" dirty="0">
                <a:solidFill>
                  <a:srgbClr val="000000"/>
                </a:solidFill>
                <a:highlight>
                  <a:srgbClr val="F2F2F2"/>
                </a:highlight>
                <a:latin typeface="Consolas" pitchFamily="34" charset="0"/>
                <a:ea typeface="Consolas" pitchFamily="34" charset="-122"/>
                <a:cs typeface="Consolas" pitchFamily="34" charset="-120"/>
              </a:rPr>
              <a:t>[]</a:t>
            </a:r>
            <a:r>
              <a:rPr lang="en-US" sz="1150" dirty="0">
                <a:solidFill>
                  <a:srgbClr val="000000"/>
                </a:solidFill>
                <a:latin typeface="Montserrat Medium" pitchFamily="34" charset="0"/>
                <a:ea typeface="Montserrat Medium" pitchFamily="34" charset="-122"/>
                <a:cs typeface="Montserrat Medium" pitchFamily="34" charset="-120"/>
              </a:rPr>
              <a:t>. The condition creates a True/False mask that filters your data.</a:t>
            </a:r>
            <a:endParaRPr lang="en-US" sz="1150" dirty="0"/>
          </a:p>
        </p:txBody>
      </p:sp>
      <p:sp>
        <p:nvSpPr>
          <p:cNvPr id="28" name="Shape 23"/>
          <p:cNvSpPr/>
          <p:nvPr/>
        </p:nvSpPr>
        <p:spPr>
          <a:xfrm>
            <a:off x="793790" y="6751558"/>
            <a:ext cx="15240" cy="580549"/>
          </a:xfrm>
          <a:prstGeom prst="rect">
            <a:avLst/>
          </a:prstGeom>
          <a:solidFill>
            <a:srgbClr val="7030A0"/>
          </a:solidFill>
          <a:ln/>
        </p:spPr>
      </p:sp>
      <p:pic>
        <p:nvPicPr>
          <p:cNvPr id="29" name="Picture 28">
            <a:extLst>
              <a:ext uri="{FF2B5EF4-FFF2-40B4-BE49-F238E27FC236}">
                <a16:creationId xmlns:a16="http://schemas.microsoft.com/office/drawing/2014/main" id="{8F7B9B4C-1DD6-38B3-0F57-225E0E03B31D}"/>
              </a:ext>
            </a:extLst>
          </p:cNvPr>
          <p:cNvPicPr>
            <a:picLocks noChangeAspect="1"/>
          </p:cNvPicPr>
          <p:nvPr/>
        </p:nvPicPr>
        <p:blipFill>
          <a:blip r:embed="rId9"/>
          <a:stretch>
            <a:fillRect/>
          </a:stretch>
        </p:blipFill>
        <p:spPr>
          <a:xfrm>
            <a:off x="13342557" y="118334"/>
            <a:ext cx="1125764" cy="412584"/>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793790" y="936665"/>
            <a:ext cx="7364730"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Working with Dates and Times</a:t>
            </a:r>
            <a:endParaRPr lang="en-US" sz="3900" dirty="0"/>
          </a:p>
        </p:txBody>
      </p:sp>
      <p:sp>
        <p:nvSpPr>
          <p:cNvPr id="3" name="Text 1"/>
          <p:cNvSpPr/>
          <p:nvPr/>
        </p:nvSpPr>
        <p:spPr>
          <a:xfrm>
            <a:off x="793790" y="205275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Problem</a:t>
            </a:r>
            <a:endParaRPr lang="en-US" sz="2300" dirty="0"/>
          </a:p>
        </p:txBody>
      </p:sp>
      <p:sp>
        <p:nvSpPr>
          <p:cNvPr id="4" name="Text 2"/>
          <p:cNvSpPr/>
          <p:nvPr/>
        </p:nvSpPr>
        <p:spPr>
          <a:xfrm>
            <a:off x="793790" y="2623185"/>
            <a:ext cx="6279356" cy="95261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When you load a CSV, dates usually look like text (strings). Python doesn't know "Jan 1" comes before "Feb 1" if it's just text—it would sort alphabetically!</a:t>
            </a:r>
            <a:endParaRPr lang="en-US" sz="1550" dirty="0"/>
          </a:p>
        </p:txBody>
      </p:sp>
      <p:sp>
        <p:nvSpPr>
          <p:cNvPr id="5" name="Text 3"/>
          <p:cNvSpPr/>
          <p:nvPr/>
        </p:nvSpPr>
        <p:spPr>
          <a:xfrm>
            <a:off x="7564874" y="205275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The Fix</a:t>
            </a:r>
            <a:endParaRPr lang="en-US" sz="2300" dirty="0"/>
          </a:p>
        </p:txBody>
      </p:sp>
      <p:sp>
        <p:nvSpPr>
          <p:cNvPr id="6" name="Shape 4"/>
          <p:cNvSpPr/>
          <p:nvPr/>
        </p:nvSpPr>
        <p:spPr>
          <a:xfrm>
            <a:off x="7564874" y="2648069"/>
            <a:ext cx="6279356" cy="615196"/>
          </a:xfrm>
          <a:prstGeom prst="roundRect">
            <a:avLst>
              <a:gd name="adj" fmla="val 13550"/>
            </a:avLst>
          </a:prstGeom>
          <a:solidFill>
            <a:srgbClr val="F2F2F2"/>
          </a:solidFill>
          <a:ln/>
        </p:spPr>
      </p:sp>
      <p:sp>
        <p:nvSpPr>
          <p:cNvPr id="7" name="Shape 5"/>
          <p:cNvSpPr/>
          <p:nvPr/>
        </p:nvSpPr>
        <p:spPr>
          <a:xfrm>
            <a:off x="7554992" y="2648069"/>
            <a:ext cx="6299121" cy="615196"/>
          </a:xfrm>
          <a:prstGeom prst="roundRect">
            <a:avLst>
              <a:gd name="adj" fmla="val 4839"/>
            </a:avLst>
          </a:prstGeom>
          <a:solidFill>
            <a:srgbClr val="F2F2F2"/>
          </a:solidFill>
          <a:ln/>
        </p:spPr>
      </p:sp>
      <p:sp>
        <p:nvSpPr>
          <p:cNvPr id="8" name="Text 6"/>
          <p:cNvSpPr/>
          <p:nvPr/>
        </p:nvSpPr>
        <p:spPr>
          <a:xfrm>
            <a:off x="7753350" y="2796897"/>
            <a:ext cx="5902404"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df["Date"] = pd.to_datetime(df["Date"])</a:t>
            </a:r>
            <a:endParaRPr lang="en-US" sz="1550" dirty="0"/>
          </a:p>
        </p:txBody>
      </p:sp>
      <p:sp>
        <p:nvSpPr>
          <p:cNvPr id="9" name="Text 7"/>
          <p:cNvSpPr/>
          <p:nvPr/>
        </p:nvSpPr>
        <p:spPr>
          <a:xfrm>
            <a:off x="7564874" y="3486507"/>
            <a:ext cx="627935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Converts text to proper datetime objects. Now you can do magic:</a:t>
            </a:r>
            <a:endParaRPr lang="en-US" sz="1550" dirty="0"/>
          </a:p>
        </p:txBody>
      </p:sp>
      <p:sp>
        <p:nvSpPr>
          <p:cNvPr id="10" name="Text 8"/>
          <p:cNvSpPr/>
          <p:nvPr/>
        </p:nvSpPr>
        <p:spPr>
          <a:xfrm>
            <a:off x="7564874" y="4300180"/>
            <a:ext cx="6279356"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df["Date"].dt.month</a:t>
            </a:r>
            <a:r>
              <a:rPr lang="en-US" sz="1550" dirty="0">
                <a:solidFill>
                  <a:srgbClr val="000000"/>
                </a:solidFill>
                <a:latin typeface="Montserrat Medium" pitchFamily="34" charset="0"/>
                <a:ea typeface="Montserrat Medium" pitchFamily="34" charset="-122"/>
                <a:cs typeface="Montserrat Medium" pitchFamily="34" charset="-120"/>
              </a:rPr>
              <a:t> - Extract month number</a:t>
            </a:r>
            <a:endParaRPr lang="en-US" sz="1550" dirty="0"/>
          </a:p>
        </p:txBody>
      </p:sp>
      <p:sp>
        <p:nvSpPr>
          <p:cNvPr id="11" name="Text 9"/>
          <p:cNvSpPr/>
          <p:nvPr/>
        </p:nvSpPr>
        <p:spPr>
          <a:xfrm>
            <a:off x="7564874" y="4702373"/>
            <a:ext cx="6279356"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df["Date"].dt.year</a:t>
            </a:r>
            <a:r>
              <a:rPr lang="en-US" sz="1550" dirty="0">
                <a:solidFill>
                  <a:srgbClr val="000000"/>
                </a:solidFill>
                <a:latin typeface="Montserrat Medium" pitchFamily="34" charset="0"/>
                <a:ea typeface="Montserrat Medium" pitchFamily="34" charset="-122"/>
                <a:cs typeface="Montserrat Medium" pitchFamily="34" charset="-120"/>
              </a:rPr>
              <a:t> - Extract year</a:t>
            </a:r>
            <a:endParaRPr lang="en-US" sz="1550" dirty="0"/>
          </a:p>
        </p:txBody>
      </p:sp>
      <p:sp>
        <p:nvSpPr>
          <p:cNvPr id="12" name="Text 10"/>
          <p:cNvSpPr/>
          <p:nvPr/>
        </p:nvSpPr>
        <p:spPr>
          <a:xfrm>
            <a:off x="7564874" y="5104567"/>
            <a:ext cx="6279356"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df["Date"].dt.day_name()</a:t>
            </a:r>
            <a:r>
              <a:rPr lang="en-US" sz="1550" dirty="0">
                <a:solidFill>
                  <a:srgbClr val="000000"/>
                </a:solidFill>
                <a:latin typeface="Montserrat Medium" pitchFamily="34" charset="0"/>
                <a:ea typeface="Montserrat Medium" pitchFamily="34" charset="-122"/>
                <a:cs typeface="Montserrat Medium" pitchFamily="34" charset="-120"/>
              </a:rPr>
              <a:t> - Get "Monday", "Tuesday", etc.</a:t>
            </a:r>
            <a:endParaRPr lang="en-US" sz="1550" dirty="0"/>
          </a:p>
        </p:txBody>
      </p:sp>
      <p:sp>
        <p:nvSpPr>
          <p:cNvPr id="13" name="Text 11"/>
          <p:cNvSpPr/>
          <p:nvPr/>
        </p:nvSpPr>
        <p:spPr>
          <a:xfrm>
            <a:off x="7564874" y="5506760"/>
            <a:ext cx="6279356"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df["Date"].dt.quarter</a:t>
            </a:r>
            <a:r>
              <a:rPr lang="en-US" sz="1550" dirty="0">
                <a:solidFill>
                  <a:srgbClr val="000000"/>
                </a:solidFill>
                <a:latin typeface="Montserrat Medium" pitchFamily="34" charset="0"/>
                <a:ea typeface="Montserrat Medium" pitchFamily="34" charset="-122"/>
                <a:cs typeface="Montserrat Medium" pitchFamily="34" charset="-120"/>
              </a:rPr>
              <a:t> - Get Q1, Q2, Q3, Q4</a:t>
            </a:r>
            <a:endParaRPr lang="en-US" sz="1550" dirty="0"/>
          </a:p>
        </p:txBody>
      </p:sp>
      <p:sp>
        <p:nvSpPr>
          <p:cNvPr id="14" name="Shape 12"/>
          <p:cNvSpPr/>
          <p:nvPr/>
        </p:nvSpPr>
        <p:spPr>
          <a:xfrm>
            <a:off x="793790" y="6132195"/>
            <a:ext cx="13042821" cy="1160740"/>
          </a:xfrm>
          <a:prstGeom prst="roundRect">
            <a:avLst>
              <a:gd name="adj" fmla="val 718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15" name="Image 0" descr="preencoded.png"/>
          <p:cNvPicPr>
            <a:picLocks noChangeAspect="1"/>
          </p:cNvPicPr>
          <p:nvPr/>
        </p:nvPicPr>
        <p:blipFill>
          <a:blip r:embed="rId3">
            <a:duotone>
              <a:prstClr val="black"/>
              <a:srgbClr val="7030A0">
                <a:tint val="45000"/>
                <a:satMod val="400000"/>
              </a:srgbClr>
            </a:duotone>
          </a:blip>
          <a:stretch>
            <a:fillRect/>
          </a:stretch>
        </p:blipFill>
        <p:spPr>
          <a:xfrm>
            <a:off x="992148" y="6427470"/>
            <a:ext cx="248007" cy="198358"/>
          </a:xfrm>
          <a:prstGeom prst="rect">
            <a:avLst/>
          </a:prstGeom>
        </p:spPr>
      </p:pic>
      <p:sp>
        <p:nvSpPr>
          <p:cNvPr id="16" name="Text 13"/>
          <p:cNvSpPr/>
          <p:nvPr/>
        </p:nvSpPr>
        <p:spPr>
          <a:xfrm>
            <a:off x="1438513" y="6380083"/>
            <a:ext cx="12199739" cy="635079"/>
          </a:xfrm>
          <a:prstGeom prst="rect">
            <a:avLst/>
          </a:prstGeom>
          <a:noFill/>
          <a:ln/>
        </p:spPr>
        <p:txBody>
          <a:bodyPr wrap="square" lIns="0" tIns="0" rIns="0" bIns="0" rtlCol="0" anchor="t"/>
          <a:lstStyle/>
          <a:p>
            <a:pPr marL="0" indent="0" algn="l">
              <a:lnSpc>
                <a:spcPts val="2500"/>
              </a:lnSpc>
              <a:buNone/>
            </a:pPr>
            <a:r>
              <a:rPr lang="en-US" sz="1550" b="1" dirty="0">
                <a:solidFill>
                  <a:srgbClr val="000000"/>
                </a:solidFill>
                <a:latin typeface="Montserrat Medium" pitchFamily="34" charset="0"/>
                <a:ea typeface="Montserrat Medium" pitchFamily="34" charset="-122"/>
                <a:cs typeface="Montserrat Medium" pitchFamily="34" charset="-120"/>
              </a:rPr>
              <a:t>Business Analysis:</a:t>
            </a:r>
            <a:r>
              <a:rPr lang="en-US" sz="1550" dirty="0">
                <a:solidFill>
                  <a:srgbClr val="000000"/>
                </a:solidFill>
                <a:latin typeface="Montserrat Medium" pitchFamily="34" charset="0"/>
                <a:ea typeface="Montserrat Medium" pitchFamily="34" charset="-122"/>
                <a:cs typeface="Montserrat Medium" pitchFamily="34" charset="-120"/>
              </a:rPr>
              <a:t> This is crucial for any time-based analysis like "Sales by Month" or "Year-over-Year Growth". Always convert dates first!</a:t>
            </a:r>
            <a:endParaRPr lang="en-US" sz="1550" dirty="0"/>
          </a:p>
        </p:txBody>
      </p:sp>
      <p:pic>
        <p:nvPicPr>
          <p:cNvPr id="17" name="Picture 16">
            <a:extLst>
              <a:ext uri="{FF2B5EF4-FFF2-40B4-BE49-F238E27FC236}">
                <a16:creationId xmlns:a16="http://schemas.microsoft.com/office/drawing/2014/main" id="{49A4A3BE-654A-D124-4D00-5331555BC4EC}"/>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793790" y="1420058"/>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Saving Your Work</a:t>
            </a:r>
            <a:endParaRPr lang="en-US" sz="3900" dirty="0"/>
          </a:p>
        </p:txBody>
      </p:sp>
      <p:sp>
        <p:nvSpPr>
          <p:cNvPr id="3" name="Text 1"/>
          <p:cNvSpPr/>
          <p:nvPr/>
        </p:nvSpPr>
        <p:spPr>
          <a:xfrm>
            <a:off x="793790" y="2436971"/>
            <a:ext cx="13042821"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After cleaning and analyzing data, you need to save your results. Pandas makes this simple:</a:t>
            </a:r>
            <a:endParaRPr lang="en-US" sz="1550" dirty="0"/>
          </a:p>
        </p:txBody>
      </p:sp>
      <p:sp>
        <p:nvSpPr>
          <p:cNvPr id="4" name="Shape 2"/>
          <p:cNvSpPr/>
          <p:nvPr/>
        </p:nvSpPr>
        <p:spPr>
          <a:xfrm>
            <a:off x="793790" y="2977753"/>
            <a:ext cx="13042821" cy="615196"/>
          </a:xfrm>
          <a:prstGeom prst="roundRect">
            <a:avLst>
              <a:gd name="adj" fmla="val 13550"/>
            </a:avLst>
          </a:prstGeom>
          <a:solidFill>
            <a:srgbClr val="F2F2F2"/>
          </a:solidFill>
          <a:ln/>
        </p:spPr>
      </p:sp>
      <p:sp>
        <p:nvSpPr>
          <p:cNvPr id="5" name="Shape 3"/>
          <p:cNvSpPr/>
          <p:nvPr/>
        </p:nvSpPr>
        <p:spPr>
          <a:xfrm>
            <a:off x="783908" y="2977753"/>
            <a:ext cx="13062585" cy="615196"/>
          </a:xfrm>
          <a:prstGeom prst="roundRect">
            <a:avLst>
              <a:gd name="adj" fmla="val 4839"/>
            </a:avLst>
          </a:prstGeom>
          <a:solidFill>
            <a:srgbClr val="F2F2F2"/>
          </a:solidFill>
          <a:ln/>
        </p:spPr>
      </p:sp>
      <p:sp>
        <p:nvSpPr>
          <p:cNvPr id="6" name="Text 4"/>
          <p:cNvSpPr/>
          <p:nvPr/>
        </p:nvSpPr>
        <p:spPr>
          <a:xfrm>
            <a:off x="982266" y="3126581"/>
            <a:ext cx="12665869" cy="31754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highlight>
                  <a:srgbClr val="F2F2F2"/>
                </a:highlight>
                <a:latin typeface="Consolas Medium" pitchFamily="34" charset="0"/>
                <a:ea typeface="Consolas Medium" pitchFamily="34" charset="-122"/>
                <a:cs typeface="Consolas Medium" pitchFamily="34" charset="-120"/>
              </a:rPr>
              <a:t>df.to_csv("clean_data.csv", index=False)</a:t>
            </a:r>
            <a:endParaRPr lang="en-US" sz="1550" dirty="0"/>
          </a:p>
        </p:txBody>
      </p:sp>
      <p:sp>
        <p:nvSpPr>
          <p:cNvPr id="7" name="Text 5"/>
          <p:cNvSpPr/>
          <p:nvPr/>
        </p:nvSpPr>
        <p:spPr>
          <a:xfrm>
            <a:off x="793790" y="3816191"/>
            <a:ext cx="13042821" cy="332780"/>
          </a:xfrm>
          <a:prstGeom prst="rect">
            <a:avLst/>
          </a:prstGeom>
          <a:noFill/>
          <a:ln/>
        </p:spPr>
        <p:txBody>
          <a:bodyPr wrap="none" lIns="0" tIns="0" rIns="0" bIns="0" rtlCol="0" anchor="t"/>
          <a:lstStyle/>
          <a:p>
            <a:pPr marL="0" indent="0" algn="l">
              <a:lnSpc>
                <a:spcPts val="2500"/>
              </a:lnSpc>
              <a:buNone/>
            </a:pPr>
            <a:r>
              <a:rPr lang="en-US" sz="1550" b="1" dirty="0">
                <a:solidFill>
                  <a:srgbClr val="000000"/>
                </a:solidFill>
                <a:highlight>
                  <a:srgbClr val="EBC375"/>
                </a:highlight>
                <a:latin typeface="Montserrat Medium" pitchFamily="34" charset="0"/>
                <a:ea typeface="Montserrat Medium" pitchFamily="34" charset="-122"/>
                <a:cs typeface="Montserrat Medium" pitchFamily="34" charset="-120"/>
              </a:rPr>
              <a:t>Important:</a:t>
            </a:r>
            <a:r>
              <a:rPr lang="en-US" sz="1550" dirty="0">
                <a:solidFill>
                  <a:srgbClr val="000000"/>
                </a:solidFill>
                <a:latin typeface="Montserrat Medium" pitchFamily="34" charset="0"/>
                <a:ea typeface="Montserrat Medium" pitchFamily="34" charset="-122"/>
                <a:cs typeface="Montserrat Medium" pitchFamily="34" charset="-120"/>
              </a:rPr>
              <a:t> Always use </a:t>
            </a:r>
            <a:r>
              <a:rPr lang="en-US" sz="1550" dirty="0">
                <a:solidFill>
                  <a:srgbClr val="000000"/>
                </a:solidFill>
                <a:highlight>
                  <a:srgbClr val="F2F2F2"/>
                </a:highlight>
                <a:latin typeface="Consolas" pitchFamily="34" charset="0"/>
                <a:ea typeface="Consolas" pitchFamily="34" charset="-122"/>
                <a:cs typeface="Consolas" pitchFamily="34" charset="-120"/>
              </a:rPr>
              <a:t>index=False</a:t>
            </a:r>
            <a:r>
              <a:rPr lang="en-US" sz="1550" dirty="0">
                <a:solidFill>
                  <a:srgbClr val="000000"/>
                </a:solidFill>
                <a:latin typeface="Montserrat Medium" pitchFamily="34" charset="0"/>
                <a:ea typeface="Montserrat Medium" pitchFamily="34" charset="-122"/>
                <a:cs typeface="Montserrat Medium" pitchFamily="34" charset="-120"/>
              </a:rPr>
              <a:t> to prevent Python from adding an annoying extra number column (0, 1, 2...) to your file.</a:t>
            </a:r>
            <a:endParaRPr lang="en-US" sz="1550" dirty="0"/>
          </a:p>
        </p:txBody>
      </p:sp>
      <p:sp>
        <p:nvSpPr>
          <p:cNvPr id="8" name="Text 6"/>
          <p:cNvSpPr/>
          <p:nvPr/>
        </p:nvSpPr>
        <p:spPr>
          <a:xfrm>
            <a:off x="793790" y="4446627"/>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000000"/>
                </a:solidFill>
                <a:latin typeface="Inter Bold" pitchFamily="34" charset="0"/>
                <a:ea typeface="Inter Bold" pitchFamily="34" charset="-122"/>
                <a:cs typeface="Inter Bold" pitchFamily="34" charset="-120"/>
              </a:rPr>
              <a:t>Other Save Formats</a:t>
            </a:r>
            <a:endParaRPr lang="en-US" sz="2300" dirty="0"/>
          </a:p>
        </p:txBody>
      </p:sp>
      <p:sp>
        <p:nvSpPr>
          <p:cNvPr id="9" name="Text 7"/>
          <p:cNvSpPr/>
          <p:nvPr/>
        </p:nvSpPr>
        <p:spPr>
          <a:xfrm>
            <a:off x="793790" y="5116354"/>
            <a:ext cx="13042821"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df.to_excel("data.xlsx")</a:t>
            </a:r>
            <a:r>
              <a:rPr lang="en-US" sz="1550" dirty="0">
                <a:solidFill>
                  <a:srgbClr val="000000"/>
                </a:solidFill>
                <a:latin typeface="Montserrat Medium" pitchFamily="34" charset="0"/>
                <a:ea typeface="Montserrat Medium" pitchFamily="34" charset="-122"/>
                <a:cs typeface="Montserrat Medium" pitchFamily="34" charset="-120"/>
              </a:rPr>
              <a:t> - Save as Excel</a:t>
            </a:r>
            <a:endParaRPr lang="en-US" sz="1550" dirty="0"/>
          </a:p>
        </p:txBody>
      </p:sp>
      <p:sp>
        <p:nvSpPr>
          <p:cNvPr id="10" name="Text 8"/>
          <p:cNvSpPr/>
          <p:nvPr/>
        </p:nvSpPr>
        <p:spPr>
          <a:xfrm>
            <a:off x="793790" y="5518547"/>
            <a:ext cx="13042821"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df.to_json("data.json")</a:t>
            </a:r>
            <a:r>
              <a:rPr lang="en-US" sz="1550" dirty="0">
                <a:solidFill>
                  <a:srgbClr val="000000"/>
                </a:solidFill>
                <a:latin typeface="Montserrat Medium" pitchFamily="34" charset="0"/>
                <a:ea typeface="Montserrat Medium" pitchFamily="34" charset="-122"/>
                <a:cs typeface="Montserrat Medium" pitchFamily="34" charset="-120"/>
              </a:rPr>
              <a:t> - Save as JSON</a:t>
            </a:r>
            <a:endParaRPr lang="en-US" sz="1550" dirty="0"/>
          </a:p>
        </p:txBody>
      </p:sp>
      <p:sp>
        <p:nvSpPr>
          <p:cNvPr id="11" name="Text 9"/>
          <p:cNvSpPr/>
          <p:nvPr/>
        </p:nvSpPr>
        <p:spPr>
          <a:xfrm>
            <a:off x="793790" y="5920740"/>
            <a:ext cx="13042821" cy="332780"/>
          </a:xfrm>
          <a:prstGeom prst="rect">
            <a:avLst/>
          </a:prstGeom>
          <a:noFill/>
          <a:ln/>
        </p:spPr>
        <p:txBody>
          <a:bodyPr wrap="none" lIns="0" tIns="0" rIns="0" bIns="0" rtlCol="0" anchor="t"/>
          <a:lstStyle/>
          <a:p>
            <a:pPr marL="342900" indent="-342900" algn="l">
              <a:lnSpc>
                <a:spcPts val="2500"/>
              </a:lnSpc>
              <a:buSzPct val="100000"/>
              <a:buChar char="•"/>
            </a:pPr>
            <a:r>
              <a:rPr lang="en-US" sz="1550" dirty="0">
                <a:solidFill>
                  <a:srgbClr val="000000"/>
                </a:solidFill>
                <a:highlight>
                  <a:srgbClr val="F2F2F2"/>
                </a:highlight>
                <a:latin typeface="Consolas" pitchFamily="34" charset="0"/>
                <a:ea typeface="Consolas" pitchFamily="34" charset="-122"/>
                <a:cs typeface="Consolas" pitchFamily="34" charset="-120"/>
              </a:rPr>
              <a:t>df.to_sql("table_name", connection)</a:t>
            </a:r>
            <a:r>
              <a:rPr lang="en-US" sz="1550" dirty="0">
                <a:solidFill>
                  <a:srgbClr val="000000"/>
                </a:solidFill>
                <a:latin typeface="Montserrat Medium" pitchFamily="34" charset="0"/>
                <a:ea typeface="Montserrat Medium" pitchFamily="34" charset="-122"/>
                <a:cs typeface="Montserrat Medium" pitchFamily="34" charset="-120"/>
              </a:rPr>
              <a:t> - Save to database</a:t>
            </a:r>
            <a:endParaRPr lang="en-US" sz="1550" dirty="0"/>
          </a:p>
        </p:txBody>
      </p:sp>
      <p:sp>
        <p:nvSpPr>
          <p:cNvPr id="12" name="Text 10"/>
          <p:cNvSpPr/>
          <p:nvPr/>
        </p:nvSpPr>
        <p:spPr>
          <a:xfrm>
            <a:off x="793790" y="6476762"/>
            <a:ext cx="13042821" cy="332780"/>
          </a:xfrm>
          <a:prstGeom prst="rect">
            <a:avLst/>
          </a:prstGeom>
          <a:noFill/>
          <a:ln/>
        </p:spPr>
        <p:txBody>
          <a:bodyPr wrap="non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You can verify the file was created using </a:t>
            </a:r>
            <a:r>
              <a:rPr lang="en-US" sz="1550" dirty="0">
                <a:solidFill>
                  <a:srgbClr val="000000"/>
                </a:solidFill>
                <a:highlight>
                  <a:srgbClr val="F2F2F2"/>
                </a:highlight>
                <a:latin typeface="Consolas" pitchFamily="34" charset="0"/>
                <a:ea typeface="Consolas" pitchFamily="34" charset="-122"/>
                <a:cs typeface="Consolas" pitchFamily="34" charset="-120"/>
              </a:rPr>
              <a:t>os.listdir()</a:t>
            </a:r>
            <a:r>
              <a:rPr lang="en-US" sz="1550" dirty="0">
                <a:solidFill>
                  <a:srgbClr val="000000"/>
                </a:solidFill>
                <a:latin typeface="Montserrat Medium" pitchFamily="34" charset="0"/>
                <a:ea typeface="Montserrat Medium" pitchFamily="34" charset="-122"/>
                <a:cs typeface="Montserrat Medium" pitchFamily="34" charset="-120"/>
              </a:rPr>
              <a:t> to close the loop!</a:t>
            </a:r>
            <a:endParaRPr lang="en-US" sz="1550" dirty="0"/>
          </a:p>
        </p:txBody>
      </p:sp>
      <p:pic>
        <p:nvPicPr>
          <p:cNvPr id="13" name="Picture 12">
            <a:extLst>
              <a:ext uri="{FF2B5EF4-FFF2-40B4-BE49-F238E27FC236}">
                <a16:creationId xmlns:a16="http://schemas.microsoft.com/office/drawing/2014/main" id="{BD38C02B-8AB1-2F61-DE3F-8336C14181A7}"/>
              </a:ext>
            </a:extLst>
          </p:cNvPr>
          <p:cNvPicPr>
            <a:picLocks noChangeAspect="1"/>
          </p:cNvPicPr>
          <p:nvPr/>
        </p:nvPicPr>
        <p:blipFill>
          <a:blip r:embed="rId3"/>
          <a:stretch>
            <a:fillRect/>
          </a:stretch>
        </p:blipFill>
        <p:spPr>
          <a:xfrm>
            <a:off x="13342557" y="118334"/>
            <a:ext cx="1125764" cy="412584"/>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793790" y="1195745"/>
            <a:ext cx="5693807" cy="558165"/>
          </a:xfrm>
          <a:prstGeom prst="rect">
            <a:avLst/>
          </a:prstGeom>
          <a:noFill/>
          <a:ln/>
        </p:spPr>
        <p:txBody>
          <a:bodyPr wrap="none" lIns="0" tIns="0" rIns="0" bIns="0" rtlCol="0" anchor="t"/>
          <a:lstStyle/>
          <a:p>
            <a:pPr marL="0" indent="0" algn="l">
              <a:lnSpc>
                <a:spcPts val="4350"/>
              </a:lnSpc>
              <a:buNone/>
            </a:pPr>
            <a:r>
              <a:rPr lang="en-US" sz="3500" b="1" dirty="0">
                <a:solidFill>
                  <a:srgbClr val="000000"/>
                </a:solidFill>
                <a:latin typeface="Inter Bold" pitchFamily="34" charset="0"/>
                <a:ea typeface="Inter Bold" pitchFamily="34" charset="-122"/>
                <a:cs typeface="Inter Bold" pitchFamily="34" charset="-120"/>
              </a:rPr>
              <a:t>GroupBy (The Pivot Table)</a:t>
            </a:r>
            <a:endParaRPr lang="en-US" sz="3500" dirty="0"/>
          </a:p>
        </p:txBody>
      </p:sp>
      <p:sp>
        <p:nvSpPr>
          <p:cNvPr id="3" name="Text 1"/>
          <p:cNvSpPr/>
          <p:nvPr/>
        </p:nvSpPr>
        <p:spPr>
          <a:xfrm>
            <a:off x="793790" y="2021800"/>
            <a:ext cx="13042821" cy="594360"/>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ontserrat Medium" pitchFamily="34" charset="0"/>
                <a:ea typeface="Montserrat Medium" pitchFamily="34" charset="-122"/>
                <a:cs typeface="Montserrat Medium" pitchFamily="34" charset="-120"/>
              </a:rPr>
              <a:t>The </a:t>
            </a:r>
            <a:r>
              <a:rPr lang="en-US" sz="1400" dirty="0">
                <a:solidFill>
                  <a:srgbClr val="000000"/>
                </a:solidFill>
                <a:highlight>
                  <a:srgbClr val="F2F2F2"/>
                </a:highlight>
                <a:latin typeface="Consolas" pitchFamily="34" charset="0"/>
                <a:ea typeface="Consolas" pitchFamily="34" charset="-122"/>
                <a:cs typeface="Consolas" pitchFamily="34" charset="-120"/>
              </a:rPr>
              <a:t>groupby</a:t>
            </a:r>
            <a:r>
              <a:rPr lang="en-US" sz="1400" dirty="0">
                <a:solidFill>
                  <a:srgbClr val="000000"/>
                </a:solidFill>
                <a:latin typeface="Montserrat Medium" pitchFamily="34" charset="0"/>
                <a:ea typeface="Montserrat Medium" pitchFamily="34" charset="-122"/>
                <a:cs typeface="Montserrat Medium" pitchFamily="34" charset="-120"/>
              </a:rPr>
              <a:t> function is the most powerful analysis tool in Pandas. It answers questions like "What is the average salary per department?" or "Total sales by region?"</a:t>
            </a:r>
            <a:endParaRPr lang="en-US" sz="1400" dirty="0"/>
          </a:p>
        </p:txBody>
      </p:sp>
      <p:sp>
        <p:nvSpPr>
          <p:cNvPr id="4" name="Text 2"/>
          <p:cNvSpPr/>
          <p:nvPr/>
        </p:nvSpPr>
        <p:spPr>
          <a:xfrm>
            <a:off x="793790" y="2995612"/>
            <a:ext cx="26793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How It Works</a:t>
            </a:r>
            <a:endParaRPr lang="en-US" sz="2100" dirty="0"/>
          </a:p>
        </p:txBody>
      </p:sp>
      <p:pic>
        <p:nvPicPr>
          <p:cNvPr id="5" name="Image 0" descr="preencoded.png"/>
          <p:cNvPicPr>
            <a:picLocks noChangeAspect="1"/>
          </p:cNvPicPr>
          <p:nvPr/>
        </p:nvPicPr>
        <p:blipFill>
          <a:blip r:embed="rId3">
            <a:duotone>
              <a:prstClr val="black"/>
              <a:srgbClr val="720062">
                <a:tint val="45000"/>
                <a:satMod val="400000"/>
              </a:srgbClr>
            </a:duotone>
          </a:blip>
          <a:stretch>
            <a:fillRect/>
          </a:stretch>
        </p:blipFill>
        <p:spPr>
          <a:xfrm>
            <a:off x="793790" y="3531275"/>
            <a:ext cx="893088" cy="1100495"/>
          </a:xfrm>
          <a:prstGeom prst="rect">
            <a:avLst/>
          </a:prstGeom>
        </p:spPr>
      </p:pic>
      <p:sp>
        <p:nvSpPr>
          <p:cNvPr id="6" name="Text 3"/>
          <p:cNvSpPr/>
          <p:nvPr/>
        </p:nvSpPr>
        <p:spPr>
          <a:xfrm>
            <a:off x="1865471" y="3709868"/>
            <a:ext cx="2232779" cy="278963"/>
          </a:xfrm>
          <a:prstGeom prst="rect">
            <a:avLst/>
          </a:prstGeom>
          <a:noFill/>
          <a:ln/>
        </p:spPr>
        <p:txBody>
          <a:bodyPr wrap="none" lIns="0" tIns="0" rIns="0" bIns="0" rtlCol="0" anchor="t"/>
          <a:lstStyle/>
          <a:p>
            <a:pPr marL="0" indent="0" algn="l">
              <a:lnSpc>
                <a:spcPts val="2150"/>
              </a:lnSpc>
              <a:buNone/>
            </a:pPr>
            <a:r>
              <a:rPr lang="en-US" sz="1750" b="1" dirty="0">
                <a:solidFill>
                  <a:srgbClr val="000000"/>
                </a:solidFill>
                <a:latin typeface="Inter Bold" pitchFamily="34" charset="0"/>
                <a:ea typeface="Inter Bold" pitchFamily="34" charset="-122"/>
                <a:cs typeface="Inter Bold" pitchFamily="34" charset="-120"/>
              </a:rPr>
              <a:t>Split</a:t>
            </a:r>
            <a:endParaRPr lang="en-US" sz="1750" dirty="0"/>
          </a:p>
        </p:txBody>
      </p:sp>
      <p:sp>
        <p:nvSpPr>
          <p:cNvPr id="7" name="Text 4"/>
          <p:cNvSpPr/>
          <p:nvPr/>
        </p:nvSpPr>
        <p:spPr>
          <a:xfrm>
            <a:off x="1865471" y="4167426"/>
            <a:ext cx="5231844" cy="285750"/>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latin typeface="Montserrat Medium" pitchFamily="34" charset="0"/>
                <a:ea typeface="Montserrat Medium" pitchFamily="34" charset="-122"/>
                <a:cs typeface="Montserrat Medium" pitchFamily="34" charset="-120"/>
              </a:rPr>
              <a:t>Divide data into groups based on a category</a:t>
            </a:r>
            <a:endParaRPr lang="en-US" sz="1400" dirty="0"/>
          </a:p>
        </p:txBody>
      </p:sp>
      <p:pic>
        <p:nvPicPr>
          <p:cNvPr id="8" name="Image 1" descr="preencoded.png"/>
          <p:cNvPicPr>
            <a:picLocks noChangeAspect="1"/>
          </p:cNvPicPr>
          <p:nvPr/>
        </p:nvPicPr>
        <p:blipFill>
          <a:blip r:embed="rId4">
            <a:duotone>
              <a:prstClr val="black"/>
              <a:srgbClr val="720062">
                <a:tint val="45000"/>
                <a:satMod val="400000"/>
              </a:srgbClr>
            </a:duotone>
          </a:blip>
          <a:stretch>
            <a:fillRect/>
          </a:stretch>
        </p:blipFill>
        <p:spPr>
          <a:xfrm>
            <a:off x="793790" y="4631769"/>
            <a:ext cx="893088" cy="1100495"/>
          </a:xfrm>
          <a:prstGeom prst="rect">
            <a:avLst/>
          </a:prstGeom>
        </p:spPr>
      </p:pic>
      <p:sp>
        <p:nvSpPr>
          <p:cNvPr id="9" name="Text 5"/>
          <p:cNvSpPr/>
          <p:nvPr/>
        </p:nvSpPr>
        <p:spPr>
          <a:xfrm>
            <a:off x="1865471" y="4810363"/>
            <a:ext cx="2232779" cy="278963"/>
          </a:xfrm>
          <a:prstGeom prst="rect">
            <a:avLst/>
          </a:prstGeom>
          <a:noFill/>
          <a:ln/>
        </p:spPr>
        <p:txBody>
          <a:bodyPr wrap="none" lIns="0" tIns="0" rIns="0" bIns="0" rtlCol="0" anchor="t"/>
          <a:lstStyle/>
          <a:p>
            <a:pPr marL="0" indent="0" algn="l">
              <a:lnSpc>
                <a:spcPts val="2150"/>
              </a:lnSpc>
              <a:buNone/>
            </a:pPr>
            <a:r>
              <a:rPr lang="en-US" sz="1750" b="1" dirty="0">
                <a:solidFill>
                  <a:srgbClr val="000000"/>
                </a:solidFill>
                <a:latin typeface="Inter Bold" pitchFamily="34" charset="0"/>
                <a:ea typeface="Inter Bold" pitchFamily="34" charset="-122"/>
                <a:cs typeface="Inter Bold" pitchFamily="34" charset="-120"/>
              </a:rPr>
              <a:t>Apply</a:t>
            </a:r>
            <a:endParaRPr lang="en-US" sz="1750" dirty="0"/>
          </a:p>
        </p:txBody>
      </p:sp>
      <p:sp>
        <p:nvSpPr>
          <p:cNvPr id="10" name="Text 6"/>
          <p:cNvSpPr/>
          <p:nvPr/>
        </p:nvSpPr>
        <p:spPr>
          <a:xfrm>
            <a:off x="1865471" y="5267920"/>
            <a:ext cx="5231844" cy="285750"/>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latin typeface="Montserrat Medium" pitchFamily="34" charset="0"/>
                <a:ea typeface="Montserrat Medium" pitchFamily="34" charset="-122"/>
                <a:cs typeface="Montserrat Medium" pitchFamily="34" charset="-120"/>
              </a:rPr>
              <a:t>Perform a calculation on each group</a:t>
            </a:r>
            <a:endParaRPr lang="en-US" sz="1400" dirty="0"/>
          </a:p>
        </p:txBody>
      </p:sp>
      <p:pic>
        <p:nvPicPr>
          <p:cNvPr id="11" name="Image 2" descr="preencoded.png"/>
          <p:cNvPicPr>
            <a:picLocks noChangeAspect="1"/>
          </p:cNvPicPr>
          <p:nvPr/>
        </p:nvPicPr>
        <p:blipFill>
          <a:blip r:embed="rId5">
            <a:duotone>
              <a:prstClr val="black"/>
              <a:srgbClr val="720062">
                <a:tint val="45000"/>
                <a:satMod val="400000"/>
              </a:srgbClr>
            </a:duotone>
          </a:blip>
          <a:stretch>
            <a:fillRect/>
          </a:stretch>
        </p:blipFill>
        <p:spPr>
          <a:xfrm>
            <a:off x="793790" y="5732264"/>
            <a:ext cx="893088" cy="1100495"/>
          </a:xfrm>
          <a:prstGeom prst="rect">
            <a:avLst/>
          </a:prstGeom>
        </p:spPr>
      </p:pic>
      <p:sp>
        <p:nvSpPr>
          <p:cNvPr id="12" name="Text 7"/>
          <p:cNvSpPr/>
          <p:nvPr/>
        </p:nvSpPr>
        <p:spPr>
          <a:xfrm>
            <a:off x="1865471" y="5910858"/>
            <a:ext cx="2232779" cy="278963"/>
          </a:xfrm>
          <a:prstGeom prst="rect">
            <a:avLst/>
          </a:prstGeom>
          <a:noFill/>
          <a:ln/>
        </p:spPr>
        <p:txBody>
          <a:bodyPr wrap="none" lIns="0" tIns="0" rIns="0" bIns="0" rtlCol="0" anchor="t"/>
          <a:lstStyle/>
          <a:p>
            <a:pPr marL="0" indent="0" algn="l">
              <a:lnSpc>
                <a:spcPts val="2150"/>
              </a:lnSpc>
              <a:buNone/>
            </a:pPr>
            <a:r>
              <a:rPr lang="en-US" sz="1750" b="1" dirty="0">
                <a:solidFill>
                  <a:srgbClr val="000000"/>
                </a:solidFill>
                <a:latin typeface="Inter Bold" pitchFamily="34" charset="0"/>
                <a:ea typeface="Inter Bold" pitchFamily="34" charset="-122"/>
                <a:cs typeface="Inter Bold" pitchFamily="34" charset="-120"/>
              </a:rPr>
              <a:t>Combine</a:t>
            </a:r>
            <a:endParaRPr lang="en-US" sz="1750" dirty="0"/>
          </a:p>
        </p:txBody>
      </p:sp>
      <p:sp>
        <p:nvSpPr>
          <p:cNvPr id="13" name="Text 8"/>
          <p:cNvSpPr/>
          <p:nvPr/>
        </p:nvSpPr>
        <p:spPr>
          <a:xfrm>
            <a:off x="1865471" y="6368415"/>
            <a:ext cx="5231844" cy="285750"/>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latin typeface="Montserrat Medium" pitchFamily="34" charset="0"/>
                <a:ea typeface="Montserrat Medium" pitchFamily="34" charset="-122"/>
                <a:cs typeface="Montserrat Medium" pitchFamily="34" charset="-120"/>
              </a:rPr>
              <a:t>Merge results into a summary</a:t>
            </a:r>
            <a:endParaRPr lang="en-US" sz="1400" dirty="0"/>
          </a:p>
        </p:txBody>
      </p:sp>
      <p:sp>
        <p:nvSpPr>
          <p:cNvPr id="14" name="Text 9"/>
          <p:cNvSpPr/>
          <p:nvPr/>
        </p:nvSpPr>
        <p:spPr>
          <a:xfrm>
            <a:off x="7540704" y="2995612"/>
            <a:ext cx="26793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Example</a:t>
            </a:r>
            <a:endParaRPr lang="en-US" sz="2100" dirty="0"/>
          </a:p>
        </p:txBody>
      </p:sp>
      <p:sp>
        <p:nvSpPr>
          <p:cNvPr id="15" name="Shape 10"/>
          <p:cNvSpPr/>
          <p:nvPr/>
        </p:nvSpPr>
        <p:spPr>
          <a:xfrm>
            <a:off x="7540704" y="3531275"/>
            <a:ext cx="6303526" cy="553641"/>
          </a:xfrm>
          <a:prstGeom prst="roundRect">
            <a:avLst>
              <a:gd name="adj" fmla="val 13551"/>
            </a:avLst>
          </a:prstGeom>
          <a:solidFill>
            <a:srgbClr val="F2F2F2"/>
          </a:solidFill>
          <a:ln/>
        </p:spPr>
      </p:sp>
      <p:sp>
        <p:nvSpPr>
          <p:cNvPr id="16" name="Shape 11"/>
          <p:cNvSpPr/>
          <p:nvPr/>
        </p:nvSpPr>
        <p:spPr>
          <a:xfrm>
            <a:off x="7531775" y="3531275"/>
            <a:ext cx="6321385" cy="553641"/>
          </a:xfrm>
          <a:prstGeom prst="roundRect">
            <a:avLst>
              <a:gd name="adj" fmla="val 4840"/>
            </a:avLst>
          </a:prstGeom>
          <a:solidFill>
            <a:srgbClr val="F2F2F2"/>
          </a:solidFill>
          <a:ln/>
        </p:spPr>
      </p:sp>
      <p:sp>
        <p:nvSpPr>
          <p:cNvPr id="17" name="Text 12"/>
          <p:cNvSpPr/>
          <p:nvPr/>
        </p:nvSpPr>
        <p:spPr>
          <a:xfrm>
            <a:off x="7710368" y="3665220"/>
            <a:ext cx="5964198" cy="285750"/>
          </a:xfrm>
          <a:prstGeom prst="rect">
            <a:avLst/>
          </a:prstGeom>
          <a:noFill/>
          <a:ln/>
        </p:spPr>
        <p:txBody>
          <a:bodyPr wrap="none" lIns="0" tIns="0" rIns="0" bIns="0" rtlCol="0" anchor="t"/>
          <a:lstStyle/>
          <a:p>
            <a:pPr marL="0" indent="0" algn="l">
              <a:lnSpc>
                <a:spcPts val="2250"/>
              </a:lnSpc>
              <a:buNone/>
            </a:pPr>
            <a:r>
              <a:rPr lang="en-US" sz="1400" dirty="0">
                <a:solidFill>
                  <a:srgbClr val="000000"/>
                </a:solidFill>
                <a:highlight>
                  <a:srgbClr val="F2F2F2"/>
                </a:highlight>
                <a:latin typeface="Consolas Medium" pitchFamily="34" charset="0"/>
                <a:ea typeface="Consolas Medium" pitchFamily="34" charset="-122"/>
                <a:cs typeface="Consolas Medium" pitchFamily="34" charset="-120"/>
              </a:rPr>
              <a:t>df.groupby("Department")["Salary"].mean()</a:t>
            </a:r>
            <a:endParaRPr lang="en-US" sz="1400" dirty="0"/>
          </a:p>
        </p:txBody>
      </p:sp>
      <p:sp>
        <p:nvSpPr>
          <p:cNvPr id="18" name="Text 13"/>
          <p:cNvSpPr/>
          <p:nvPr/>
        </p:nvSpPr>
        <p:spPr>
          <a:xfrm>
            <a:off x="7540704" y="4285774"/>
            <a:ext cx="6303526" cy="571500"/>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Montserrat Medium" pitchFamily="34" charset="0"/>
                <a:ea typeface="Montserrat Medium" pitchFamily="34" charset="-122"/>
                <a:cs typeface="Montserrat Medium" pitchFamily="34" charset="-120"/>
              </a:rPr>
              <a:t>This groups all employees by department, then calculates the average salary for each group.</a:t>
            </a:r>
            <a:endParaRPr lang="en-US" sz="1400" dirty="0"/>
          </a:p>
        </p:txBody>
      </p:sp>
      <p:sp>
        <p:nvSpPr>
          <p:cNvPr id="19" name="Text 14"/>
          <p:cNvSpPr/>
          <p:nvPr/>
        </p:nvSpPr>
        <p:spPr>
          <a:xfrm>
            <a:off x="7540704" y="5035867"/>
            <a:ext cx="2679383" cy="334804"/>
          </a:xfrm>
          <a:prstGeom prst="rect">
            <a:avLst/>
          </a:prstGeom>
          <a:noFill/>
          <a:ln/>
        </p:spPr>
        <p:txBody>
          <a:bodyPr wrap="none" lIns="0" tIns="0" rIns="0" bIns="0" rtlCol="0" anchor="t"/>
          <a:lstStyle/>
          <a:p>
            <a:pPr marL="0" indent="0" algn="l">
              <a:lnSpc>
                <a:spcPts val="2600"/>
              </a:lnSpc>
              <a:buNone/>
            </a:pPr>
            <a:r>
              <a:rPr lang="en-US" sz="2100" b="1" dirty="0">
                <a:solidFill>
                  <a:srgbClr val="000000"/>
                </a:solidFill>
                <a:latin typeface="Inter Bold" pitchFamily="34" charset="0"/>
                <a:ea typeface="Inter Bold" pitchFamily="34" charset="-122"/>
                <a:cs typeface="Inter Bold" pitchFamily="34" charset="-120"/>
              </a:rPr>
              <a:t>Other Aggregations</a:t>
            </a:r>
            <a:endParaRPr lang="en-US" sz="2100" dirty="0"/>
          </a:p>
        </p:txBody>
      </p:sp>
      <p:sp>
        <p:nvSpPr>
          <p:cNvPr id="20" name="Text 15"/>
          <p:cNvSpPr/>
          <p:nvPr/>
        </p:nvSpPr>
        <p:spPr>
          <a:xfrm>
            <a:off x="7540704" y="5549265"/>
            <a:ext cx="6303526" cy="30861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.sum()</a:t>
            </a:r>
            <a:r>
              <a:rPr lang="en-US" sz="1400" dirty="0">
                <a:solidFill>
                  <a:srgbClr val="000000"/>
                </a:solidFill>
                <a:latin typeface="Montserrat Medium" pitchFamily="34" charset="0"/>
                <a:ea typeface="Montserrat Medium" pitchFamily="34" charset="-122"/>
                <a:cs typeface="Montserrat Medium" pitchFamily="34" charset="-120"/>
              </a:rPr>
              <a:t> - Total</a:t>
            </a:r>
            <a:endParaRPr lang="en-US" sz="1400" dirty="0"/>
          </a:p>
        </p:txBody>
      </p:sp>
      <p:sp>
        <p:nvSpPr>
          <p:cNvPr id="21" name="Text 16"/>
          <p:cNvSpPr/>
          <p:nvPr/>
        </p:nvSpPr>
        <p:spPr>
          <a:xfrm>
            <a:off x="7540704" y="5920383"/>
            <a:ext cx="6303526" cy="30861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.count()</a:t>
            </a:r>
            <a:r>
              <a:rPr lang="en-US" sz="1400" dirty="0">
                <a:solidFill>
                  <a:srgbClr val="000000"/>
                </a:solidFill>
                <a:latin typeface="Montserrat Medium" pitchFamily="34" charset="0"/>
                <a:ea typeface="Montserrat Medium" pitchFamily="34" charset="-122"/>
                <a:cs typeface="Montserrat Medium" pitchFamily="34" charset="-120"/>
              </a:rPr>
              <a:t> - Number of items</a:t>
            </a:r>
            <a:endParaRPr lang="en-US" sz="1400" dirty="0"/>
          </a:p>
        </p:txBody>
      </p:sp>
      <p:sp>
        <p:nvSpPr>
          <p:cNvPr id="22" name="Text 17"/>
          <p:cNvSpPr/>
          <p:nvPr/>
        </p:nvSpPr>
        <p:spPr>
          <a:xfrm>
            <a:off x="7540704" y="6291501"/>
            <a:ext cx="6303526" cy="30861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.max()</a:t>
            </a:r>
            <a:r>
              <a:rPr lang="en-US" sz="1400" dirty="0">
                <a:solidFill>
                  <a:srgbClr val="000000"/>
                </a:solidFill>
                <a:latin typeface="Montserrat Medium" pitchFamily="34" charset="0"/>
                <a:ea typeface="Montserrat Medium" pitchFamily="34" charset="-122"/>
                <a:cs typeface="Montserrat Medium" pitchFamily="34" charset="-120"/>
              </a:rPr>
              <a:t> / </a:t>
            </a:r>
            <a:r>
              <a:rPr lang="en-US" sz="1400" dirty="0">
                <a:solidFill>
                  <a:srgbClr val="000000"/>
                </a:solidFill>
                <a:highlight>
                  <a:srgbClr val="F2F2F2"/>
                </a:highlight>
                <a:latin typeface="Consolas" pitchFamily="34" charset="0"/>
                <a:ea typeface="Consolas" pitchFamily="34" charset="-122"/>
                <a:cs typeface="Consolas" pitchFamily="34" charset="-120"/>
              </a:rPr>
              <a:t>.min()</a:t>
            </a:r>
            <a:r>
              <a:rPr lang="en-US" sz="1400" dirty="0">
                <a:solidFill>
                  <a:srgbClr val="000000"/>
                </a:solidFill>
                <a:latin typeface="Montserrat Medium" pitchFamily="34" charset="0"/>
                <a:ea typeface="Montserrat Medium" pitchFamily="34" charset="-122"/>
                <a:cs typeface="Montserrat Medium" pitchFamily="34" charset="-120"/>
              </a:rPr>
              <a:t> - Highest/Lowest</a:t>
            </a:r>
            <a:endParaRPr lang="en-US" sz="1400" dirty="0"/>
          </a:p>
        </p:txBody>
      </p:sp>
      <p:sp>
        <p:nvSpPr>
          <p:cNvPr id="23" name="Text 18"/>
          <p:cNvSpPr/>
          <p:nvPr/>
        </p:nvSpPr>
        <p:spPr>
          <a:xfrm>
            <a:off x="7540704" y="6662618"/>
            <a:ext cx="6303526" cy="308610"/>
          </a:xfrm>
          <a:prstGeom prst="rect">
            <a:avLst/>
          </a:prstGeom>
          <a:noFill/>
          <a:ln/>
        </p:spPr>
        <p:txBody>
          <a:bodyPr wrap="none" lIns="0" tIns="0" rIns="0" bIns="0" rtlCol="0" anchor="t"/>
          <a:lstStyle/>
          <a:p>
            <a:pPr marL="342900" indent="-342900" algn="l">
              <a:lnSpc>
                <a:spcPts val="2250"/>
              </a:lnSpc>
              <a:buSzPct val="100000"/>
              <a:buChar char="•"/>
            </a:pPr>
            <a:r>
              <a:rPr lang="en-US" sz="1400" dirty="0">
                <a:solidFill>
                  <a:srgbClr val="000000"/>
                </a:solidFill>
                <a:highlight>
                  <a:srgbClr val="F2F2F2"/>
                </a:highlight>
                <a:latin typeface="Consolas" pitchFamily="34" charset="0"/>
                <a:ea typeface="Consolas" pitchFamily="34" charset="-122"/>
                <a:cs typeface="Consolas" pitchFamily="34" charset="-120"/>
              </a:rPr>
              <a:t>.std()</a:t>
            </a:r>
            <a:r>
              <a:rPr lang="en-US" sz="1400" dirty="0">
                <a:solidFill>
                  <a:srgbClr val="000000"/>
                </a:solidFill>
                <a:latin typeface="Montserrat Medium" pitchFamily="34" charset="0"/>
                <a:ea typeface="Montserrat Medium" pitchFamily="34" charset="-122"/>
                <a:cs typeface="Montserrat Medium" pitchFamily="34" charset="-120"/>
              </a:rPr>
              <a:t> - Standard deviation</a:t>
            </a:r>
            <a:endParaRPr lang="en-US" sz="1400" dirty="0"/>
          </a:p>
        </p:txBody>
      </p:sp>
      <p:pic>
        <p:nvPicPr>
          <p:cNvPr id="24" name="Picture 23">
            <a:extLst>
              <a:ext uri="{FF2B5EF4-FFF2-40B4-BE49-F238E27FC236}">
                <a16:creationId xmlns:a16="http://schemas.microsoft.com/office/drawing/2014/main" id="{97A0C51C-9698-3D3C-3912-A1796E3B5BCB}"/>
              </a:ext>
            </a:extLst>
          </p:cNvPr>
          <p:cNvPicPr>
            <a:picLocks noChangeAspect="1"/>
          </p:cNvPicPr>
          <p:nvPr/>
        </p:nvPicPr>
        <p:blipFill>
          <a:blip r:embed="rId6"/>
          <a:stretch>
            <a:fillRect/>
          </a:stretch>
        </p:blipFill>
        <p:spPr>
          <a:xfrm>
            <a:off x="13342557" y="118334"/>
            <a:ext cx="1125764" cy="412584"/>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793790" y="718066"/>
            <a:ext cx="1352074" cy="373142"/>
          </a:xfrm>
          <a:prstGeom prst="roundRect">
            <a:avLst>
              <a:gd name="adj" fmla="val 17872"/>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852" y="825222"/>
            <a:ext cx="158710" cy="158710"/>
          </a:xfrm>
          <a:prstGeom prst="rect">
            <a:avLst/>
          </a:prstGeom>
        </p:spPr>
      </p:pic>
      <p:sp>
        <p:nvSpPr>
          <p:cNvPr id="4" name="Text 1"/>
          <p:cNvSpPr/>
          <p:nvPr/>
        </p:nvSpPr>
        <p:spPr>
          <a:xfrm>
            <a:off x="1150858" y="777597"/>
            <a:ext cx="875943"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MODULE 5</a:t>
            </a:r>
            <a:endParaRPr lang="en-US" sz="1250" dirty="0"/>
          </a:p>
        </p:txBody>
      </p:sp>
      <p:sp>
        <p:nvSpPr>
          <p:cNvPr id="5" name="Text 2"/>
          <p:cNvSpPr/>
          <p:nvPr/>
        </p:nvSpPr>
        <p:spPr>
          <a:xfrm>
            <a:off x="793790" y="1170503"/>
            <a:ext cx="6191369" cy="620078"/>
          </a:xfrm>
          <a:prstGeom prst="rect">
            <a:avLst/>
          </a:prstGeom>
          <a:noFill/>
          <a:ln/>
        </p:spPr>
        <p:txBody>
          <a:bodyPr wrap="none" lIns="0" tIns="0" rIns="0" bIns="0" rtlCol="0" anchor="t"/>
          <a:lstStyle/>
          <a:p>
            <a:pPr marL="0" indent="0" algn="l">
              <a:lnSpc>
                <a:spcPts val="4850"/>
              </a:lnSpc>
              <a:buNone/>
            </a:pPr>
            <a:r>
              <a:rPr lang="en-US" sz="3900" b="1" dirty="0">
                <a:solidFill>
                  <a:srgbClr val="000000"/>
                </a:solidFill>
                <a:latin typeface="Inter Bold" pitchFamily="34" charset="0"/>
                <a:ea typeface="Inter Bold" pitchFamily="34" charset="-122"/>
                <a:cs typeface="Inter Bold" pitchFamily="34" charset="-120"/>
              </a:rPr>
              <a:t>Analysis &amp; Class Exercise</a:t>
            </a:r>
            <a:endParaRPr lang="en-US" sz="3900" dirty="0"/>
          </a:p>
        </p:txBody>
      </p:sp>
      <p:sp>
        <p:nvSpPr>
          <p:cNvPr id="6" name="Text 3"/>
          <p:cNvSpPr/>
          <p:nvPr/>
        </p:nvSpPr>
        <p:spPr>
          <a:xfrm>
            <a:off x="2254091" y="2622828"/>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000000"/>
                </a:solidFill>
                <a:latin typeface="Inter Bold" pitchFamily="34" charset="0"/>
                <a:ea typeface="Inter Bold" pitchFamily="34" charset="-122"/>
                <a:cs typeface="Inter Bold" pitchFamily="34" charset="-120"/>
              </a:rPr>
              <a:t>Extract</a:t>
            </a:r>
            <a:endParaRPr lang="en-US" sz="1950" dirty="0"/>
          </a:p>
        </p:txBody>
      </p:sp>
      <p:sp>
        <p:nvSpPr>
          <p:cNvPr id="7" name="Text 4"/>
          <p:cNvSpPr/>
          <p:nvPr/>
        </p:nvSpPr>
        <p:spPr>
          <a:xfrm>
            <a:off x="793790" y="3052048"/>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Load data from various sources using Pandas readers</a:t>
            </a:r>
            <a:endParaRPr lang="en-US" sz="1550" dirty="0"/>
          </a:p>
        </p:txBody>
      </p:sp>
      <p:sp>
        <p:nvSpPr>
          <p:cNvPr id="10" name="Text 5"/>
          <p:cNvSpPr/>
          <p:nvPr/>
        </p:nvSpPr>
        <p:spPr>
          <a:xfrm>
            <a:off x="9895284" y="2622828"/>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Transform</a:t>
            </a:r>
            <a:endParaRPr lang="en-US" sz="1950" dirty="0"/>
          </a:p>
        </p:txBody>
      </p:sp>
      <p:sp>
        <p:nvSpPr>
          <p:cNvPr id="11" name="Text 6"/>
          <p:cNvSpPr/>
          <p:nvPr/>
        </p:nvSpPr>
        <p:spPr>
          <a:xfrm>
            <a:off x="9895284" y="3052048"/>
            <a:ext cx="394132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Clean, filter, and reshape data to answer questions</a:t>
            </a:r>
            <a:endParaRPr lang="en-US" sz="1550" dirty="0"/>
          </a:p>
        </p:txBody>
      </p:sp>
      <p:sp>
        <p:nvSpPr>
          <p:cNvPr id="14" name="Text 7"/>
          <p:cNvSpPr/>
          <p:nvPr/>
        </p:nvSpPr>
        <p:spPr>
          <a:xfrm>
            <a:off x="9895284" y="5054203"/>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000000"/>
                </a:solidFill>
                <a:latin typeface="Inter Bold" pitchFamily="34" charset="0"/>
                <a:ea typeface="Inter Bold" pitchFamily="34" charset="-122"/>
                <a:cs typeface="Inter Bold" pitchFamily="34" charset="-120"/>
              </a:rPr>
              <a:t>Analyze</a:t>
            </a:r>
            <a:endParaRPr lang="en-US" sz="1950" dirty="0"/>
          </a:p>
        </p:txBody>
      </p:sp>
      <p:sp>
        <p:nvSpPr>
          <p:cNvPr id="15" name="Text 8"/>
          <p:cNvSpPr/>
          <p:nvPr/>
        </p:nvSpPr>
        <p:spPr>
          <a:xfrm>
            <a:off x="9895284" y="5483423"/>
            <a:ext cx="3941326"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Use groupby, statistics, and aggregations to find insights</a:t>
            </a:r>
            <a:endParaRPr lang="en-US" sz="1550" dirty="0"/>
          </a:p>
        </p:txBody>
      </p:sp>
      <p:sp>
        <p:nvSpPr>
          <p:cNvPr id="18" name="Text 9"/>
          <p:cNvSpPr/>
          <p:nvPr/>
        </p:nvSpPr>
        <p:spPr>
          <a:xfrm>
            <a:off x="2254091" y="5054203"/>
            <a:ext cx="2480905" cy="310158"/>
          </a:xfrm>
          <a:prstGeom prst="rect">
            <a:avLst/>
          </a:prstGeom>
          <a:noFill/>
          <a:ln/>
        </p:spPr>
        <p:txBody>
          <a:bodyPr wrap="none" lIns="0" tIns="0" rIns="0" bIns="0" rtlCol="0" anchor="t"/>
          <a:lstStyle/>
          <a:p>
            <a:pPr marL="0" indent="0" algn="r">
              <a:lnSpc>
                <a:spcPts val="2400"/>
              </a:lnSpc>
              <a:buNone/>
            </a:pPr>
            <a:r>
              <a:rPr lang="en-US" sz="1950" b="1" dirty="0">
                <a:solidFill>
                  <a:srgbClr val="000000"/>
                </a:solidFill>
                <a:latin typeface="Inter Bold" pitchFamily="34" charset="0"/>
                <a:ea typeface="Inter Bold" pitchFamily="34" charset="-122"/>
                <a:cs typeface="Inter Bold" pitchFamily="34" charset="-120"/>
              </a:rPr>
              <a:t>Load</a:t>
            </a:r>
            <a:endParaRPr lang="en-US" sz="1950" dirty="0"/>
          </a:p>
        </p:txBody>
      </p:sp>
      <p:sp>
        <p:nvSpPr>
          <p:cNvPr id="19" name="Text 10"/>
          <p:cNvSpPr/>
          <p:nvPr/>
        </p:nvSpPr>
        <p:spPr>
          <a:xfrm>
            <a:off x="793790" y="5483423"/>
            <a:ext cx="3941207" cy="635079"/>
          </a:xfrm>
          <a:prstGeom prst="rect">
            <a:avLst/>
          </a:prstGeom>
          <a:noFill/>
          <a:ln/>
        </p:spPr>
        <p:txBody>
          <a:bodyPr wrap="square" lIns="0" tIns="0" rIns="0" bIns="0" rtlCol="0" anchor="t"/>
          <a:lstStyle/>
          <a:p>
            <a:pPr marL="0" indent="0" algn="r">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Save results in the format needed for reporting or sharing</a:t>
            </a:r>
            <a:endParaRPr lang="en-US" sz="1550" dirty="0"/>
          </a:p>
        </p:txBody>
      </p:sp>
      <p:grpSp>
        <p:nvGrpSpPr>
          <p:cNvPr id="24" name="Group 23">
            <a:extLst>
              <a:ext uri="{FF2B5EF4-FFF2-40B4-BE49-F238E27FC236}">
                <a16:creationId xmlns:a16="http://schemas.microsoft.com/office/drawing/2014/main" id="{B89AF601-8ACC-AC17-D2BE-73A78CC98627}"/>
              </a:ext>
            </a:extLst>
          </p:cNvPr>
          <p:cNvGrpSpPr/>
          <p:nvPr/>
        </p:nvGrpSpPr>
        <p:grpSpPr>
          <a:xfrm>
            <a:off x="5032653" y="2088237"/>
            <a:ext cx="4564975" cy="4564975"/>
            <a:chOff x="5032653" y="2088237"/>
            <a:chExt cx="4564975" cy="4564975"/>
          </a:xfrm>
        </p:grpSpPr>
        <p:pic>
          <p:nvPicPr>
            <p:cNvPr id="8" name="Image 1" descr="preencoded.png"/>
            <p:cNvPicPr>
              <a:picLocks noChangeAspect="1"/>
            </p:cNvPicPr>
            <p:nvPr/>
          </p:nvPicPr>
          <p:blipFill>
            <a:blip r:embed="rId5">
              <a:duotone>
                <a:prstClr val="black"/>
                <a:srgbClr val="720062">
                  <a:tint val="45000"/>
                  <a:satMod val="400000"/>
                </a:srgbClr>
              </a:duotone>
            </a:blip>
            <a:stretch>
              <a:fillRect/>
            </a:stretch>
          </p:blipFill>
          <p:spPr>
            <a:xfrm>
              <a:off x="5032653" y="2088237"/>
              <a:ext cx="4564975" cy="4564975"/>
            </a:xfrm>
            <a:prstGeom prst="rect">
              <a:avLst/>
            </a:prstGeom>
          </p:spPr>
        </p:pic>
        <p:pic>
          <p:nvPicPr>
            <p:cNvPr id="9" name="Image 2" descr="preencoded.png"/>
            <p:cNvPicPr>
              <a:picLocks noChangeAspect="1"/>
            </p:cNvPicPr>
            <p:nvPr/>
          </p:nvPicPr>
          <p:blipFill>
            <a:blip r:embed="rId6">
              <a:duotone>
                <a:prstClr val="black"/>
                <a:srgbClr val="720062">
                  <a:tint val="45000"/>
                  <a:satMod val="400000"/>
                </a:srgbClr>
              </a:duotone>
              <a:extLst>
                <a:ext uri="{96DAC541-7B7A-43D3-8B79-37D633B846F1}">
                  <asvg:svgBlip xmlns:asvg="http://schemas.microsoft.com/office/drawing/2016/SVG/main" r:embed="rId7"/>
                </a:ext>
              </a:extLst>
            </a:blip>
            <a:stretch>
              <a:fillRect/>
            </a:stretch>
          </p:blipFill>
          <p:spPr>
            <a:xfrm>
              <a:off x="6247864" y="2914948"/>
              <a:ext cx="296942" cy="296942"/>
            </a:xfrm>
            <a:prstGeom prst="rect">
              <a:avLst/>
            </a:prstGeom>
          </p:spPr>
        </p:pic>
        <p:pic>
          <p:nvPicPr>
            <p:cNvPr id="12" name="Image 3" descr="preencoded.png"/>
            <p:cNvPicPr>
              <a:picLocks noChangeAspect="1"/>
            </p:cNvPicPr>
            <p:nvPr/>
          </p:nvPicPr>
          <p:blipFill>
            <a:blip r:embed="rId8">
              <a:duotone>
                <a:prstClr val="black"/>
                <a:srgbClr val="720062">
                  <a:tint val="45000"/>
                  <a:satMod val="400000"/>
                </a:srgbClr>
              </a:duotone>
            </a:blip>
            <a:stretch>
              <a:fillRect/>
            </a:stretch>
          </p:blipFill>
          <p:spPr>
            <a:xfrm>
              <a:off x="5032653" y="2088237"/>
              <a:ext cx="4564975" cy="4564975"/>
            </a:xfrm>
            <a:prstGeom prst="rect">
              <a:avLst/>
            </a:prstGeom>
          </p:spPr>
        </p:pic>
        <p:pic>
          <p:nvPicPr>
            <p:cNvPr id="13" name="Image 4" descr="preencoded.png"/>
            <p:cNvPicPr>
              <a:picLocks noChangeAspect="1"/>
            </p:cNvPicPr>
            <p:nvPr/>
          </p:nvPicPr>
          <p:blipFill>
            <a:blip r:embed="rId9">
              <a:duotone>
                <a:prstClr val="black"/>
                <a:srgbClr val="720062">
                  <a:tint val="45000"/>
                  <a:satMod val="400000"/>
                </a:srgbClr>
              </a:duotone>
              <a:extLst>
                <a:ext uri="{96DAC541-7B7A-43D3-8B79-37D633B846F1}">
                  <asvg:svgBlip xmlns:asvg="http://schemas.microsoft.com/office/drawing/2016/SVG/main" r:embed="rId10"/>
                </a:ext>
              </a:extLst>
            </a:blip>
            <a:stretch>
              <a:fillRect/>
            </a:stretch>
          </p:blipFill>
          <p:spPr>
            <a:xfrm>
              <a:off x="8473738" y="3303449"/>
              <a:ext cx="296942" cy="296942"/>
            </a:xfrm>
            <a:prstGeom prst="rect">
              <a:avLst/>
            </a:prstGeom>
          </p:spPr>
        </p:pic>
        <p:pic>
          <p:nvPicPr>
            <p:cNvPr id="16" name="Image 5" descr="preencoded.png"/>
            <p:cNvPicPr>
              <a:picLocks noChangeAspect="1"/>
            </p:cNvPicPr>
            <p:nvPr/>
          </p:nvPicPr>
          <p:blipFill>
            <a:blip r:embed="rId11">
              <a:duotone>
                <a:prstClr val="black"/>
                <a:srgbClr val="720062">
                  <a:tint val="45000"/>
                  <a:satMod val="400000"/>
                </a:srgbClr>
              </a:duotone>
            </a:blip>
            <a:stretch>
              <a:fillRect/>
            </a:stretch>
          </p:blipFill>
          <p:spPr>
            <a:xfrm>
              <a:off x="5032653" y="2088237"/>
              <a:ext cx="4564975" cy="4564975"/>
            </a:xfrm>
            <a:prstGeom prst="rect">
              <a:avLst/>
            </a:prstGeom>
          </p:spPr>
        </p:pic>
        <p:pic>
          <p:nvPicPr>
            <p:cNvPr id="17" name="Image 6" descr="preencoded.png"/>
            <p:cNvPicPr>
              <a:picLocks noChangeAspect="1"/>
            </p:cNvPicPr>
            <p:nvPr/>
          </p:nvPicPr>
          <p:blipFill>
            <a:blip r:embed="rId12">
              <a:duotone>
                <a:prstClr val="black"/>
                <a:srgbClr val="720062">
                  <a:tint val="45000"/>
                  <a:satMod val="400000"/>
                </a:srgbClr>
              </a:duotone>
              <a:extLst>
                <a:ext uri="{96DAC541-7B7A-43D3-8B79-37D633B846F1}">
                  <asvg:svgBlip xmlns:asvg="http://schemas.microsoft.com/office/drawing/2016/SVG/main" r:embed="rId13"/>
                </a:ext>
              </a:extLst>
            </a:blip>
            <a:stretch>
              <a:fillRect/>
            </a:stretch>
          </p:blipFill>
          <p:spPr>
            <a:xfrm>
              <a:off x="8085237" y="5529322"/>
              <a:ext cx="296942" cy="296942"/>
            </a:xfrm>
            <a:prstGeom prst="rect">
              <a:avLst/>
            </a:prstGeom>
          </p:spPr>
        </p:pic>
        <p:pic>
          <p:nvPicPr>
            <p:cNvPr id="20" name="Image 7" descr="preencoded.png"/>
            <p:cNvPicPr>
              <a:picLocks noChangeAspect="1"/>
            </p:cNvPicPr>
            <p:nvPr/>
          </p:nvPicPr>
          <p:blipFill>
            <a:blip r:embed="rId14">
              <a:duotone>
                <a:prstClr val="black"/>
                <a:srgbClr val="720062">
                  <a:tint val="45000"/>
                  <a:satMod val="400000"/>
                </a:srgbClr>
              </a:duotone>
            </a:blip>
            <a:stretch>
              <a:fillRect/>
            </a:stretch>
          </p:blipFill>
          <p:spPr>
            <a:xfrm>
              <a:off x="5032653" y="2088237"/>
              <a:ext cx="4564975" cy="4564975"/>
            </a:xfrm>
            <a:prstGeom prst="rect">
              <a:avLst/>
            </a:prstGeom>
          </p:spPr>
        </p:pic>
        <p:pic>
          <p:nvPicPr>
            <p:cNvPr id="21" name="Image 8" descr="preencoded.png"/>
            <p:cNvPicPr>
              <a:picLocks noChangeAspect="1"/>
            </p:cNvPicPr>
            <p:nvPr/>
          </p:nvPicPr>
          <p:blipFill>
            <a:blip r:embed="rId15">
              <a:duotone>
                <a:prstClr val="black"/>
                <a:srgbClr val="720062">
                  <a:tint val="45000"/>
                  <a:satMod val="400000"/>
                </a:srgbClr>
              </a:duotone>
              <a:extLst>
                <a:ext uri="{96DAC541-7B7A-43D3-8B79-37D633B846F1}">
                  <asvg:svgBlip xmlns:asvg="http://schemas.microsoft.com/office/drawing/2016/SVG/main" r:embed="rId16"/>
                </a:ext>
              </a:extLst>
            </a:blip>
            <a:stretch>
              <a:fillRect/>
            </a:stretch>
          </p:blipFill>
          <p:spPr>
            <a:xfrm>
              <a:off x="5859363" y="5140821"/>
              <a:ext cx="296942" cy="296942"/>
            </a:xfrm>
            <a:prstGeom prst="rect">
              <a:avLst/>
            </a:prstGeom>
          </p:spPr>
        </p:pic>
      </p:grpSp>
      <p:sp>
        <p:nvSpPr>
          <p:cNvPr id="22" name="Text 11"/>
          <p:cNvSpPr/>
          <p:nvPr/>
        </p:nvSpPr>
        <p:spPr>
          <a:xfrm>
            <a:off x="793790" y="6876455"/>
            <a:ext cx="13042821" cy="635079"/>
          </a:xfrm>
          <a:prstGeom prst="rect">
            <a:avLst/>
          </a:prstGeom>
          <a:noFill/>
          <a:ln/>
        </p:spPr>
        <p:txBody>
          <a:bodyPr wrap="square" lIns="0" tIns="0" rIns="0" bIns="0" rtlCol="0" anchor="t"/>
          <a:lstStyle/>
          <a:p>
            <a:pPr marL="0" indent="0" algn="l">
              <a:lnSpc>
                <a:spcPts val="2500"/>
              </a:lnSpc>
              <a:buNone/>
            </a:pPr>
            <a:r>
              <a:rPr lang="en-US" sz="1550" dirty="0">
                <a:solidFill>
                  <a:srgbClr val="000000"/>
                </a:solidFill>
                <a:latin typeface="Montserrat Medium" pitchFamily="34" charset="0"/>
                <a:ea typeface="Montserrat Medium" pitchFamily="34" charset="-122"/>
                <a:cs typeface="Montserrat Medium" pitchFamily="34" charset="-120"/>
              </a:rPr>
              <a:t>Now it's time to put everything together. You've learned the individual tools—now we'll combine them into a complete data analysis workflow.</a:t>
            </a:r>
            <a:endParaRPr lang="en-US" sz="1550" dirty="0"/>
          </a:p>
        </p:txBody>
      </p:sp>
      <p:pic>
        <p:nvPicPr>
          <p:cNvPr id="23" name="Picture 22">
            <a:extLst>
              <a:ext uri="{FF2B5EF4-FFF2-40B4-BE49-F238E27FC236}">
                <a16:creationId xmlns:a16="http://schemas.microsoft.com/office/drawing/2014/main" id="{EAFF7F73-7153-A0F6-D663-AA11870A3DA6}"/>
              </a:ext>
            </a:extLst>
          </p:cNvPr>
          <p:cNvPicPr>
            <a:picLocks noChangeAspect="1"/>
          </p:cNvPicPr>
          <p:nvPr/>
        </p:nvPicPr>
        <p:blipFill>
          <a:blip r:embed="rId17"/>
          <a:stretch>
            <a:fillRect/>
          </a:stretch>
        </p:blipFill>
        <p:spPr>
          <a:xfrm>
            <a:off x="13342557" y="118334"/>
            <a:ext cx="1125764" cy="412584"/>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793790" y="801886"/>
            <a:ext cx="8595360" cy="496133"/>
          </a:xfrm>
          <a:prstGeom prst="rect">
            <a:avLst/>
          </a:prstGeom>
          <a:noFill/>
          <a:ln/>
        </p:spPr>
        <p:txBody>
          <a:bodyPr wrap="none" lIns="0" tIns="0" rIns="0" bIns="0" rtlCol="0" anchor="t"/>
          <a:lstStyle/>
          <a:p>
            <a:pPr marL="0" indent="0" algn="l">
              <a:lnSpc>
                <a:spcPts val="3900"/>
              </a:lnSpc>
              <a:buNone/>
            </a:pPr>
            <a:r>
              <a:rPr lang="en-US" sz="3100" b="1" dirty="0">
                <a:solidFill>
                  <a:srgbClr val="000000"/>
                </a:solidFill>
                <a:latin typeface="Inter Bold" pitchFamily="34" charset="0"/>
                <a:ea typeface="Inter Bold" pitchFamily="34" charset="-122"/>
                <a:cs typeface="Inter Bold" pitchFamily="34" charset="-120"/>
              </a:rPr>
              <a:t>Class Exercise: The Movie Database Analyst</a:t>
            </a:r>
            <a:endParaRPr lang="en-US" sz="3100" dirty="0"/>
          </a:p>
        </p:txBody>
      </p:sp>
      <p:sp>
        <p:nvSpPr>
          <p:cNvPr id="3" name="Text 1"/>
          <p:cNvSpPr/>
          <p:nvPr/>
        </p:nvSpPr>
        <p:spPr>
          <a:xfrm>
            <a:off x="793790" y="1536144"/>
            <a:ext cx="13042821" cy="508159"/>
          </a:xfrm>
          <a:prstGeom prst="rect">
            <a:avLst/>
          </a:prstGeom>
          <a:noFill/>
          <a:ln/>
        </p:spPr>
        <p:txBody>
          <a:bodyPr wrap="square" lIns="0" tIns="0" rIns="0" bIns="0" rtlCol="0" anchor="t"/>
          <a:lstStyle/>
          <a:p>
            <a:pPr marL="0" indent="0" algn="l">
              <a:lnSpc>
                <a:spcPts val="2000"/>
              </a:lnSpc>
              <a:buNone/>
            </a:pPr>
            <a:r>
              <a:rPr lang="en-US" sz="1250" b="1" dirty="0">
                <a:solidFill>
                  <a:srgbClr val="000000"/>
                </a:solidFill>
                <a:latin typeface="Montserrat Medium" pitchFamily="34" charset="0"/>
                <a:ea typeface="Montserrat Medium" pitchFamily="34" charset="-122"/>
                <a:cs typeface="Montserrat Medium" pitchFamily="34" charset="-120"/>
              </a:rPr>
              <a:t>Scenario:</a:t>
            </a:r>
            <a:r>
              <a:rPr lang="en-US" sz="1250" dirty="0">
                <a:solidFill>
                  <a:srgbClr val="000000"/>
                </a:solidFill>
                <a:latin typeface="Montserrat Medium" pitchFamily="34" charset="0"/>
                <a:ea typeface="Montserrat Medium" pitchFamily="34" charset="-122"/>
                <a:cs typeface="Montserrat Medium" pitchFamily="34" charset="-120"/>
              </a:rPr>
              <a:t> You've been hired to analyze a messy Excel file containing thousands of movies. Your job is to find the best Action movies and create a curated list for a streaming service.</a:t>
            </a:r>
            <a:endParaRPr lang="en-US" sz="1250" dirty="0"/>
          </a:p>
        </p:txBody>
      </p:sp>
      <p:sp>
        <p:nvSpPr>
          <p:cNvPr id="4" name="Text 2"/>
          <p:cNvSpPr/>
          <p:nvPr/>
        </p:nvSpPr>
        <p:spPr>
          <a:xfrm>
            <a:off x="793790" y="2222897"/>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Inter Light" pitchFamily="34" charset="0"/>
                <a:ea typeface="Inter Light" pitchFamily="34" charset="-122"/>
                <a:cs typeface="Inter Light" pitchFamily="34" charset="-120"/>
              </a:rPr>
              <a:t>01</a:t>
            </a:r>
            <a:endParaRPr lang="en-US" sz="1250" dirty="0"/>
          </a:p>
        </p:txBody>
      </p:sp>
      <p:sp>
        <p:nvSpPr>
          <p:cNvPr id="5" name="Shape 3"/>
          <p:cNvSpPr/>
          <p:nvPr/>
        </p:nvSpPr>
        <p:spPr>
          <a:xfrm>
            <a:off x="793790" y="2469713"/>
            <a:ext cx="6441996" cy="22860"/>
          </a:xfrm>
          <a:prstGeom prst="rect">
            <a:avLst/>
          </a:prstGeom>
          <a:solidFill>
            <a:srgbClr val="720062"/>
          </a:solidFill>
          <a:ln/>
        </p:spPr>
      </p:sp>
      <p:sp>
        <p:nvSpPr>
          <p:cNvPr id="6" name="Text 4"/>
          <p:cNvSpPr/>
          <p:nvPr/>
        </p:nvSpPr>
        <p:spPr>
          <a:xfrm>
            <a:off x="793790" y="2594729"/>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Load the Data</a:t>
            </a:r>
            <a:endParaRPr lang="en-US" sz="1550" dirty="0"/>
          </a:p>
        </p:txBody>
      </p:sp>
      <p:sp>
        <p:nvSpPr>
          <p:cNvPr id="7" name="Shape 5"/>
          <p:cNvSpPr/>
          <p:nvPr/>
        </p:nvSpPr>
        <p:spPr>
          <a:xfrm>
            <a:off x="793790" y="3021330"/>
            <a:ext cx="6441996" cy="492204"/>
          </a:xfrm>
          <a:prstGeom prst="roundRect">
            <a:avLst>
              <a:gd name="adj" fmla="val 13549"/>
            </a:avLst>
          </a:prstGeom>
          <a:solidFill>
            <a:srgbClr val="F2F2F2"/>
          </a:solidFill>
          <a:ln/>
        </p:spPr>
      </p:sp>
      <p:sp>
        <p:nvSpPr>
          <p:cNvPr id="8" name="Shape 6"/>
          <p:cNvSpPr/>
          <p:nvPr/>
        </p:nvSpPr>
        <p:spPr>
          <a:xfrm>
            <a:off x="785932" y="3021330"/>
            <a:ext cx="6457712" cy="492204"/>
          </a:xfrm>
          <a:prstGeom prst="roundRect">
            <a:avLst>
              <a:gd name="adj" fmla="val 4839"/>
            </a:avLst>
          </a:prstGeom>
          <a:solidFill>
            <a:srgbClr val="F2F2F2"/>
          </a:solidFill>
          <a:ln/>
        </p:spPr>
      </p:sp>
      <p:sp>
        <p:nvSpPr>
          <p:cNvPr id="9" name="Text 7"/>
          <p:cNvSpPr/>
          <p:nvPr/>
        </p:nvSpPr>
        <p:spPr>
          <a:xfrm>
            <a:off x="944642" y="3140393"/>
            <a:ext cx="6140291"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df = pd.read_excel("movies.xlsx")</a:t>
            </a:r>
            <a:endParaRPr lang="en-US" sz="1250" dirty="0"/>
          </a:p>
        </p:txBody>
      </p:sp>
      <p:sp>
        <p:nvSpPr>
          <p:cNvPr id="10" name="Text 8"/>
          <p:cNvSpPr/>
          <p:nvPr/>
        </p:nvSpPr>
        <p:spPr>
          <a:xfrm>
            <a:off x="793790" y="3692128"/>
            <a:ext cx="6441996"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Import the Excel file into a Pandas DataFrame.</a:t>
            </a:r>
            <a:endParaRPr lang="en-US" sz="1250" dirty="0"/>
          </a:p>
        </p:txBody>
      </p:sp>
      <p:sp>
        <p:nvSpPr>
          <p:cNvPr id="11" name="Text 9"/>
          <p:cNvSpPr/>
          <p:nvPr/>
        </p:nvSpPr>
        <p:spPr>
          <a:xfrm>
            <a:off x="7394496" y="2222897"/>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Inter Light" pitchFamily="34" charset="0"/>
                <a:ea typeface="Inter Light" pitchFamily="34" charset="-122"/>
                <a:cs typeface="Inter Light" pitchFamily="34" charset="-120"/>
              </a:rPr>
              <a:t>02</a:t>
            </a:r>
            <a:endParaRPr lang="en-US" sz="1250" dirty="0"/>
          </a:p>
        </p:txBody>
      </p:sp>
      <p:sp>
        <p:nvSpPr>
          <p:cNvPr id="12" name="Shape 10"/>
          <p:cNvSpPr/>
          <p:nvPr/>
        </p:nvSpPr>
        <p:spPr>
          <a:xfrm>
            <a:off x="7394496" y="2469713"/>
            <a:ext cx="6442115" cy="22860"/>
          </a:xfrm>
          <a:prstGeom prst="rect">
            <a:avLst/>
          </a:prstGeom>
          <a:solidFill>
            <a:srgbClr val="720062"/>
          </a:solidFill>
          <a:ln/>
        </p:spPr>
      </p:sp>
      <p:sp>
        <p:nvSpPr>
          <p:cNvPr id="13" name="Text 11"/>
          <p:cNvSpPr/>
          <p:nvPr/>
        </p:nvSpPr>
        <p:spPr>
          <a:xfrm>
            <a:off x="7394496" y="2594729"/>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Inspect and Clean</a:t>
            </a:r>
            <a:endParaRPr lang="en-US" sz="1550" dirty="0"/>
          </a:p>
        </p:txBody>
      </p:sp>
      <p:sp>
        <p:nvSpPr>
          <p:cNvPr id="14" name="Shape 12"/>
          <p:cNvSpPr/>
          <p:nvPr/>
        </p:nvSpPr>
        <p:spPr>
          <a:xfrm>
            <a:off x="7394496" y="3021330"/>
            <a:ext cx="6442115" cy="746284"/>
          </a:xfrm>
          <a:prstGeom prst="roundRect">
            <a:avLst>
              <a:gd name="adj" fmla="val 8936"/>
            </a:avLst>
          </a:prstGeom>
          <a:solidFill>
            <a:srgbClr val="F2F2F2"/>
          </a:solidFill>
          <a:ln/>
        </p:spPr>
      </p:sp>
      <p:sp>
        <p:nvSpPr>
          <p:cNvPr id="15" name="Shape 13"/>
          <p:cNvSpPr/>
          <p:nvPr/>
        </p:nvSpPr>
        <p:spPr>
          <a:xfrm>
            <a:off x="7386638" y="3021330"/>
            <a:ext cx="6457831" cy="746284"/>
          </a:xfrm>
          <a:prstGeom prst="roundRect">
            <a:avLst>
              <a:gd name="adj" fmla="val 3191"/>
            </a:avLst>
          </a:prstGeom>
          <a:solidFill>
            <a:srgbClr val="F2F2F2"/>
          </a:solidFill>
          <a:ln/>
        </p:spPr>
      </p:sp>
      <p:sp>
        <p:nvSpPr>
          <p:cNvPr id="16" name="Text 14"/>
          <p:cNvSpPr/>
          <p:nvPr/>
        </p:nvSpPr>
        <p:spPr>
          <a:xfrm>
            <a:off x="7545348" y="3140393"/>
            <a:ext cx="6140410"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df.info()</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df.dropna(subset=["Rating", "Genre"])</a:t>
            </a:r>
            <a:endParaRPr lang="en-US" sz="1250" dirty="0"/>
          </a:p>
        </p:txBody>
      </p:sp>
      <p:sp>
        <p:nvSpPr>
          <p:cNvPr id="17" name="Text 15"/>
          <p:cNvSpPr/>
          <p:nvPr/>
        </p:nvSpPr>
        <p:spPr>
          <a:xfrm>
            <a:off x="7394496" y="3946207"/>
            <a:ext cx="644211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Check for missing values and remove incomplete records.</a:t>
            </a:r>
            <a:endParaRPr lang="en-US" sz="1250" dirty="0"/>
          </a:p>
        </p:txBody>
      </p:sp>
      <p:sp>
        <p:nvSpPr>
          <p:cNvPr id="18" name="Text 16"/>
          <p:cNvSpPr/>
          <p:nvPr/>
        </p:nvSpPr>
        <p:spPr>
          <a:xfrm>
            <a:off x="793790" y="4478060"/>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Inter Light" pitchFamily="34" charset="0"/>
                <a:ea typeface="Inter Light" pitchFamily="34" charset="-122"/>
                <a:cs typeface="Inter Light" pitchFamily="34" charset="-120"/>
              </a:rPr>
              <a:t>03</a:t>
            </a:r>
            <a:endParaRPr lang="en-US" sz="1250" dirty="0"/>
          </a:p>
        </p:txBody>
      </p:sp>
      <p:sp>
        <p:nvSpPr>
          <p:cNvPr id="19" name="Shape 17"/>
          <p:cNvSpPr/>
          <p:nvPr/>
        </p:nvSpPr>
        <p:spPr>
          <a:xfrm>
            <a:off x="793790" y="4724876"/>
            <a:ext cx="6441996" cy="22860"/>
          </a:xfrm>
          <a:prstGeom prst="rect">
            <a:avLst/>
          </a:prstGeom>
          <a:solidFill>
            <a:srgbClr val="720062"/>
          </a:solidFill>
          <a:ln/>
        </p:spPr>
      </p:sp>
      <p:sp>
        <p:nvSpPr>
          <p:cNvPr id="20" name="Text 18"/>
          <p:cNvSpPr/>
          <p:nvPr/>
        </p:nvSpPr>
        <p:spPr>
          <a:xfrm>
            <a:off x="793790" y="4849892"/>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Filter for Quality</a:t>
            </a:r>
            <a:endParaRPr lang="en-US" sz="1550" dirty="0"/>
          </a:p>
        </p:txBody>
      </p:sp>
      <p:sp>
        <p:nvSpPr>
          <p:cNvPr id="21" name="Shape 19"/>
          <p:cNvSpPr/>
          <p:nvPr/>
        </p:nvSpPr>
        <p:spPr>
          <a:xfrm>
            <a:off x="793790" y="5276493"/>
            <a:ext cx="6441996" cy="746284"/>
          </a:xfrm>
          <a:prstGeom prst="roundRect">
            <a:avLst>
              <a:gd name="adj" fmla="val 8936"/>
            </a:avLst>
          </a:prstGeom>
          <a:solidFill>
            <a:srgbClr val="F2F2F2"/>
          </a:solidFill>
          <a:ln/>
        </p:spPr>
      </p:sp>
      <p:sp>
        <p:nvSpPr>
          <p:cNvPr id="22" name="Shape 20"/>
          <p:cNvSpPr/>
          <p:nvPr/>
        </p:nvSpPr>
        <p:spPr>
          <a:xfrm>
            <a:off x="785932" y="5276493"/>
            <a:ext cx="6457712" cy="746284"/>
          </a:xfrm>
          <a:prstGeom prst="roundRect">
            <a:avLst>
              <a:gd name="adj" fmla="val 3191"/>
            </a:avLst>
          </a:prstGeom>
          <a:solidFill>
            <a:srgbClr val="F2F2F2"/>
          </a:solidFill>
          <a:ln/>
        </p:spPr>
      </p:sp>
      <p:sp>
        <p:nvSpPr>
          <p:cNvPr id="23" name="Text 21"/>
          <p:cNvSpPr/>
          <p:nvPr/>
        </p:nvSpPr>
        <p:spPr>
          <a:xfrm>
            <a:off x="944642" y="5395555"/>
            <a:ext cx="6140291"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action_movies = df[(df["Genre"] == "Action") &amp; </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                   (df["Rating"] &gt;= 7.5)]</a:t>
            </a:r>
            <a:endParaRPr lang="en-US" sz="1250" dirty="0"/>
          </a:p>
        </p:txBody>
      </p:sp>
      <p:sp>
        <p:nvSpPr>
          <p:cNvPr id="24" name="Text 22"/>
          <p:cNvSpPr/>
          <p:nvPr/>
        </p:nvSpPr>
        <p:spPr>
          <a:xfrm>
            <a:off x="793790" y="6201370"/>
            <a:ext cx="6441996"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Find high-rated Action movies using conditional filtering.</a:t>
            </a:r>
            <a:endParaRPr lang="en-US" sz="1250" dirty="0"/>
          </a:p>
        </p:txBody>
      </p:sp>
      <p:sp>
        <p:nvSpPr>
          <p:cNvPr id="25" name="Text 23"/>
          <p:cNvSpPr/>
          <p:nvPr/>
        </p:nvSpPr>
        <p:spPr>
          <a:xfrm>
            <a:off x="7394496" y="4478060"/>
            <a:ext cx="158710" cy="198358"/>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Inter Light" pitchFamily="34" charset="0"/>
                <a:ea typeface="Inter Light" pitchFamily="34" charset="-122"/>
                <a:cs typeface="Inter Light" pitchFamily="34" charset="-120"/>
              </a:rPr>
              <a:t>04</a:t>
            </a:r>
            <a:endParaRPr lang="en-US" sz="1250" dirty="0"/>
          </a:p>
        </p:txBody>
      </p:sp>
      <p:sp>
        <p:nvSpPr>
          <p:cNvPr id="26" name="Shape 24"/>
          <p:cNvSpPr/>
          <p:nvPr/>
        </p:nvSpPr>
        <p:spPr>
          <a:xfrm>
            <a:off x="7394496" y="4724876"/>
            <a:ext cx="6442115" cy="22860"/>
          </a:xfrm>
          <a:prstGeom prst="rect">
            <a:avLst/>
          </a:prstGeom>
          <a:solidFill>
            <a:srgbClr val="720062"/>
          </a:solidFill>
          <a:ln/>
        </p:spPr>
      </p:sp>
      <p:sp>
        <p:nvSpPr>
          <p:cNvPr id="27" name="Text 25"/>
          <p:cNvSpPr/>
          <p:nvPr/>
        </p:nvSpPr>
        <p:spPr>
          <a:xfrm>
            <a:off x="7394496" y="4849892"/>
            <a:ext cx="1984653" cy="248007"/>
          </a:xfrm>
          <a:prstGeom prst="rect">
            <a:avLst/>
          </a:prstGeom>
          <a:noFill/>
          <a:ln/>
        </p:spPr>
        <p:txBody>
          <a:bodyPr wrap="none" lIns="0" tIns="0" rIns="0" bIns="0" rtlCol="0" anchor="t"/>
          <a:lstStyle/>
          <a:p>
            <a:pPr marL="0" indent="0" algn="l">
              <a:lnSpc>
                <a:spcPts val="1950"/>
              </a:lnSpc>
              <a:buNone/>
            </a:pPr>
            <a:r>
              <a:rPr lang="en-US" sz="1550" b="1" dirty="0">
                <a:solidFill>
                  <a:srgbClr val="000000"/>
                </a:solidFill>
                <a:latin typeface="Inter Bold" pitchFamily="34" charset="0"/>
                <a:ea typeface="Inter Bold" pitchFamily="34" charset="-122"/>
                <a:cs typeface="Inter Bold" pitchFamily="34" charset="-120"/>
              </a:rPr>
              <a:t>Save Results</a:t>
            </a:r>
            <a:endParaRPr lang="en-US" sz="1550" dirty="0"/>
          </a:p>
        </p:txBody>
      </p:sp>
      <p:sp>
        <p:nvSpPr>
          <p:cNvPr id="28" name="Shape 26"/>
          <p:cNvSpPr/>
          <p:nvPr/>
        </p:nvSpPr>
        <p:spPr>
          <a:xfrm>
            <a:off x="7394496" y="5276493"/>
            <a:ext cx="6442115" cy="746284"/>
          </a:xfrm>
          <a:prstGeom prst="roundRect">
            <a:avLst>
              <a:gd name="adj" fmla="val 8936"/>
            </a:avLst>
          </a:prstGeom>
          <a:solidFill>
            <a:srgbClr val="F2F2F2"/>
          </a:solidFill>
          <a:ln/>
        </p:spPr>
      </p:sp>
      <p:sp>
        <p:nvSpPr>
          <p:cNvPr id="29" name="Shape 27"/>
          <p:cNvSpPr/>
          <p:nvPr/>
        </p:nvSpPr>
        <p:spPr>
          <a:xfrm>
            <a:off x="7386638" y="5276493"/>
            <a:ext cx="6457831" cy="746284"/>
          </a:xfrm>
          <a:prstGeom prst="roundRect">
            <a:avLst>
              <a:gd name="adj" fmla="val 3191"/>
            </a:avLst>
          </a:prstGeom>
          <a:solidFill>
            <a:srgbClr val="F2F2F2"/>
          </a:solidFill>
          <a:ln/>
        </p:spPr>
      </p:sp>
      <p:sp>
        <p:nvSpPr>
          <p:cNvPr id="30" name="Text 28"/>
          <p:cNvSpPr/>
          <p:nvPr/>
        </p:nvSpPr>
        <p:spPr>
          <a:xfrm>
            <a:off x="7545348" y="5395555"/>
            <a:ext cx="6140410" cy="508159"/>
          </a:xfrm>
          <a:prstGeom prst="rect">
            <a:avLst/>
          </a:prstGeom>
          <a:noFill/>
          <a:ln/>
        </p:spPr>
        <p:txBody>
          <a:bodyPr wrap="square" lIns="0" tIns="0" rIns="0" bIns="0" rtlCol="0" anchor="t"/>
          <a:lstStyle/>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action_movies.to_csv("best_action_movies.csv", </a:t>
            </a:r>
            <a:endParaRPr lang="en-US" sz="1250" dirty="0"/>
          </a:p>
          <a:p>
            <a:pPr marL="0" indent="0" algn="l">
              <a:lnSpc>
                <a:spcPts val="2000"/>
              </a:lnSpc>
              <a:buNone/>
            </a:pPr>
            <a:r>
              <a:rPr lang="en-US" sz="1250" dirty="0">
                <a:solidFill>
                  <a:srgbClr val="000000"/>
                </a:solidFill>
                <a:highlight>
                  <a:srgbClr val="F2F2F2"/>
                </a:highlight>
                <a:latin typeface="Consolas Medium" pitchFamily="34" charset="0"/>
                <a:ea typeface="Consolas Medium" pitchFamily="34" charset="-122"/>
                <a:cs typeface="Consolas Medium" pitchFamily="34" charset="-120"/>
              </a:rPr>
              <a:t>                     index=False)</a:t>
            </a:r>
            <a:endParaRPr lang="en-US" sz="1250" dirty="0"/>
          </a:p>
        </p:txBody>
      </p:sp>
      <p:sp>
        <p:nvSpPr>
          <p:cNvPr id="31" name="Text 29"/>
          <p:cNvSpPr/>
          <p:nvPr/>
        </p:nvSpPr>
        <p:spPr>
          <a:xfrm>
            <a:off x="7394496" y="6201370"/>
            <a:ext cx="6442115" cy="254079"/>
          </a:xfrm>
          <a:prstGeom prst="rect">
            <a:avLst/>
          </a:prstGeom>
          <a:noFill/>
          <a:ln/>
        </p:spPr>
        <p:txBody>
          <a:bodyPr wrap="none" lIns="0" tIns="0" rIns="0" bIns="0" rtlCol="0" anchor="t"/>
          <a:lstStyle/>
          <a:p>
            <a:pPr marL="0" indent="0" algn="l">
              <a:lnSpc>
                <a:spcPts val="2000"/>
              </a:lnSpc>
              <a:buNone/>
            </a:pPr>
            <a:r>
              <a:rPr lang="en-US" sz="1250" dirty="0">
                <a:solidFill>
                  <a:srgbClr val="000000"/>
                </a:solidFill>
                <a:latin typeface="Montserrat Medium" pitchFamily="34" charset="0"/>
                <a:ea typeface="Montserrat Medium" pitchFamily="34" charset="-122"/>
                <a:cs typeface="Montserrat Medium" pitchFamily="34" charset="-120"/>
              </a:rPr>
              <a:t>Export the curated list to a new CSV file.</a:t>
            </a:r>
            <a:endParaRPr lang="en-US" sz="1250" dirty="0"/>
          </a:p>
        </p:txBody>
      </p:sp>
      <p:sp>
        <p:nvSpPr>
          <p:cNvPr id="32" name="Shape 30"/>
          <p:cNvSpPr/>
          <p:nvPr/>
        </p:nvSpPr>
        <p:spPr>
          <a:xfrm>
            <a:off x="793790" y="6753106"/>
            <a:ext cx="13042821" cy="674608"/>
          </a:xfrm>
          <a:prstGeom prst="roundRect">
            <a:avLst>
              <a:gd name="adj" fmla="val 9885"/>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p:spPr>
      </p:sp>
      <p:pic>
        <p:nvPicPr>
          <p:cNvPr id="33" name="Image 0" descr="preencoded.png"/>
          <p:cNvPicPr>
            <a:picLocks noChangeAspect="1"/>
          </p:cNvPicPr>
          <p:nvPr/>
        </p:nvPicPr>
        <p:blipFill>
          <a:blip r:embed="rId3">
            <a:duotone>
              <a:prstClr val="black"/>
              <a:srgbClr val="720062">
                <a:tint val="45000"/>
                <a:satMod val="400000"/>
              </a:srgbClr>
            </a:duotone>
          </a:blip>
          <a:stretch>
            <a:fillRect/>
          </a:stretch>
        </p:blipFill>
        <p:spPr>
          <a:xfrm>
            <a:off x="952500" y="6995398"/>
            <a:ext cx="198358" cy="158710"/>
          </a:xfrm>
          <a:prstGeom prst="rect">
            <a:avLst/>
          </a:prstGeom>
        </p:spPr>
      </p:pic>
      <p:sp>
        <p:nvSpPr>
          <p:cNvPr id="34" name="Text 31"/>
          <p:cNvSpPr/>
          <p:nvPr/>
        </p:nvSpPr>
        <p:spPr>
          <a:xfrm>
            <a:off x="1309568" y="6951464"/>
            <a:ext cx="12368332" cy="254079"/>
          </a:xfrm>
          <a:prstGeom prst="rect">
            <a:avLst/>
          </a:prstGeom>
          <a:noFill/>
          <a:ln/>
        </p:spPr>
        <p:txBody>
          <a:bodyPr wrap="none" lIns="0" tIns="0" rIns="0" bIns="0" rtlCol="0" anchor="t"/>
          <a:lstStyle/>
          <a:p>
            <a:pPr marL="0" indent="0" algn="l">
              <a:lnSpc>
                <a:spcPts val="2000"/>
              </a:lnSpc>
              <a:buNone/>
            </a:pPr>
            <a:r>
              <a:rPr lang="en-US" sz="1250" b="1" dirty="0">
                <a:solidFill>
                  <a:srgbClr val="000000"/>
                </a:solidFill>
                <a:latin typeface="Montserrat Medium" pitchFamily="34" charset="0"/>
                <a:ea typeface="Montserrat Medium" pitchFamily="34" charset="-122"/>
                <a:cs typeface="Montserrat Medium" pitchFamily="34" charset="-120"/>
              </a:rPr>
              <a:t>Learning Goal:</a:t>
            </a:r>
            <a:r>
              <a:rPr lang="en-US" sz="1250" dirty="0">
                <a:solidFill>
                  <a:srgbClr val="000000"/>
                </a:solidFill>
                <a:latin typeface="Montserrat Medium" pitchFamily="34" charset="0"/>
                <a:ea typeface="Montserrat Medium" pitchFamily="34" charset="-122"/>
                <a:cs typeface="Montserrat Medium" pitchFamily="34" charset="-120"/>
              </a:rPr>
              <a:t> This project proves you can complete the full ETL (Extract, Transform, Load) cycle—the foundation of data engineering and analysis.</a:t>
            </a:r>
            <a:endParaRPr lang="en-US" sz="1250" dirty="0"/>
          </a:p>
        </p:txBody>
      </p:sp>
      <p:pic>
        <p:nvPicPr>
          <p:cNvPr id="35" name="Picture 34">
            <a:extLst>
              <a:ext uri="{FF2B5EF4-FFF2-40B4-BE49-F238E27FC236}">
                <a16:creationId xmlns:a16="http://schemas.microsoft.com/office/drawing/2014/main" id="{BC40D477-FA21-BFF0-10C3-74082086AF08}"/>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793790" y="558760"/>
            <a:ext cx="4675227" cy="434102"/>
          </a:xfrm>
          <a:prstGeom prst="rect">
            <a:avLst/>
          </a:prstGeom>
          <a:noFill/>
          <a:ln/>
        </p:spPr>
        <p:txBody>
          <a:bodyPr wrap="none" lIns="0" tIns="0" rIns="0" bIns="0" rtlCol="0" anchor="t"/>
          <a:lstStyle/>
          <a:p>
            <a:pPr marL="0" indent="0" algn="l">
              <a:lnSpc>
                <a:spcPts val="3400"/>
              </a:lnSpc>
              <a:buNone/>
            </a:pPr>
            <a:r>
              <a:rPr lang="en-US" sz="2700" b="1" dirty="0">
                <a:solidFill>
                  <a:srgbClr val="000000"/>
                </a:solidFill>
                <a:latin typeface="Inter Bold" pitchFamily="34" charset="0"/>
                <a:ea typeface="Inter Bold" pitchFamily="34" charset="-122"/>
                <a:cs typeface="Inter Bold" pitchFamily="34" charset="-120"/>
              </a:rPr>
              <a:t>What You've Accomplished</a:t>
            </a:r>
            <a:endParaRPr lang="en-US" sz="2700" dirty="0"/>
          </a:p>
        </p:txBody>
      </p:sp>
      <p:sp>
        <p:nvSpPr>
          <p:cNvPr id="3" name="Text 1"/>
          <p:cNvSpPr/>
          <p:nvPr/>
        </p:nvSpPr>
        <p:spPr>
          <a:xfrm>
            <a:off x="793790" y="1340048"/>
            <a:ext cx="4231838" cy="458391"/>
          </a:xfrm>
          <a:prstGeom prst="rect">
            <a:avLst/>
          </a:prstGeom>
          <a:noFill/>
          <a:ln/>
        </p:spPr>
        <p:txBody>
          <a:bodyPr wrap="none" lIns="0" tIns="0" rIns="0" bIns="0" rtlCol="0" anchor="t"/>
          <a:lstStyle/>
          <a:p>
            <a:pPr marL="0" indent="0" algn="ctr">
              <a:lnSpc>
                <a:spcPts val="3600"/>
              </a:lnSpc>
              <a:buNone/>
            </a:pPr>
            <a:r>
              <a:rPr lang="en-US" sz="3600" b="1" dirty="0">
                <a:solidFill>
                  <a:srgbClr val="000000"/>
                </a:solidFill>
                <a:latin typeface="Inter Bold" pitchFamily="34" charset="0"/>
                <a:ea typeface="Inter Bold" pitchFamily="34" charset="-122"/>
                <a:cs typeface="Inter Bold" pitchFamily="34" charset="-120"/>
              </a:rPr>
              <a:t>4</a:t>
            </a:r>
            <a:endParaRPr lang="en-US" sz="3600" dirty="0"/>
          </a:p>
        </p:txBody>
      </p:sp>
      <p:sp>
        <p:nvSpPr>
          <p:cNvPr id="4" name="Text 2"/>
          <p:cNvSpPr/>
          <p:nvPr/>
        </p:nvSpPr>
        <p:spPr>
          <a:xfrm>
            <a:off x="2041327" y="1972032"/>
            <a:ext cx="1736646" cy="217051"/>
          </a:xfrm>
          <a:prstGeom prst="rect">
            <a:avLst/>
          </a:prstGeom>
          <a:noFill/>
          <a:ln/>
        </p:spPr>
        <p:txBody>
          <a:bodyPr wrap="none" lIns="0" tIns="0" rIns="0" bIns="0" rtlCol="0" anchor="t"/>
          <a:lstStyle/>
          <a:p>
            <a:pPr marL="0" indent="0" algn="ctr">
              <a:lnSpc>
                <a:spcPts val="1700"/>
              </a:lnSpc>
              <a:buNone/>
            </a:pPr>
            <a:r>
              <a:rPr lang="en-US" sz="1350" b="1" dirty="0">
                <a:solidFill>
                  <a:srgbClr val="000000"/>
                </a:solidFill>
                <a:latin typeface="Inter Bold" pitchFamily="34" charset="0"/>
                <a:ea typeface="Inter Bold" pitchFamily="34" charset="-122"/>
                <a:cs typeface="Inter Bold" pitchFamily="34" charset="-120"/>
              </a:rPr>
              <a:t>Modules Mastered</a:t>
            </a:r>
            <a:endParaRPr lang="en-US" sz="1350" dirty="0"/>
          </a:p>
        </p:txBody>
      </p:sp>
      <p:sp>
        <p:nvSpPr>
          <p:cNvPr id="5" name="Text 3"/>
          <p:cNvSpPr/>
          <p:nvPr/>
        </p:nvSpPr>
        <p:spPr>
          <a:xfrm>
            <a:off x="793790" y="2272427"/>
            <a:ext cx="4231838" cy="222290"/>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System navigation, APIs, NumPy, and Pandas</a:t>
            </a:r>
            <a:endParaRPr lang="en-US" sz="1050" dirty="0"/>
          </a:p>
        </p:txBody>
      </p:sp>
      <p:sp>
        <p:nvSpPr>
          <p:cNvPr id="6" name="Text 4"/>
          <p:cNvSpPr/>
          <p:nvPr/>
        </p:nvSpPr>
        <p:spPr>
          <a:xfrm>
            <a:off x="5199221" y="1340048"/>
            <a:ext cx="4231838" cy="458391"/>
          </a:xfrm>
          <a:prstGeom prst="rect">
            <a:avLst/>
          </a:prstGeom>
          <a:noFill/>
          <a:ln/>
        </p:spPr>
        <p:txBody>
          <a:bodyPr wrap="none" lIns="0" tIns="0" rIns="0" bIns="0" rtlCol="0" anchor="t"/>
          <a:lstStyle/>
          <a:p>
            <a:pPr marL="0" indent="0" algn="ctr">
              <a:lnSpc>
                <a:spcPts val="3600"/>
              </a:lnSpc>
              <a:buNone/>
            </a:pPr>
            <a:r>
              <a:rPr lang="en-US" sz="3600" b="1" dirty="0">
                <a:solidFill>
                  <a:srgbClr val="000000"/>
                </a:solidFill>
                <a:latin typeface="Inter Bold" pitchFamily="34" charset="0"/>
                <a:ea typeface="Inter Bold" pitchFamily="34" charset="-122"/>
                <a:cs typeface="Inter Bold" pitchFamily="34" charset="-120"/>
              </a:rPr>
              <a:t>20+</a:t>
            </a:r>
            <a:endParaRPr lang="en-US" sz="3600" dirty="0"/>
          </a:p>
        </p:txBody>
      </p:sp>
      <p:sp>
        <p:nvSpPr>
          <p:cNvPr id="7" name="Text 5"/>
          <p:cNvSpPr/>
          <p:nvPr/>
        </p:nvSpPr>
        <p:spPr>
          <a:xfrm>
            <a:off x="6446758" y="1972032"/>
            <a:ext cx="1736646" cy="217051"/>
          </a:xfrm>
          <a:prstGeom prst="rect">
            <a:avLst/>
          </a:prstGeom>
          <a:noFill/>
          <a:ln/>
        </p:spPr>
        <p:txBody>
          <a:bodyPr wrap="none" lIns="0" tIns="0" rIns="0" bIns="0" rtlCol="0" anchor="t"/>
          <a:lstStyle/>
          <a:p>
            <a:pPr marL="0" indent="0" algn="ctr">
              <a:lnSpc>
                <a:spcPts val="1700"/>
              </a:lnSpc>
              <a:buNone/>
            </a:pPr>
            <a:r>
              <a:rPr lang="en-US" sz="1350" b="1" dirty="0">
                <a:solidFill>
                  <a:srgbClr val="000000"/>
                </a:solidFill>
                <a:latin typeface="Inter Bold" pitchFamily="34" charset="0"/>
                <a:ea typeface="Inter Bold" pitchFamily="34" charset="-122"/>
                <a:cs typeface="Inter Bold" pitchFamily="34" charset="-120"/>
              </a:rPr>
              <a:t>New Commands</a:t>
            </a:r>
            <a:endParaRPr lang="en-US" sz="1350" dirty="0"/>
          </a:p>
        </p:txBody>
      </p:sp>
      <p:sp>
        <p:nvSpPr>
          <p:cNvPr id="8" name="Text 6"/>
          <p:cNvSpPr/>
          <p:nvPr/>
        </p:nvSpPr>
        <p:spPr>
          <a:xfrm>
            <a:off x="5199221" y="2272427"/>
            <a:ext cx="4231838" cy="222290"/>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From os.getcwd() to df.groupby()</a:t>
            </a:r>
            <a:endParaRPr lang="en-US" sz="1050" dirty="0"/>
          </a:p>
        </p:txBody>
      </p:sp>
      <p:sp>
        <p:nvSpPr>
          <p:cNvPr id="9" name="Text 7"/>
          <p:cNvSpPr/>
          <p:nvPr/>
        </p:nvSpPr>
        <p:spPr>
          <a:xfrm>
            <a:off x="9604653" y="1340048"/>
            <a:ext cx="4231838" cy="458391"/>
          </a:xfrm>
          <a:prstGeom prst="rect">
            <a:avLst/>
          </a:prstGeom>
          <a:noFill/>
          <a:ln/>
        </p:spPr>
        <p:txBody>
          <a:bodyPr wrap="none" lIns="0" tIns="0" rIns="0" bIns="0" rtlCol="0" anchor="t"/>
          <a:lstStyle/>
          <a:p>
            <a:pPr marL="0" indent="0" algn="ctr">
              <a:lnSpc>
                <a:spcPts val="3600"/>
              </a:lnSpc>
              <a:buNone/>
            </a:pPr>
            <a:r>
              <a:rPr lang="en-US" sz="3600" b="1" dirty="0">
                <a:solidFill>
                  <a:srgbClr val="000000"/>
                </a:solidFill>
                <a:latin typeface="Inter Bold" pitchFamily="34" charset="0"/>
                <a:ea typeface="Inter Bold" pitchFamily="34" charset="-122"/>
                <a:cs typeface="Inter Bold" pitchFamily="34" charset="-120"/>
              </a:rPr>
              <a:t>100%</a:t>
            </a:r>
            <a:endParaRPr lang="en-US" sz="3600" dirty="0"/>
          </a:p>
        </p:txBody>
      </p:sp>
      <p:sp>
        <p:nvSpPr>
          <p:cNvPr id="10" name="Text 8"/>
          <p:cNvSpPr/>
          <p:nvPr/>
        </p:nvSpPr>
        <p:spPr>
          <a:xfrm>
            <a:off x="10852190" y="1972032"/>
            <a:ext cx="1736646" cy="217051"/>
          </a:xfrm>
          <a:prstGeom prst="rect">
            <a:avLst/>
          </a:prstGeom>
          <a:noFill/>
          <a:ln/>
        </p:spPr>
        <p:txBody>
          <a:bodyPr wrap="none" lIns="0" tIns="0" rIns="0" bIns="0" rtlCol="0" anchor="t"/>
          <a:lstStyle/>
          <a:p>
            <a:pPr marL="0" indent="0" algn="ctr">
              <a:lnSpc>
                <a:spcPts val="1700"/>
              </a:lnSpc>
              <a:buNone/>
            </a:pPr>
            <a:r>
              <a:rPr lang="en-US" sz="1350" b="1" dirty="0">
                <a:solidFill>
                  <a:srgbClr val="000000"/>
                </a:solidFill>
                <a:latin typeface="Inter Bold" pitchFamily="34" charset="0"/>
                <a:ea typeface="Inter Bold" pitchFamily="34" charset="-122"/>
                <a:cs typeface="Inter Bold" pitchFamily="34" charset="-120"/>
              </a:rPr>
              <a:t>Data Pipeline</a:t>
            </a:r>
            <a:endParaRPr lang="en-US" sz="1350" dirty="0"/>
          </a:p>
        </p:txBody>
      </p:sp>
      <p:sp>
        <p:nvSpPr>
          <p:cNvPr id="11" name="Text 9"/>
          <p:cNvSpPr/>
          <p:nvPr/>
        </p:nvSpPr>
        <p:spPr>
          <a:xfrm>
            <a:off x="9604653" y="2272427"/>
            <a:ext cx="4231838" cy="222290"/>
          </a:xfrm>
          <a:prstGeom prst="rect">
            <a:avLst/>
          </a:prstGeom>
          <a:noFill/>
          <a:ln/>
        </p:spPr>
        <p:txBody>
          <a:bodyPr wrap="none" lIns="0" tIns="0" rIns="0" bIns="0" rtlCol="0" anchor="t"/>
          <a:lstStyle/>
          <a:p>
            <a:pPr marL="0" indent="0" algn="ctr">
              <a:lnSpc>
                <a:spcPts val="1750"/>
              </a:lnSpc>
              <a:buNone/>
            </a:pPr>
            <a:r>
              <a:rPr lang="en-US" sz="1050" dirty="0">
                <a:solidFill>
                  <a:srgbClr val="000000"/>
                </a:solidFill>
                <a:latin typeface="Montserrat Medium" pitchFamily="34" charset="0"/>
                <a:ea typeface="Montserrat Medium" pitchFamily="34" charset="-122"/>
                <a:cs typeface="Montserrat Medium" pitchFamily="34" charset="-120"/>
              </a:rPr>
              <a:t>Complete Extract-Transform-Load workflow</a:t>
            </a:r>
            <a:endParaRPr lang="en-US" sz="1050" dirty="0"/>
          </a:p>
        </p:txBody>
      </p:sp>
      <p:pic>
        <p:nvPicPr>
          <p:cNvPr id="20" name="Image 0" descr="preencoded.png"/>
          <p:cNvPicPr>
            <a:picLocks noChangeAspect="1"/>
          </p:cNvPicPr>
          <p:nvPr/>
        </p:nvPicPr>
        <p:blipFill>
          <a:blip r:embed="rId3"/>
          <a:stretch>
            <a:fillRect/>
          </a:stretch>
        </p:blipFill>
        <p:spPr>
          <a:xfrm>
            <a:off x="5372933" y="2657713"/>
            <a:ext cx="3884295" cy="3884295"/>
          </a:xfrm>
          <a:prstGeom prst="rect">
            <a:avLst/>
          </a:prstGeom>
        </p:spPr>
      </p:pic>
      <p:sp>
        <p:nvSpPr>
          <p:cNvPr id="21" name="Text 18"/>
          <p:cNvSpPr/>
          <p:nvPr/>
        </p:nvSpPr>
        <p:spPr>
          <a:xfrm>
            <a:off x="1108038" y="7056120"/>
            <a:ext cx="12736074" cy="458391"/>
          </a:xfrm>
          <a:prstGeom prst="rect">
            <a:avLst/>
          </a:prstGeom>
          <a:noFill/>
          <a:ln/>
        </p:spPr>
        <p:txBody>
          <a:bodyPr wrap="square" lIns="0" tIns="0" rIns="0" bIns="0" rtlCol="0" anchor="t"/>
          <a:lstStyle/>
          <a:p>
            <a:pPr marL="0" indent="0" algn="l">
              <a:lnSpc>
                <a:spcPts val="1750"/>
              </a:lnSpc>
              <a:buNone/>
            </a:pPr>
            <a:r>
              <a:rPr lang="en-US" sz="1200" dirty="0">
                <a:solidFill>
                  <a:srgbClr val="000000"/>
                </a:solidFill>
                <a:latin typeface="Montserrat Medium" pitchFamily="34" charset="0"/>
                <a:ea typeface="Montserrat Medium" pitchFamily="34" charset="-122"/>
                <a:cs typeface="Montserrat Medium" pitchFamily="34" charset="-120"/>
              </a:rPr>
              <a:t>"You are now equipped with the fundamental tools of modern data science. These skills form the foundation for machine learning, AI, and advanced analytics."</a:t>
            </a:r>
            <a:endParaRPr lang="en-US" sz="1200" dirty="0"/>
          </a:p>
        </p:txBody>
      </p:sp>
      <p:pic>
        <p:nvPicPr>
          <p:cNvPr id="23" name="Picture 22">
            <a:extLst>
              <a:ext uri="{FF2B5EF4-FFF2-40B4-BE49-F238E27FC236}">
                <a16:creationId xmlns:a16="http://schemas.microsoft.com/office/drawing/2014/main" id="{A0677B7A-33E8-E901-A548-F176D7AA9FFD}"/>
              </a:ext>
            </a:extLst>
          </p:cNvPr>
          <p:cNvPicPr>
            <a:picLocks noChangeAspect="1"/>
          </p:cNvPicPr>
          <p:nvPr/>
        </p:nvPicPr>
        <p:blipFill>
          <a:blip r:embed="rId4"/>
          <a:stretch>
            <a:fillRect/>
          </a:stretch>
        </p:blipFill>
        <p:spPr>
          <a:xfrm>
            <a:off x="13342557" y="118334"/>
            <a:ext cx="1125764" cy="41258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18" name="Shape 1">
            <a:extLst>
              <a:ext uri="{FF2B5EF4-FFF2-40B4-BE49-F238E27FC236}">
                <a16:creationId xmlns:a16="http://schemas.microsoft.com/office/drawing/2014/main" id="{52D92D6D-69F7-5EE1-A8AB-DB73377F71CC}"/>
              </a:ext>
            </a:extLst>
          </p:cNvPr>
          <p:cNvSpPr/>
          <p:nvPr/>
        </p:nvSpPr>
        <p:spPr>
          <a:xfrm>
            <a:off x="793788" y="5941800"/>
            <a:ext cx="13042821" cy="1897991"/>
          </a:xfrm>
          <a:prstGeom prst="roundRect">
            <a:avLst>
              <a:gd name="adj" fmla="val 460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2" name="Text 0"/>
          <p:cNvSpPr/>
          <p:nvPr/>
        </p:nvSpPr>
        <p:spPr>
          <a:xfrm>
            <a:off x="793790" y="564356"/>
            <a:ext cx="9427488" cy="1178362"/>
          </a:xfrm>
          <a:prstGeom prst="rect">
            <a:avLst/>
          </a:prstGeom>
          <a:noFill/>
          <a:ln/>
        </p:spPr>
        <p:txBody>
          <a:bodyPr wrap="none" lIns="0" tIns="0" rIns="0" bIns="0" rtlCol="0" anchor="t"/>
          <a:lstStyle/>
          <a:p>
            <a:pPr marL="0" indent="0" algn="l">
              <a:lnSpc>
                <a:spcPts val="9250"/>
              </a:lnSpc>
              <a:buNone/>
            </a:pPr>
            <a:r>
              <a:rPr lang="en-US" sz="7400" b="1" dirty="0">
                <a:solidFill>
                  <a:srgbClr val="000000"/>
                </a:solidFill>
                <a:latin typeface="Inter Bold" pitchFamily="34" charset="0"/>
                <a:ea typeface="Inter Bold" pitchFamily="34" charset="-122"/>
                <a:cs typeface="Inter Bold" pitchFamily="34" charset="-120"/>
              </a:rPr>
              <a:t>Course Complete!</a:t>
            </a:r>
            <a:endParaRPr lang="en-US" sz="7400" dirty="0"/>
          </a:p>
        </p:txBody>
      </p:sp>
      <p:sp>
        <p:nvSpPr>
          <p:cNvPr id="3" name="Shape 1"/>
          <p:cNvSpPr/>
          <p:nvPr/>
        </p:nvSpPr>
        <p:spPr>
          <a:xfrm>
            <a:off x="793790" y="2119789"/>
            <a:ext cx="4221956" cy="1720334"/>
          </a:xfrm>
          <a:prstGeom prst="roundRect">
            <a:avLst>
              <a:gd name="adj" fmla="val 460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4" name="Text 2"/>
          <p:cNvSpPr/>
          <p:nvPr/>
        </p:nvSpPr>
        <p:spPr>
          <a:xfrm>
            <a:off x="989886" y="2315885"/>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System Navigation</a:t>
            </a:r>
            <a:endParaRPr lang="en-US" sz="1850" dirty="0"/>
          </a:p>
        </p:txBody>
      </p:sp>
      <p:sp>
        <p:nvSpPr>
          <p:cNvPr id="5" name="Text 3"/>
          <p:cNvSpPr/>
          <p:nvPr/>
        </p:nvSpPr>
        <p:spPr>
          <a:xfrm>
            <a:off x="989886" y="2723674"/>
            <a:ext cx="3829764" cy="92035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You can navigate file systems and build cross-platform paths with the </a:t>
            </a:r>
            <a:r>
              <a:rPr lang="en-US" sz="1450" dirty="0">
                <a:solidFill>
                  <a:srgbClr val="000000"/>
                </a:solidFill>
                <a:highlight>
                  <a:srgbClr val="F2F2F2"/>
                </a:highlight>
                <a:latin typeface="Consolas" pitchFamily="34" charset="0"/>
                <a:ea typeface="Consolas" pitchFamily="34" charset="-122"/>
                <a:cs typeface="Consolas" pitchFamily="34" charset="-120"/>
              </a:rPr>
              <a:t>os</a:t>
            </a:r>
            <a:r>
              <a:rPr lang="en-US" sz="1450" dirty="0">
                <a:solidFill>
                  <a:srgbClr val="000000"/>
                </a:solidFill>
                <a:latin typeface="Montserrat Medium" pitchFamily="34" charset="0"/>
                <a:ea typeface="Montserrat Medium" pitchFamily="34" charset="-122"/>
                <a:cs typeface="Montserrat Medium" pitchFamily="34" charset="-120"/>
              </a:rPr>
              <a:t> module.</a:t>
            </a:r>
            <a:endParaRPr lang="en-US" sz="1450" dirty="0"/>
          </a:p>
        </p:txBody>
      </p:sp>
      <p:sp>
        <p:nvSpPr>
          <p:cNvPr id="6" name="Shape 4"/>
          <p:cNvSpPr/>
          <p:nvPr/>
        </p:nvSpPr>
        <p:spPr>
          <a:xfrm>
            <a:off x="5204222" y="2119789"/>
            <a:ext cx="4221956" cy="1720334"/>
          </a:xfrm>
          <a:prstGeom prst="roundRect">
            <a:avLst>
              <a:gd name="adj" fmla="val 460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7" name="Text 5"/>
          <p:cNvSpPr/>
          <p:nvPr/>
        </p:nvSpPr>
        <p:spPr>
          <a:xfrm>
            <a:off x="5400318" y="2315885"/>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API Communication</a:t>
            </a:r>
            <a:endParaRPr lang="en-US" sz="1850" dirty="0"/>
          </a:p>
        </p:txBody>
      </p:sp>
      <p:sp>
        <p:nvSpPr>
          <p:cNvPr id="8" name="Text 6"/>
          <p:cNvSpPr/>
          <p:nvPr/>
        </p:nvSpPr>
        <p:spPr>
          <a:xfrm>
            <a:off x="5400318" y="2723674"/>
            <a:ext cx="3829764" cy="90511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You can talk to AI services and external APIs, handling authentication and JSON data.</a:t>
            </a:r>
            <a:endParaRPr lang="en-US" sz="1450" dirty="0"/>
          </a:p>
        </p:txBody>
      </p:sp>
      <p:sp>
        <p:nvSpPr>
          <p:cNvPr id="9" name="Shape 7"/>
          <p:cNvSpPr/>
          <p:nvPr/>
        </p:nvSpPr>
        <p:spPr>
          <a:xfrm>
            <a:off x="9614654" y="2119789"/>
            <a:ext cx="4221956" cy="1720334"/>
          </a:xfrm>
          <a:prstGeom prst="roundRect">
            <a:avLst>
              <a:gd name="adj" fmla="val 4603"/>
            </a:avLst>
          </a:prstGeom>
          <a:gradFill flip="none" rotWithShape="1">
            <a:gsLst>
              <a:gs pos="0">
                <a:srgbClr val="720062">
                  <a:tint val="66000"/>
                  <a:satMod val="160000"/>
                </a:srgbClr>
              </a:gs>
              <a:gs pos="50000">
                <a:srgbClr val="720062">
                  <a:tint val="44500"/>
                  <a:satMod val="160000"/>
                </a:srgbClr>
              </a:gs>
              <a:gs pos="100000">
                <a:srgbClr val="720062">
                  <a:tint val="23500"/>
                  <a:satMod val="160000"/>
                </a:srgbClr>
              </a:gs>
            </a:gsLst>
            <a:lin ang="2700000" scaled="1"/>
            <a:tileRect/>
          </a:gradFill>
          <a:ln w="7620">
            <a:solidFill>
              <a:srgbClr val="BFD8BF"/>
            </a:solidFill>
            <a:prstDash val="solid"/>
          </a:ln>
        </p:spPr>
      </p:sp>
      <p:sp>
        <p:nvSpPr>
          <p:cNvPr id="10" name="Text 8"/>
          <p:cNvSpPr/>
          <p:nvPr/>
        </p:nvSpPr>
        <p:spPr>
          <a:xfrm>
            <a:off x="9810750" y="2315885"/>
            <a:ext cx="2356842" cy="294680"/>
          </a:xfrm>
          <a:prstGeom prst="rect">
            <a:avLst/>
          </a:prstGeom>
          <a:noFill/>
          <a:ln/>
        </p:spPr>
        <p:txBody>
          <a:bodyPr wrap="none" lIns="0" tIns="0" rIns="0" bIns="0" rtlCol="0" anchor="t"/>
          <a:lstStyle/>
          <a:p>
            <a:pPr marL="0" indent="0" algn="l">
              <a:lnSpc>
                <a:spcPts val="2300"/>
              </a:lnSpc>
              <a:buNone/>
            </a:pPr>
            <a:r>
              <a:rPr lang="en-US" sz="1850" b="1" dirty="0">
                <a:solidFill>
                  <a:srgbClr val="000000"/>
                </a:solidFill>
                <a:latin typeface="Inter Bold" pitchFamily="34" charset="0"/>
                <a:ea typeface="Inter Bold" pitchFamily="34" charset="-122"/>
                <a:cs typeface="Inter Bold" pitchFamily="34" charset="-120"/>
              </a:rPr>
              <a:t>Data Analysis</a:t>
            </a:r>
            <a:endParaRPr lang="en-US" sz="1850" dirty="0"/>
          </a:p>
        </p:txBody>
      </p:sp>
      <p:sp>
        <p:nvSpPr>
          <p:cNvPr id="11" name="Text 9"/>
          <p:cNvSpPr/>
          <p:nvPr/>
        </p:nvSpPr>
        <p:spPr>
          <a:xfrm>
            <a:off x="9810750" y="2723674"/>
            <a:ext cx="3829764"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You can load, clean, analyze, and save data using NumPy and Pandas.</a:t>
            </a:r>
            <a:endParaRPr lang="en-US" sz="1450" dirty="0"/>
          </a:p>
        </p:txBody>
      </p:sp>
      <p:sp>
        <p:nvSpPr>
          <p:cNvPr id="12" name="Shape 10"/>
          <p:cNvSpPr/>
          <p:nvPr/>
        </p:nvSpPr>
        <p:spPr>
          <a:xfrm>
            <a:off x="793790" y="4146340"/>
            <a:ext cx="13042821" cy="31075"/>
          </a:xfrm>
          <a:prstGeom prst="rect">
            <a:avLst/>
          </a:prstGeom>
          <a:solidFill>
            <a:srgbClr val="000000">
              <a:alpha val="50000"/>
            </a:srgbClr>
          </a:solidFill>
          <a:ln/>
        </p:spPr>
      </p:sp>
      <p:sp>
        <p:nvSpPr>
          <p:cNvPr id="14" name="Text 12"/>
          <p:cNvSpPr/>
          <p:nvPr/>
        </p:nvSpPr>
        <p:spPr>
          <a:xfrm>
            <a:off x="793790" y="4274167"/>
            <a:ext cx="13042821" cy="905113"/>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These skills are the foundation for advanced topics like machine learning, artificial intelligence, data visualization, and statistical modeling. You've learned to work with real-world data, handle messy inputs, and produce clean outputs—the core competencies of a data professional.</a:t>
            </a:r>
            <a:endParaRPr lang="en-US" sz="1450" dirty="0"/>
          </a:p>
        </p:txBody>
      </p:sp>
      <p:sp>
        <p:nvSpPr>
          <p:cNvPr id="15" name="Text 13"/>
          <p:cNvSpPr/>
          <p:nvPr/>
        </p:nvSpPr>
        <p:spPr>
          <a:xfrm>
            <a:off x="793790" y="5243298"/>
            <a:ext cx="13042821" cy="603409"/>
          </a:xfrm>
          <a:prstGeom prst="rect">
            <a:avLst/>
          </a:prstGeom>
          <a:noFill/>
          <a:ln/>
        </p:spPr>
        <p:txBody>
          <a:bodyPr wrap="square" lIns="0" tIns="0" rIns="0" bIns="0" rtlCol="0" anchor="t"/>
          <a:lstStyle/>
          <a:p>
            <a:pPr marL="0" indent="0" algn="l">
              <a:lnSpc>
                <a:spcPts val="2350"/>
              </a:lnSpc>
              <a:buNone/>
            </a:pPr>
            <a:r>
              <a:rPr lang="en-US" sz="1450" dirty="0">
                <a:solidFill>
                  <a:srgbClr val="000000"/>
                </a:solidFill>
                <a:latin typeface="Montserrat Medium" pitchFamily="34" charset="0"/>
                <a:ea typeface="Montserrat Medium" pitchFamily="34" charset="-122"/>
                <a:cs typeface="Montserrat Medium" pitchFamily="34" charset="-120"/>
              </a:rPr>
              <a:t>The journey doesn't end here. Continue practicing with real datasets. Up next, we're exploring visualization libraries like Matplotlib and Seaborn, and diving into machine learning.</a:t>
            </a:r>
            <a:endParaRPr lang="en-US" sz="1450" dirty="0"/>
          </a:p>
        </p:txBody>
      </p:sp>
      <p:sp>
        <p:nvSpPr>
          <p:cNvPr id="19" name="Text 2">
            <a:extLst>
              <a:ext uri="{FF2B5EF4-FFF2-40B4-BE49-F238E27FC236}">
                <a16:creationId xmlns:a16="http://schemas.microsoft.com/office/drawing/2014/main" id="{EBB787CD-2114-8010-8817-8E9CF5D0564C}"/>
              </a:ext>
            </a:extLst>
          </p:cNvPr>
          <p:cNvSpPr/>
          <p:nvPr/>
        </p:nvSpPr>
        <p:spPr>
          <a:xfrm>
            <a:off x="989886" y="5967381"/>
            <a:ext cx="12365887" cy="1860487"/>
          </a:xfrm>
          <a:prstGeom prst="rect">
            <a:avLst/>
          </a:prstGeom>
          <a:noFill/>
          <a:ln/>
        </p:spPr>
        <p:txBody>
          <a:bodyPr wrap="none" lIns="0" tIns="0" rIns="0" bIns="0" rtlCol="0" anchor="t"/>
          <a:lstStyle/>
          <a:p>
            <a:pPr marL="0" indent="0" algn="l">
              <a:buNone/>
            </a:pPr>
            <a:r>
              <a:rPr lang="en-US" sz="1400" dirty="0"/>
              <a:t>Resources:</a:t>
            </a:r>
            <a:br>
              <a:rPr lang="en-US" sz="1400" dirty="0"/>
            </a:br>
            <a:r>
              <a:rPr lang="en-US" sz="1400" dirty="0"/>
              <a:t>API: </a:t>
            </a:r>
            <a:r>
              <a:rPr lang="en-US" sz="1400" dirty="0">
                <a:hlinkClick r:id="rId3"/>
              </a:rPr>
              <a:t>https://www.dataquest.io/blog/api-in-python/</a:t>
            </a:r>
            <a:endParaRPr lang="en-US" sz="1400" dirty="0"/>
          </a:p>
          <a:p>
            <a:pPr marL="0" indent="0" algn="l">
              <a:buNone/>
            </a:pPr>
            <a:r>
              <a:rPr lang="en-US" sz="1400" dirty="0"/>
              <a:t>API: </a:t>
            </a:r>
            <a:r>
              <a:rPr lang="en-US" sz="1400" dirty="0">
                <a:hlinkClick r:id="rId4"/>
              </a:rPr>
              <a:t>https://www.dataquest.io/blog/api-skills-for-ai/</a:t>
            </a:r>
            <a:br>
              <a:rPr lang="en-US" sz="1400" dirty="0"/>
            </a:br>
            <a:r>
              <a:rPr lang="en-US" sz="1400" dirty="0" err="1"/>
              <a:t>Numpy</a:t>
            </a:r>
            <a:r>
              <a:rPr lang="en-US" sz="1400" dirty="0"/>
              <a:t>: </a:t>
            </a:r>
            <a:r>
              <a:rPr lang="en-GB" sz="1400" dirty="0">
                <a:hlinkClick r:id="rId5" tooltip="https://numpy.org/doc/2.4/user/absolute_beginners.html"/>
              </a:rPr>
              <a:t>https://numpy.org/doc/2.4/user/absolute_beginners.html</a:t>
            </a:r>
            <a:endParaRPr lang="en-GB" sz="1400" dirty="0"/>
          </a:p>
          <a:p>
            <a:pPr marL="0" indent="0" algn="l">
              <a:buNone/>
            </a:pPr>
            <a:r>
              <a:rPr lang="en-GB" sz="1400" dirty="0"/>
              <a:t>Pandas: </a:t>
            </a:r>
            <a:r>
              <a:rPr lang="en-GB" sz="1400" dirty="0">
                <a:hlinkClick r:id="rId6"/>
              </a:rPr>
              <a:t>https://pandas.pydata.org/docs/getting_started/comparison/comparison_with_spreadsheets.html#compare-with-spreadsheets</a:t>
            </a:r>
            <a:endParaRPr lang="en-GB" sz="1400" dirty="0"/>
          </a:p>
          <a:p>
            <a:pPr marL="0" indent="0" algn="l">
              <a:buNone/>
            </a:pPr>
            <a:r>
              <a:rPr lang="en-GB" sz="1400" dirty="0"/>
              <a:t>Pandas Cheat Sheet: </a:t>
            </a:r>
            <a:r>
              <a:rPr lang="en-GB" sz="1400" dirty="0">
                <a:hlinkClick r:id="rId7"/>
              </a:rPr>
              <a:t>https://pandas.pydata.org/Pandas_Cheat_Sheet.pdf</a:t>
            </a:r>
            <a:endParaRPr lang="en-GB" sz="1400" dirty="0"/>
          </a:p>
          <a:p>
            <a:pPr marL="0" indent="0" algn="l">
              <a:buNone/>
            </a:pPr>
            <a:r>
              <a:rPr lang="en-GB" sz="1400" dirty="0"/>
              <a:t>Pandas: </a:t>
            </a:r>
            <a:r>
              <a:rPr lang="en-GB" sz="1400" dirty="0">
                <a:hlinkClick r:id="rId8"/>
              </a:rPr>
              <a:t>https://pandas.pydata.org/docs/reference/index.html</a:t>
            </a:r>
            <a:endParaRPr lang="en-GB" sz="1400" dirty="0"/>
          </a:p>
          <a:p>
            <a:pPr marL="0" indent="0" algn="l">
              <a:buNone/>
            </a:pPr>
            <a:endParaRPr lang="en-US" sz="1400" dirty="0"/>
          </a:p>
        </p:txBody>
      </p:sp>
      <p:pic>
        <p:nvPicPr>
          <p:cNvPr id="22" name="Picture 21">
            <a:extLst>
              <a:ext uri="{FF2B5EF4-FFF2-40B4-BE49-F238E27FC236}">
                <a16:creationId xmlns:a16="http://schemas.microsoft.com/office/drawing/2014/main" id="{7E84CFC4-22EC-7D28-FD41-3C66C22BC5F2}"/>
              </a:ext>
            </a:extLst>
          </p:cNvPr>
          <p:cNvPicPr>
            <a:picLocks noChangeAspect="1"/>
          </p:cNvPicPr>
          <p:nvPr/>
        </p:nvPicPr>
        <p:blipFill>
          <a:blip r:embed="rId9"/>
          <a:stretch>
            <a:fillRect/>
          </a:stretch>
        </p:blipFill>
        <p:spPr>
          <a:xfrm>
            <a:off x="13342557" y="118334"/>
            <a:ext cx="1125764" cy="41258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1456D4E2E0F4A4D8F52602ADCEE7D1C" ma:contentTypeVersion="11" ma:contentTypeDescription="Create a new document." ma:contentTypeScope="" ma:versionID="7a170a16d023ea870a3dbe19d9f5b09c">
  <xsd:schema xmlns:xsd="http://www.w3.org/2001/XMLSchema" xmlns:xs="http://www.w3.org/2001/XMLSchema" xmlns:p="http://schemas.microsoft.com/office/2006/metadata/properties" xmlns:ns2="774b40c4-8217-4a51-8235-46a76c200c0a" xmlns:ns3="220f01ff-2dfe-41c2-bb44-90a4736c261d" targetNamespace="http://schemas.microsoft.com/office/2006/metadata/properties" ma:root="true" ma:fieldsID="29a77f10f236da97e679ef7070ccf303" ns2:_="" ns3:_="">
    <xsd:import namespace="774b40c4-8217-4a51-8235-46a76c200c0a"/>
    <xsd:import namespace="220f01ff-2dfe-41c2-bb44-90a4736c261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74b40c4-8217-4a51-8235-46a76c200c0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0d82563b-0873-4153-b60d-32ffd6f0d13b"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20f01ff-2dfe-41c2-bb44-90a4736c261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6e78361f-0064-4e5f-995a-71a14d4bcd46}" ma:internalName="TaxCatchAll" ma:showField="CatchAllData" ma:web="220f01ff-2dfe-41c2-bb44-90a4736c261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774b40c4-8217-4a51-8235-46a76c200c0a">
      <Terms xmlns="http://schemas.microsoft.com/office/infopath/2007/PartnerControls"/>
    </lcf76f155ced4ddcb4097134ff3c332f>
    <TaxCatchAll xmlns="220f01ff-2dfe-41c2-bb44-90a4736c261d" xsi:nil="true"/>
  </documentManagement>
</p:properties>
</file>

<file path=customXml/itemProps1.xml><?xml version="1.0" encoding="utf-8"?>
<ds:datastoreItem xmlns:ds="http://schemas.openxmlformats.org/officeDocument/2006/customXml" ds:itemID="{C4CF1834-DF32-4E35-A036-6BF133181D57}"/>
</file>

<file path=customXml/itemProps2.xml><?xml version="1.0" encoding="utf-8"?>
<ds:datastoreItem xmlns:ds="http://schemas.openxmlformats.org/officeDocument/2006/customXml" ds:itemID="{81F2C4AB-50CA-4DB9-94B0-6217E496C956}"/>
</file>

<file path=customXml/itemProps3.xml><?xml version="1.0" encoding="utf-8"?>
<ds:datastoreItem xmlns:ds="http://schemas.openxmlformats.org/officeDocument/2006/customXml" ds:itemID="{3468D335-15E3-47FF-B12A-D6C6384F2B51}"/>
</file>

<file path=docProps/app.xml><?xml version="1.0" encoding="utf-8"?>
<Properties xmlns="http://schemas.openxmlformats.org/officeDocument/2006/extended-properties" xmlns:vt="http://schemas.openxmlformats.org/officeDocument/2006/docPropsVTypes">
  <TotalTime>54</TotalTime>
  <Words>4955</Words>
  <Application>Microsoft Macintosh PowerPoint</Application>
  <PresentationFormat>Custom</PresentationFormat>
  <Paragraphs>460</Paragraphs>
  <Slides>36</Slides>
  <Notes>35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36</vt:i4>
      </vt:variant>
    </vt:vector>
  </HeadingPairs>
  <TitlesOfParts>
    <vt:vector size="45" baseType="lpstr">
      <vt:lpstr>Calibri</vt:lpstr>
      <vt:lpstr>Inter Bold</vt:lpstr>
      <vt:lpstr>Consolas Medium</vt:lpstr>
      <vt:lpstr>Consolas</vt:lpstr>
      <vt:lpstr>Montserrat</vt:lpstr>
      <vt:lpstr>Inter Light</vt:lpstr>
      <vt:lpstr>Montserrat Medium</vt:lpstr>
      <vt:lpstr>Arial</vt:lpstr>
      <vt:lpstr>Office Theme</vt:lpstr>
      <vt:lpstr>APIs, Numpy &amp; Pandas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APIs, Numpy &amp; Pandas</dc:title>
  <dc:subject/>
  <dc:creator/>
  <cp:lastModifiedBy>Olajide Bello</cp:lastModifiedBy>
  <cp:revision>5</cp:revision>
  <dcterms:created xsi:type="dcterms:W3CDTF">2026-01-11T22:23:55Z</dcterms:created>
  <dcterms:modified xsi:type="dcterms:W3CDTF">2026-01-11T23:23:35Z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0x01010001456D4E2E0F4A4D8F52602ADCEE7D1C</vt:lpwstr>
  </property>
</Properties>
</file>